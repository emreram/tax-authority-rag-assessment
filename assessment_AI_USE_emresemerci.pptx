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y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with: this is not just a technical assessment answer — it is a demonstration of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a senior engineer uses AI agents as a structured support system to produce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 that is specific, consistent, and defensible.</a:t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" name="Google Shape;11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Frame the four modules briefly. The point is not to go deep yet — that comes later.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Emphasize the hidden criteria: the assessment is not just about knowing RAG.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tests whether you can make specific, justified, production-grade decisions.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by teasing the multi-agent workflow: decode → build → review → harden.</a:t>
            </a:r>
            <a:endParaRPr/>
          </a:p>
        </p:txBody>
      </p:sp>
      <p:sp>
        <p:nvSpPr>
          <p:cNvPr id="111" name="Google Shape;11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most important slide for the AI-process story.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 through the five stages quickly, emphasizing that each tool was chosen for its strength.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bottom row explains the WHY: multiple perspectives prevent blind spots.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on the quality loop — the Hermes agent and ChatGPT scoring caught real issues.</a:t>
            </a:r>
            <a:endParaRPr/>
          </a:p>
        </p:txBody>
      </p:sp>
      <p:sp>
        <p:nvSpPr>
          <p:cNvPr id="145" name="Google Shape;14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Explain that this was the first strategic decision: using ChatGPT 5.4 to decode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brief before writing a single line. The output was not an answer — it was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research brief that made the build phase faster and more targeted.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 the specific insights: Module 3 weight, RBAC math trap, cache threshold.</a:t>
            </a:r>
            <a:endParaRPr/>
          </a:p>
        </p:txBody>
      </p:sp>
      <p:sp>
        <p:nvSpPr>
          <p:cNvPr id="190" name="Google Shape;1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point of this slide is that planning was a separate, deliberate step — not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 diving into writing. Claude Code's plan mode enforced structure.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 the specific decisions that were locked, and the build order rationale.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bottom card shows the payoff: no orphan references, no TODO placeholders.</a:t>
            </a:r>
            <a:endParaRPr/>
          </a:p>
        </p:txBody>
      </p:sp>
      <p:sp>
        <p:nvSpPr>
          <p:cNvPr id="214" name="Google Shape;214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1" name="Google Shape;24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the volume of what was produced, but emphasize the process over the output.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stat cards show scale. The bottom card shows discipline: cross-file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verification after every step. This is what makes AI-assisted work reliable.</a:t>
            </a:r>
            <a:endParaRPr/>
          </a:p>
        </p:txBody>
      </p:sp>
      <p:sp>
        <p:nvSpPr>
          <p:cNvPr id="242" name="Google Shape;24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slide is critical for the AI story. Two independent agents reviewed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work from different angles. ChatGPT was quantitative and strict.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Hermes was qualitative and pedagogical. The combination found more issues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 either alone would have.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Highlight that neither agent had access to the build history — pure output review.</a:t>
            </a:r>
            <a:endParaRPr/>
          </a:p>
        </p:txBody>
      </p:sp>
      <p:sp>
        <p:nvSpPr>
          <p:cNvPr id="292" name="Google Shape;292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Walk through the four categories of fixes quickly.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point is that every issue raised by the two review agents was addressed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just acknowledged but fixed and verified.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result is a cleaner, shorter, more defensible submission.</a:t>
            </a:r>
            <a:endParaRPr/>
          </a:p>
        </p:txBody>
      </p:sp>
      <p:sp>
        <p:nvSpPr>
          <p:cNvPr id="329" name="Google Shape;329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global architecture summary. Don't go deep — just show the choices exist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that they are specific. The audience can drill into the submission for detail.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Name every model with its full identifier. Hit the security proof and TTFT budget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the bottom bar because those are the assessment's differentiators.</a:t>
            </a:r>
            <a:endParaRPr/>
          </a:p>
        </p:txBody>
      </p:sp>
      <p:sp>
        <p:nvSpPr>
          <p:cNvPr id="357" name="Google Shape;357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9" name="Google Shape;41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Present this as optional value-add. Keep it brief.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point is that the design can survive contact with real operational constraints.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Mention the 530-line supplementary document but don't dive into it.</a:t>
            </a:r>
            <a:endParaRPr/>
          </a:p>
        </p:txBody>
      </p:sp>
      <p:sp>
        <p:nvSpPr>
          <p:cNvPr id="420" name="Google Shape;420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Don't list file names. Describe deliverables by category and purpose.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Show the zone chips to visualize the repo structure.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bottom sentence is the key: evaluator-friendly navigation.</a:t>
            </a:r>
            <a:endParaRPr/>
          </a:p>
        </p:txBody>
      </p:sp>
      <p:sp>
        <p:nvSpPr>
          <p:cNvPr id="458" name="Google Shape;458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4" name="Google Shape;50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Close with four words: structured, specific, secure, production-grade.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final banner sentence is the last thing before questions.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time permits, invite discussion on the AI workflow specifically —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 is the most distinctive part of this presentation.</a:t>
            </a:r>
            <a:endParaRPr/>
          </a:p>
        </p:txBody>
      </p:sp>
      <p:sp>
        <p:nvSpPr>
          <p:cNvPr id="505" name="Google Shape;50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8046720" y="0"/>
            <a:ext cx="4144975" cy="6858000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8686800" y="822960"/>
            <a:ext cx="2011680" cy="2011680"/>
          </a:xfrm>
          <a:prstGeom prst="ellipse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9784080" y="2103120"/>
            <a:ext cx="1371600" cy="1371600"/>
          </a:xfrm>
          <a:prstGeom prst="ellipse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8412480" y="3931920"/>
            <a:ext cx="2286000" cy="2286000"/>
          </a:xfrm>
          <a:prstGeom prst="ellipse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13"/>
          <p:cNvCxnSpPr/>
          <p:nvPr/>
        </p:nvCxnSpPr>
        <p:spPr>
          <a:xfrm>
            <a:off x="9646920" y="1828800"/>
            <a:ext cx="777240" cy="1005840"/>
          </a:xfrm>
          <a:prstGeom prst="straightConnector1">
            <a:avLst/>
          </a:prstGeom>
          <a:noFill/>
          <a:ln cap="flat" cmpd="sng" w="20300">
            <a:solidFill>
              <a:srgbClr val="94CE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94" name="Google Shape;94;p13"/>
          <p:cNvCxnSpPr/>
          <p:nvPr/>
        </p:nvCxnSpPr>
        <p:spPr>
          <a:xfrm flipH="1" rot="10800000">
            <a:off x="9326880" y="2834640"/>
            <a:ext cx="1097280" cy="1828800"/>
          </a:xfrm>
          <a:prstGeom prst="straightConnector1">
            <a:avLst/>
          </a:prstGeom>
          <a:noFill/>
          <a:ln cap="flat" cmpd="sng" w="20300">
            <a:solidFill>
              <a:srgbClr val="94CED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95" name="Google Shape;95;p13"/>
          <p:cNvSpPr txBox="1"/>
          <p:nvPr/>
        </p:nvSpPr>
        <p:spPr>
          <a:xfrm>
            <a:off x="502922" y="752603"/>
            <a:ext cx="1865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ASSESSMENT PRESENTATION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502920" y="1280160"/>
            <a:ext cx="6858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Enterprise RAG Architecture</a:t>
            </a:r>
            <a:endParaRPr/>
          </a:p>
        </p:txBody>
      </p:sp>
      <p:sp>
        <p:nvSpPr>
          <p:cNvPr id="97" name="Google Shape;97;p13"/>
          <p:cNvSpPr txBox="1"/>
          <p:nvPr/>
        </p:nvSpPr>
        <p:spPr>
          <a:xfrm>
            <a:off x="502920" y="2148840"/>
            <a:ext cx="54864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Dutch National Tax Authority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530352" y="2651760"/>
            <a:ext cx="6400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How I used AI agents to design, build, review, and harden</a:t>
            </a:r>
            <a:br>
              <a:rPr b="0" i="0" lang="en-US" sz="14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>
                <a:solidFill>
                  <a:srgbClr val="6B7A89"/>
                </a:solidFill>
              </a:rPr>
              <a:t>a</a:t>
            </a:r>
            <a:r>
              <a:rPr b="0" i="0" lang="en-US" sz="14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 assessment submission</a:t>
            </a:r>
            <a:endParaRPr/>
          </a:p>
        </p:txBody>
      </p:sp>
      <p:sp>
        <p:nvSpPr>
          <p:cNvPr id="99" name="Google Shape;99;p13"/>
          <p:cNvSpPr txBox="1"/>
          <p:nvPr/>
        </p:nvSpPr>
        <p:spPr>
          <a:xfrm>
            <a:off x="658368" y="3267307"/>
            <a:ext cx="22860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53E"/>
                </a:solidFill>
                <a:latin typeface="Arial"/>
                <a:ea typeface="Arial"/>
                <a:cs typeface="Arial"/>
                <a:sym typeface="Arial"/>
              </a:rPr>
              <a:t>Prepared by Emre Semerci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251175" y="3822110"/>
            <a:ext cx="1371600" cy="2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April 2026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502920" y="5212080"/>
            <a:ext cx="1645920" cy="274320"/>
          </a:xfrm>
          <a:prstGeom prst="roundRect">
            <a:avLst>
              <a:gd fmla="val 16667" name="adj"/>
            </a:avLst>
          </a:prstGeom>
          <a:solidFill>
            <a:srgbClr val="E7EDF4"/>
          </a:solidFill>
          <a:ln cap="flat" cmpd="sng" w="12700">
            <a:solidFill>
              <a:srgbClr val="E7ED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576072" y="5257800"/>
            <a:ext cx="14996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253E"/>
                </a:solidFill>
                <a:latin typeface="Arial"/>
                <a:ea typeface="Arial"/>
                <a:cs typeface="Arial"/>
                <a:sym typeface="Arial"/>
              </a:rPr>
              <a:t>AI-assisted workflow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2286000" y="5212080"/>
            <a:ext cx="1280160" cy="274320"/>
          </a:xfrm>
          <a:prstGeom prst="roundRect">
            <a:avLst>
              <a:gd fmla="val 16667" name="adj"/>
            </a:avLst>
          </a:prstGeom>
          <a:solidFill>
            <a:srgbClr val="E2F3F3"/>
          </a:solidFill>
          <a:ln cap="flat" cmpd="sng" w="12700">
            <a:solidFill>
              <a:srgbClr val="E2F3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 txBox="1"/>
          <p:nvPr/>
        </p:nvSpPr>
        <p:spPr>
          <a:xfrm>
            <a:off x="2359152" y="5257800"/>
            <a:ext cx="113385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5-stage process</a:t>
            </a:r>
            <a:endParaRPr/>
          </a:p>
        </p:txBody>
      </p:sp>
      <p:sp>
        <p:nvSpPr>
          <p:cNvPr id="105" name="Google Shape;105;p13"/>
          <p:cNvSpPr/>
          <p:nvPr/>
        </p:nvSpPr>
        <p:spPr>
          <a:xfrm>
            <a:off x="3703320" y="5212080"/>
            <a:ext cx="1554480" cy="274320"/>
          </a:xfrm>
          <a:prstGeom prst="roundRect">
            <a:avLst>
              <a:gd fmla="val 16667" name="adj"/>
            </a:avLst>
          </a:prstGeom>
          <a:solidFill>
            <a:srgbClr val="FAF2E3"/>
          </a:solidFill>
          <a:ln cap="flat" cmpd="sng" w="12700">
            <a:solidFill>
              <a:srgbClr val="FAF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 txBox="1"/>
          <p:nvPr/>
        </p:nvSpPr>
        <p:spPr>
          <a:xfrm>
            <a:off x="3776472" y="5257800"/>
            <a:ext cx="140817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C4902F"/>
                </a:solidFill>
                <a:latin typeface="Arial"/>
                <a:ea typeface="Arial"/>
                <a:cs typeface="Arial"/>
                <a:sym typeface="Arial"/>
              </a:rPr>
              <a:t>Multi-agent review</a:t>
            </a:r>
            <a:endParaRPr/>
          </a:p>
        </p:txBody>
      </p:sp>
      <p:sp>
        <p:nvSpPr>
          <p:cNvPr id="107" name="Google Shape;107;p13"/>
          <p:cNvSpPr txBox="1"/>
          <p:nvPr/>
        </p:nvSpPr>
        <p:spPr>
          <a:xfrm>
            <a:off x="530352" y="566928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ChatGPT 5.4 · Claude Code · Hermes Agent · Manual hardening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4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4"/>
          <p:cNvSpPr/>
          <p:nvPr/>
        </p:nvSpPr>
        <p:spPr>
          <a:xfrm>
            <a:off x="502920" y="164592"/>
            <a:ext cx="137160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576072" y="210312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The Brief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What the Assessment Asked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Four modules covering ingestion, retrieval, agentic RAG, and production operations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2 of 12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 Semerci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502920" y="1325880"/>
            <a:ext cx="26060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/>
          <p:nvPr/>
        </p:nvSpPr>
        <p:spPr>
          <a:xfrm>
            <a:off x="502920" y="1380744"/>
            <a:ext cx="41148" cy="226771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/>
        </p:nvSpPr>
        <p:spPr>
          <a:xfrm>
            <a:off x="667512" y="14173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Module 1: Ingestion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67512" y="1709928"/>
            <a:ext cx="2313432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Structure-aware chunking for legal docs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22-field metadata schema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Vector DB for 500K docs / 20M+ chunks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Exact HNSW and quantization settings</a:t>
            </a:r>
            <a:endParaRPr/>
          </a:p>
        </p:txBody>
      </p:sp>
      <p:sp>
        <p:nvSpPr>
          <p:cNvPr id="124" name="Google Shape;124;p14"/>
          <p:cNvSpPr/>
          <p:nvPr/>
        </p:nvSpPr>
        <p:spPr>
          <a:xfrm>
            <a:off x="3383280" y="1325880"/>
            <a:ext cx="26060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3383280" y="1380744"/>
            <a:ext cx="41148" cy="226771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 txBox="1"/>
          <p:nvPr/>
        </p:nvSpPr>
        <p:spPr>
          <a:xfrm>
            <a:off x="3547872" y="14173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Module 2: Retrieval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3547872" y="1709928"/>
            <a:ext cx="2313432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Hybrid BM25 + dense retrieval design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RRF vs alpha-blending decision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Reranking model selection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Top-K cascade with justification</a:t>
            </a:r>
            <a:endParaRPr/>
          </a:p>
        </p:txBody>
      </p:sp>
      <p:sp>
        <p:nvSpPr>
          <p:cNvPr id="128" name="Google Shape;128;p14"/>
          <p:cNvSpPr/>
          <p:nvPr/>
        </p:nvSpPr>
        <p:spPr>
          <a:xfrm>
            <a:off x="6263640" y="1325880"/>
            <a:ext cx="26060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6263640" y="1380744"/>
            <a:ext cx="41148" cy="226771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6428232" y="14173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Module 3: Agentic RAG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6428232" y="1709928"/>
            <a:ext cx="2313432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Query decomposition and HyDE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LangGraph CRAG state machine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Retrieval grader implementation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Fallback actions for each grading outcome</a:t>
            </a:r>
            <a:endParaRPr/>
          </a:p>
        </p:txBody>
      </p:sp>
      <p:sp>
        <p:nvSpPr>
          <p:cNvPr id="132" name="Google Shape;132;p14"/>
          <p:cNvSpPr/>
          <p:nvPr/>
        </p:nvSpPr>
        <p:spPr>
          <a:xfrm>
            <a:off x="9144000" y="1325880"/>
            <a:ext cx="260604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4"/>
          <p:cNvSpPr/>
          <p:nvPr/>
        </p:nvSpPr>
        <p:spPr>
          <a:xfrm>
            <a:off x="9144000" y="1380744"/>
            <a:ext cx="41148" cy="226771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4"/>
          <p:cNvSpPr txBox="1"/>
          <p:nvPr/>
        </p:nvSpPr>
        <p:spPr>
          <a:xfrm>
            <a:off x="9308592" y="14173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Module 4: Production</a:t>
            </a:r>
            <a:endParaRPr/>
          </a:p>
        </p:txBody>
      </p:sp>
      <p:sp>
        <p:nvSpPr>
          <p:cNvPr id="135" name="Google Shape;135;p14"/>
          <p:cNvSpPr txBox="1"/>
          <p:nvPr/>
        </p:nvSpPr>
        <p:spPr>
          <a:xfrm>
            <a:off x="9308592" y="1709928"/>
            <a:ext cx="2313432" cy="19019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Semantic cache with safe threshold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RBAC: where and how, with math proof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CI/CD evaluation gates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Exact Faithfulness and Precision metrics</a:t>
            </a:r>
            <a:endParaRPr/>
          </a:p>
        </p:txBody>
      </p:sp>
      <p:sp>
        <p:nvSpPr>
          <p:cNvPr id="136" name="Google Shape;136;p14"/>
          <p:cNvSpPr/>
          <p:nvPr/>
        </p:nvSpPr>
        <p:spPr>
          <a:xfrm>
            <a:off x="502920" y="3931920"/>
            <a:ext cx="1147572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4"/>
          <p:cNvSpPr/>
          <p:nvPr/>
        </p:nvSpPr>
        <p:spPr>
          <a:xfrm>
            <a:off x="502920" y="3986784"/>
            <a:ext cx="41148" cy="1216152"/>
          </a:xfrm>
          <a:prstGeom prst="rect">
            <a:avLst/>
          </a:prstGeom>
          <a:solidFill>
            <a:srgbClr val="BE4242"/>
          </a:solidFill>
          <a:ln cap="flat" cmpd="sng" w="12700">
            <a:solidFill>
              <a:srgbClr val="BE42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667512" y="4023360"/>
            <a:ext cx="112014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4242"/>
                </a:solidFill>
                <a:latin typeface="Play"/>
                <a:ea typeface="Play"/>
                <a:cs typeface="Play"/>
                <a:sym typeface="Play"/>
              </a:rPr>
              <a:t>The hidden evaluation criteria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67512" y="4315968"/>
            <a:ext cx="11183112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Specificity over generality — exact HNSW params, exact thresholds, exact top-k values. Vague answers fail.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Security-first thinking — RBAC enforced at the database level, not as an afterthought.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Production awareness — latency budgets, OOM prevention, quantization math. Not just “it works.”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Legal domain understanding — hierarchical versioned documents, ECLI references, Dutch tax specifics.</a:t>
            </a:r>
            <a:endParaRPr/>
          </a:p>
        </p:txBody>
      </p:sp>
      <p:sp>
        <p:nvSpPr>
          <p:cNvPr id="140" name="Google Shape;140;p14"/>
          <p:cNvSpPr/>
          <p:nvPr/>
        </p:nvSpPr>
        <p:spPr>
          <a:xfrm>
            <a:off x="502920" y="5532120"/>
            <a:ext cx="11475720" cy="658368"/>
          </a:xfrm>
          <a:prstGeom prst="roundRect">
            <a:avLst>
              <a:gd fmla="val 16667" name="adj"/>
            </a:avLst>
          </a:prstGeom>
          <a:solidFill>
            <a:srgbClr val="E7EDF4"/>
          </a:solidFill>
          <a:ln cap="flat" cmpd="sng" w="12700">
            <a:solidFill>
              <a:srgbClr val="E7ED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4"/>
          <p:cNvSpPr txBox="1"/>
          <p:nvPr/>
        </p:nvSpPr>
        <p:spPr>
          <a:xfrm>
            <a:off x="685800" y="5687568"/>
            <a:ext cx="10972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0253E"/>
                </a:solidFill>
                <a:latin typeface="Arial"/>
                <a:ea typeface="Arial"/>
                <a:cs typeface="Arial"/>
                <a:sym typeface="Arial"/>
              </a:rPr>
              <a:t>My approach: decode the brief with one AI, build with another, review with a third, then harden the result.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Process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My AI-Assisted Workflow</a:t>
            </a:r>
            <a:endParaRPr/>
          </a:p>
        </p:txBody>
      </p:sp>
      <p:sp>
        <p:nvSpPr>
          <p:cNvPr id="151" name="Google Shape;151;p1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Five stages from decoding to delivery, each using the right AI tool for the job</a:t>
            </a:r>
            <a:endParaRPr/>
          </a:p>
        </p:txBody>
      </p:sp>
      <p:sp>
        <p:nvSpPr>
          <p:cNvPr id="152" name="Google Shape;152;p15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3 of 12</a:t>
            </a:r>
            <a:endParaRPr/>
          </a:p>
        </p:txBody>
      </p:sp>
      <p:sp>
        <p:nvSpPr>
          <p:cNvPr id="153" name="Google Shape;153;p15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 Semerci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/>
          <p:nvPr/>
        </p:nvSpPr>
        <p:spPr>
          <a:xfrm>
            <a:off x="502920" y="1417320"/>
            <a:ext cx="196596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 txBox="1"/>
          <p:nvPr/>
        </p:nvSpPr>
        <p:spPr>
          <a:xfrm>
            <a:off x="612648" y="15270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1. Decode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612648" y="1856232"/>
            <a:ext cx="17465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ChatGPT 5.4</a:t>
            </a:r>
            <a:b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Extended Thinking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2578608" y="182880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2788920" y="1417320"/>
            <a:ext cx="196596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2898648" y="15270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2. Plan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2898648" y="1856232"/>
            <a:ext cx="17465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b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Plan Mode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4864608" y="182880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5074920" y="1417320"/>
            <a:ext cx="196596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5184648" y="15270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3. Build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5184648" y="1856232"/>
            <a:ext cx="17465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b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Sub-agents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7150608" y="182880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C4902F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7360920" y="1417320"/>
            <a:ext cx="196596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BE42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7470648" y="15270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E4242"/>
                </a:solidFill>
                <a:latin typeface="Play"/>
                <a:ea typeface="Play"/>
                <a:cs typeface="Play"/>
                <a:sym typeface="Play"/>
              </a:rPr>
              <a:t>4. Review</a:t>
            </a:r>
            <a:endParaRPr/>
          </a:p>
        </p:txBody>
      </p:sp>
      <p:sp>
        <p:nvSpPr>
          <p:cNvPr id="168" name="Google Shape;168;p15"/>
          <p:cNvSpPr txBox="1"/>
          <p:nvPr/>
        </p:nvSpPr>
        <p:spPr>
          <a:xfrm>
            <a:off x="7470648" y="1856232"/>
            <a:ext cx="17465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ChatGPT 5.4 +</a:t>
            </a:r>
            <a:b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Hermes Agent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9436608" y="182880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BE4242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9646920" y="1417320"/>
            <a:ext cx="196596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 txBox="1"/>
          <p:nvPr/>
        </p:nvSpPr>
        <p:spPr>
          <a:xfrm>
            <a:off x="9756648" y="1527048"/>
            <a:ext cx="1746504" cy="2194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5. Harden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9756648" y="1856232"/>
            <a:ext cx="1746504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Claude Code</a:t>
            </a:r>
            <a:b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Feedback Pass</a:t>
            </a: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502920" y="2926080"/>
            <a:ext cx="3520440" cy="1783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5"/>
          <p:cNvSpPr/>
          <p:nvPr/>
        </p:nvSpPr>
        <p:spPr>
          <a:xfrm>
            <a:off x="502920" y="2980944"/>
            <a:ext cx="41148" cy="167335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667512" y="30175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Why multiple AI tools?</a:t>
            </a:r>
            <a:endParaRPr/>
          </a:p>
        </p:txBody>
      </p:sp>
      <p:sp>
        <p:nvSpPr>
          <p:cNvPr id="176" name="Google Shape;176;p15"/>
          <p:cNvSpPr txBox="1"/>
          <p:nvPr/>
        </p:nvSpPr>
        <p:spPr>
          <a:xfrm>
            <a:off x="667512" y="3310128"/>
            <a:ext cx="3227700" cy="134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Each tool has a different strength.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ChatGPT 5.4 extended thinking is strong for deep analysis and scoring.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Claude Code excels at structured code generation and plan execution.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The Hermes agent provided independent teacher-style feedback.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No single AI saw the full picture uncritically</a:t>
            </a: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4206240" y="2926080"/>
            <a:ext cx="3520440" cy="1783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5"/>
          <p:cNvSpPr/>
          <p:nvPr/>
        </p:nvSpPr>
        <p:spPr>
          <a:xfrm>
            <a:off x="4206240" y="2980944"/>
            <a:ext cx="41148" cy="167335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5"/>
          <p:cNvSpPr txBox="1"/>
          <p:nvPr/>
        </p:nvSpPr>
        <p:spPr>
          <a:xfrm>
            <a:off x="4370832" y="30175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What this produced</a:t>
            </a:r>
            <a:endParaRPr/>
          </a:p>
        </p:txBody>
      </p:sp>
      <p:sp>
        <p:nvSpPr>
          <p:cNvPr id="180" name="Google Shape;180;p15"/>
          <p:cNvSpPr txBox="1"/>
          <p:nvPr/>
        </p:nvSpPr>
        <p:spPr>
          <a:xfrm>
            <a:off x="4370832" y="3310128"/>
            <a:ext cx="3227700" cy="11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24+ files across schemas, pseudocode, diagrams, and prompts.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A 7,206-word final submission (cut from 10,700 after review).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3 JSON schemas, 5 pseudocode components, 4 architecture diagrams.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CI/CD gate stub, golden test set, requirements.txt.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A supplementary performance deep-dive (530 extra lines).</a:t>
            </a:r>
            <a:endParaRPr sz="1200"/>
          </a:p>
        </p:txBody>
      </p:sp>
      <p:sp>
        <p:nvSpPr>
          <p:cNvPr id="181" name="Google Shape;181;p15"/>
          <p:cNvSpPr/>
          <p:nvPr/>
        </p:nvSpPr>
        <p:spPr>
          <a:xfrm>
            <a:off x="7909560" y="2926080"/>
            <a:ext cx="3749039" cy="1783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5"/>
          <p:cNvSpPr/>
          <p:nvPr/>
        </p:nvSpPr>
        <p:spPr>
          <a:xfrm>
            <a:off x="7909560" y="2980944"/>
            <a:ext cx="41148" cy="1673352"/>
          </a:xfrm>
          <a:prstGeom prst="rect">
            <a:avLst/>
          </a:prstGeom>
          <a:solidFill>
            <a:srgbClr val="BE4242"/>
          </a:solidFill>
          <a:ln cap="flat" cmpd="sng" w="12700">
            <a:solidFill>
              <a:srgbClr val="BE42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8074152" y="3017520"/>
            <a:ext cx="3474719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E4242"/>
                </a:solidFill>
                <a:latin typeface="Play"/>
                <a:ea typeface="Play"/>
                <a:cs typeface="Play"/>
                <a:sym typeface="Play"/>
              </a:rPr>
              <a:t>The quality loop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8074152" y="3310128"/>
            <a:ext cx="34563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Stage 4 found contradictions, overclaims, and consistency gaps.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ChatGPT 5.4 scored the first version at 8/10 with specific deductions.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Hermes agent gave teacher-style feedback on tone and structure.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Stage 5 fixed every issue: numbers reconciled, claims softened, v2 written.</a:t>
            </a:r>
            <a:endParaRPr sz="1300"/>
          </a:p>
        </p:txBody>
      </p:sp>
      <p:sp>
        <p:nvSpPr>
          <p:cNvPr id="185" name="Google Shape;185;p15"/>
          <p:cNvSpPr/>
          <p:nvPr/>
        </p:nvSpPr>
        <p:spPr>
          <a:xfrm>
            <a:off x="512213" y="5271553"/>
            <a:ext cx="11155680" cy="658368"/>
          </a:xfrm>
          <a:prstGeom prst="roundRect">
            <a:avLst>
              <a:gd fmla="val 16667" name="adj"/>
            </a:avLst>
          </a:prstGeom>
          <a:solidFill>
            <a:srgbClr val="E2F3F3"/>
          </a:solidFill>
          <a:ln cap="flat" cmpd="sng" w="12700">
            <a:solidFill>
              <a:srgbClr val="E2F3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5"/>
          <p:cNvSpPr txBox="1"/>
          <p:nvPr/>
        </p:nvSpPr>
        <p:spPr>
          <a:xfrm>
            <a:off x="695093" y="5427001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Key principle: AI accelerated every stage, but the final decisions were resolved through cross-checking, not blind trust.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6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6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6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Decode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Stage 1: Decoding the Brief with ChatGPT 5.4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Extended thinking to understand what the assessment is really grading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4 of 12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 Semerci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6"/>
          <p:cNvSpPr/>
          <p:nvPr/>
        </p:nvSpPr>
        <p:spPr>
          <a:xfrm>
            <a:off x="502920" y="1325880"/>
            <a:ext cx="530352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502920" y="1380744"/>
            <a:ext cx="41148" cy="217627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667512" y="1417320"/>
            <a:ext cx="5029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What I asked ChatGPT 5.4 to do</a:t>
            </a:r>
            <a:endParaRPr/>
          </a:p>
        </p:txBody>
      </p:sp>
      <p:sp>
        <p:nvSpPr>
          <p:cNvPr id="202" name="Google Shape;202;p16"/>
          <p:cNvSpPr txBox="1"/>
          <p:nvPr/>
        </p:nvSpPr>
        <p:spPr>
          <a:xfrm>
            <a:off x="667512" y="1709928"/>
            <a:ext cx="5010912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Used extended thinking mode with a focused prompt: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“Deeply research this assignment and give me a master prompt for Claude Code.”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Goal 1: understand how AI perceives the hidden evaluation criteria.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Goal 2: produce a structured starting prompt for the build agent.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This was strategic delegation — using one AI's analytical strength to brief another.</a:t>
            </a:r>
            <a:endParaRPr/>
          </a:p>
        </p:txBody>
      </p:sp>
      <p:sp>
        <p:nvSpPr>
          <p:cNvPr id="203" name="Google Shape;203;p16"/>
          <p:cNvSpPr/>
          <p:nvPr/>
        </p:nvSpPr>
        <p:spPr>
          <a:xfrm>
            <a:off x="5989320" y="1325880"/>
            <a:ext cx="5669280" cy="2286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6"/>
          <p:cNvSpPr/>
          <p:nvPr/>
        </p:nvSpPr>
        <p:spPr>
          <a:xfrm>
            <a:off x="5989320" y="1380744"/>
            <a:ext cx="41148" cy="217627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6"/>
          <p:cNvSpPr txBox="1"/>
          <p:nvPr/>
        </p:nvSpPr>
        <p:spPr>
          <a:xfrm>
            <a:off x="6153912" y="1417320"/>
            <a:ext cx="53949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What it produced: the Master Plan</a:t>
            </a:r>
            <a:endParaRPr/>
          </a:p>
        </p:txBody>
      </p:sp>
      <p:sp>
        <p:nvSpPr>
          <p:cNvPr id="206" name="Google Shape;206;p16"/>
          <p:cNvSpPr txBox="1"/>
          <p:nvPr/>
        </p:nvSpPr>
        <p:spPr>
          <a:xfrm>
            <a:off x="6153912" y="1709928"/>
            <a:ext cx="5376672" cy="18105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Assessment decoding — hidden grading criteria, difficulty ranking per module.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15 locked decisions with exact values (m=16, k=60, 0.97 threshold).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12 prioritized deliverables with mandatory/optional flags.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10 failure modes with “why bad + how to avoid + stronger answer” for each.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6 rejected alternatives with specific technical reasons.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A 5-hour execution plan with human-vs-AI split per task.</a:t>
            </a:r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502920" y="3840480"/>
            <a:ext cx="11155680" cy="1371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6"/>
          <p:cNvSpPr/>
          <p:nvPr/>
        </p:nvSpPr>
        <p:spPr>
          <a:xfrm>
            <a:off x="502920" y="3895344"/>
            <a:ext cx="41148" cy="126187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6"/>
          <p:cNvSpPr txBox="1"/>
          <p:nvPr/>
        </p:nvSpPr>
        <p:spPr>
          <a:xfrm>
            <a:off x="667512" y="3931920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Why this matters</a:t>
            </a:r>
            <a:endParaRPr/>
          </a:p>
        </p:txBody>
      </p:sp>
      <p:sp>
        <p:nvSpPr>
          <p:cNvPr id="210" name="Google Shape;210;p16"/>
          <p:cNvSpPr txBox="1"/>
          <p:nvPr/>
        </p:nvSpPr>
        <p:spPr>
          <a:xfrm>
            <a:off x="667512" y="4224528"/>
            <a:ext cx="10863000" cy="97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The decoding step surfaced things I would not have prioritized on my own: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Module 3 (CRAG) carries 35% of the evaluator's impression — it needed the most investment.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The RBAC question is a mathematical trap — the assessment expects a probability proof, not just a policy statement.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The cache threshold question tests whether you understand that near-misses in fiscal data are catastrophic, not merely suboptimal.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Starting with this analysis meant every subsequent build step was aimed at the right targets.</a:t>
            </a:r>
            <a:endParaRPr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7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7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Plan</a:t>
            </a:r>
            <a:endParaRPr/>
          </a:p>
        </p:txBody>
      </p:sp>
      <p:sp>
        <p:nvSpPr>
          <p:cNvPr id="219" name="Google Shape;219;p17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Stage 2: Planning with Claude Code</a:t>
            </a:r>
            <a:endParaRPr/>
          </a:p>
        </p:txBody>
      </p:sp>
      <p:sp>
        <p:nvSpPr>
          <p:cNvPr id="220" name="Google Shape;220;p17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Plan mode turned the decoded brief into a structured, executable work order</a:t>
            </a:r>
            <a:endParaRPr/>
          </a:p>
        </p:txBody>
      </p:sp>
      <p:sp>
        <p:nvSpPr>
          <p:cNvPr id="221" name="Google Shape;221;p17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5 of 12</a:t>
            </a:r>
            <a:endParaRPr/>
          </a:p>
        </p:txBody>
      </p:sp>
      <p:sp>
        <p:nvSpPr>
          <p:cNvPr id="222" name="Google Shape;222;p17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 Semerci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7"/>
          <p:cNvSpPr/>
          <p:nvPr/>
        </p:nvSpPr>
        <p:spPr>
          <a:xfrm>
            <a:off x="502920" y="1325880"/>
            <a:ext cx="3657600" cy="2194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7"/>
          <p:cNvSpPr/>
          <p:nvPr/>
        </p:nvSpPr>
        <p:spPr>
          <a:xfrm>
            <a:off x="502920" y="1380744"/>
            <a:ext cx="41148" cy="208483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 txBox="1"/>
          <p:nvPr/>
        </p:nvSpPr>
        <p:spPr>
          <a:xfrm>
            <a:off x="667512" y="1417320"/>
            <a:ext cx="33832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How Claude Code plan mode worked</a:t>
            </a:r>
            <a:endParaRPr/>
          </a:p>
        </p:txBody>
      </p:sp>
      <p:sp>
        <p:nvSpPr>
          <p:cNvPr id="226" name="Google Shape;226;p17"/>
          <p:cNvSpPr txBox="1"/>
          <p:nvPr/>
        </p:nvSpPr>
        <p:spPr>
          <a:xfrm>
            <a:off x="667512" y="1709928"/>
            <a:ext cx="3364992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Fed the ChatGPT 5.4 master plan as input.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Claude Code entered plan mode — no code yet, only structure.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Produced a 12-section plan covering every module.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Defined the repo structure (25+ files) and build order.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Locked 15 decisions before writing any prose.</a:t>
            </a:r>
            <a:endParaRPr/>
          </a:p>
        </p:txBody>
      </p:sp>
      <p:sp>
        <p:nvSpPr>
          <p:cNvPr id="227" name="Google Shape;227;p17"/>
          <p:cNvSpPr/>
          <p:nvPr/>
        </p:nvSpPr>
        <p:spPr>
          <a:xfrm>
            <a:off x="4343400" y="1325880"/>
            <a:ext cx="3611880" cy="2194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7"/>
          <p:cNvSpPr/>
          <p:nvPr/>
        </p:nvSpPr>
        <p:spPr>
          <a:xfrm>
            <a:off x="4343400" y="1380744"/>
            <a:ext cx="41148" cy="208483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7"/>
          <p:cNvSpPr txBox="1"/>
          <p:nvPr/>
        </p:nvSpPr>
        <p:spPr>
          <a:xfrm>
            <a:off x="4507992" y="1417320"/>
            <a:ext cx="33375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Key decisions locked in the plan</a:t>
            </a:r>
            <a:endParaRPr/>
          </a:p>
        </p:txBody>
      </p:sp>
      <p:sp>
        <p:nvSpPr>
          <p:cNvPr id="230" name="Google Shape;230;p17"/>
          <p:cNvSpPr txBox="1"/>
          <p:nvPr/>
        </p:nvSpPr>
        <p:spPr>
          <a:xfrm>
            <a:off x="4507992" y="1709928"/>
            <a:ext cx="3319272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OpenSearch 2.15+ for unified search + DLS.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HNSW: m=16, ef_construction=256, ef_search=128.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Hybrid fusion: RRF with k=60 (not alpha blending).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Reranker: BAAI/bge-reranker-v2-m3 (self-hosted).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Embedding: intfloat/multilingual-e5-large (1024-dim).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Cache threshold: cosine ≥ 0.97.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LLM: Mixtral 8x22B via vLLM (self-hosted).</a:t>
            </a:r>
            <a:endParaRPr/>
          </a:p>
        </p:txBody>
      </p:sp>
      <p:sp>
        <p:nvSpPr>
          <p:cNvPr id="231" name="Google Shape;231;p17"/>
          <p:cNvSpPr/>
          <p:nvPr/>
        </p:nvSpPr>
        <p:spPr>
          <a:xfrm>
            <a:off x="8138160" y="1325880"/>
            <a:ext cx="3520440" cy="21945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7"/>
          <p:cNvSpPr/>
          <p:nvPr/>
        </p:nvSpPr>
        <p:spPr>
          <a:xfrm>
            <a:off x="8138160" y="1380744"/>
            <a:ext cx="41148" cy="208483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8302752" y="14173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Build order (hardest first)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8302752" y="1709928"/>
            <a:ext cx="3227832" cy="17190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Step 1: Schemas (metadata, OpenSearch mapping, RBAC).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Step 2: Module 1 + Module 3 pseudocode (hardest).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Step 3: Module 2 retrieval + Module 4 cache.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Step 4: All 4 architecture diagrams.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Step 5: Module drafts + final submission assembly.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This order respected dependencies and risk.</a:t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502920" y="3749039"/>
            <a:ext cx="11155680" cy="14173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502920" y="3803903"/>
            <a:ext cx="41148" cy="13075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7"/>
          <p:cNvSpPr txBox="1"/>
          <p:nvPr/>
        </p:nvSpPr>
        <p:spPr>
          <a:xfrm>
            <a:off x="667512" y="3840479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What planning prevented</a:t>
            </a:r>
            <a:endParaRPr/>
          </a:p>
        </p:txBody>
      </p:sp>
      <p:sp>
        <p:nvSpPr>
          <p:cNvPr id="238" name="Google Shape;238;p17"/>
          <p:cNvSpPr txBox="1"/>
          <p:nvPr/>
        </p:nvSpPr>
        <p:spPr>
          <a:xfrm>
            <a:off x="667512" y="4133087"/>
            <a:ext cx="10863072" cy="941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Without planning, I would have started writing Module 1 prose immediately — the easiest but least impactful work.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The plan forced me to build schemas and pseudocode first, so every draft could reference concrete artifacts.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It also surfaced cross-file dependencies: the CRAG state machine imports retrieval functions, so retrieval must exist first.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Result: zero placeholder TODOs in the final submission. Every reference resolves to a real file.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8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8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Build</a:t>
            </a:r>
            <a:endParaRPr/>
          </a:p>
        </p:txBody>
      </p:sp>
      <p:sp>
        <p:nvSpPr>
          <p:cNvPr id="247" name="Google Shape;247;p18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Stage 3: Building with Claude Code Sub-Agents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Structured artifact generation across schemas, pseudocode, diagrams, and prompts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6 of 12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 Semerci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8"/>
          <p:cNvSpPr/>
          <p:nvPr/>
        </p:nvSpPr>
        <p:spPr>
          <a:xfrm>
            <a:off x="502920" y="1325880"/>
            <a:ext cx="26060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8"/>
          <p:cNvSpPr/>
          <p:nvPr/>
        </p:nvSpPr>
        <p:spPr>
          <a:xfrm>
            <a:off x="502920" y="1380744"/>
            <a:ext cx="41148" cy="190195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 txBox="1"/>
          <p:nvPr/>
        </p:nvSpPr>
        <p:spPr>
          <a:xfrm>
            <a:off x="667512" y="14173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Schemas (3 files)</a:t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667512" y="1709928"/>
            <a:ext cx="231343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chunk_metadata.json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opensearch_index_mapping.json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rbac_roles.json</a:t>
            </a:r>
            <a:endParaRPr/>
          </a:p>
        </p:txBody>
      </p:sp>
      <p:sp>
        <p:nvSpPr>
          <p:cNvPr id="255" name="Google Shape;255;p18"/>
          <p:cNvSpPr/>
          <p:nvPr/>
        </p:nvSpPr>
        <p:spPr>
          <a:xfrm>
            <a:off x="3383280" y="1325880"/>
            <a:ext cx="26060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3383280" y="1380744"/>
            <a:ext cx="41148" cy="190195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 txBox="1"/>
          <p:nvPr/>
        </p:nvSpPr>
        <p:spPr>
          <a:xfrm>
            <a:off x="3547872" y="14173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Pseudocode (5 files)</a:t>
            </a:r>
            <a:endParaRPr/>
          </a:p>
        </p:txBody>
      </p:sp>
      <p:sp>
        <p:nvSpPr>
          <p:cNvPr id="258" name="Google Shape;258;p18"/>
          <p:cNvSpPr txBox="1"/>
          <p:nvPr/>
        </p:nvSpPr>
        <p:spPr>
          <a:xfrm>
            <a:off x="3547872" y="1709928"/>
            <a:ext cx="231343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module1_ingestion.py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module3_crag_statemachine.py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module3_grader.py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module2_retrieval.py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module4_cache.py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6263640" y="1325880"/>
            <a:ext cx="26060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/>
          <p:nvPr/>
        </p:nvSpPr>
        <p:spPr>
          <a:xfrm>
            <a:off x="6263640" y="1380744"/>
            <a:ext cx="41148" cy="190195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8"/>
          <p:cNvSpPr txBox="1"/>
          <p:nvPr/>
        </p:nvSpPr>
        <p:spPr>
          <a:xfrm>
            <a:off x="6428232" y="14173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Diagrams (4 files)</a:t>
            </a:r>
            <a:endParaRPr/>
          </a:p>
        </p:txBody>
      </p:sp>
      <p:sp>
        <p:nvSpPr>
          <p:cNvPr id="262" name="Google Shape;262;p18"/>
          <p:cNvSpPr txBox="1"/>
          <p:nvPr/>
        </p:nvSpPr>
        <p:spPr>
          <a:xfrm>
            <a:off x="6428232" y="1709928"/>
            <a:ext cx="231343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architecture_overview.md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retrieval_flow.md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crag_state_machine.md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security_model.md</a:t>
            </a:r>
            <a:endParaRPr/>
          </a:p>
        </p:txBody>
      </p:sp>
      <p:sp>
        <p:nvSpPr>
          <p:cNvPr id="263" name="Google Shape;263;p18"/>
          <p:cNvSpPr/>
          <p:nvPr/>
        </p:nvSpPr>
        <p:spPr>
          <a:xfrm>
            <a:off x="9144000" y="1325880"/>
            <a:ext cx="2606040" cy="2011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8"/>
          <p:cNvSpPr/>
          <p:nvPr/>
        </p:nvSpPr>
        <p:spPr>
          <a:xfrm>
            <a:off x="9144000" y="1380744"/>
            <a:ext cx="41148" cy="190195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8"/>
          <p:cNvSpPr txBox="1"/>
          <p:nvPr/>
        </p:nvSpPr>
        <p:spPr>
          <a:xfrm>
            <a:off x="9308592" y="141732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Prompts (4 files)</a:t>
            </a:r>
            <a:endParaRPr/>
          </a:p>
        </p:txBody>
      </p:sp>
      <p:sp>
        <p:nvSpPr>
          <p:cNvPr id="266" name="Google Shape;266;p18"/>
          <p:cNvSpPr txBox="1"/>
          <p:nvPr/>
        </p:nvSpPr>
        <p:spPr>
          <a:xfrm>
            <a:off x="9308592" y="1709928"/>
            <a:ext cx="2313432" cy="15361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grader_prompt.txt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generator_system_prompt.txt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hyde_prompt.txt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decomposition_prompt.txt</a:t>
            </a:r>
            <a:endParaRPr/>
          </a:p>
        </p:txBody>
      </p:sp>
      <p:sp>
        <p:nvSpPr>
          <p:cNvPr id="267" name="Google Shape;267;p18"/>
          <p:cNvSpPr/>
          <p:nvPr/>
        </p:nvSpPr>
        <p:spPr>
          <a:xfrm>
            <a:off x="502920" y="356616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8"/>
          <p:cNvSpPr txBox="1"/>
          <p:nvPr/>
        </p:nvSpPr>
        <p:spPr>
          <a:xfrm>
            <a:off x="502920" y="36393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4,233</a:t>
            </a:r>
            <a:endParaRPr/>
          </a:p>
        </p:txBody>
      </p:sp>
      <p:sp>
        <p:nvSpPr>
          <p:cNvPr id="269" name="Google Shape;269;p18"/>
          <p:cNvSpPr txBox="1"/>
          <p:nvPr/>
        </p:nvSpPr>
        <p:spPr>
          <a:xfrm>
            <a:off x="502920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Pseudocode lines</a:t>
            </a:r>
            <a:endParaRPr/>
          </a:p>
        </p:txBody>
      </p:sp>
      <p:sp>
        <p:nvSpPr>
          <p:cNvPr id="270" name="Google Shape;270;p18"/>
          <p:cNvSpPr/>
          <p:nvPr/>
        </p:nvSpPr>
        <p:spPr>
          <a:xfrm>
            <a:off x="2468880" y="356616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8"/>
          <p:cNvSpPr txBox="1"/>
          <p:nvPr/>
        </p:nvSpPr>
        <p:spPr>
          <a:xfrm>
            <a:off x="2468880" y="36393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1,398</a:t>
            </a:r>
            <a:endParaRPr/>
          </a:p>
        </p:txBody>
      </p:sp>
      <p:sp>
        <p:nvSpPr>
          <p:cNvPr id="272" name="Google Shape;272;p18"/>
          <p:cNvSpPr txBox="1"/>
          <p:nvPr/>
        </p:nvSpPr>
        <p:spPr>
          <a:xfrm>
            <a:off x="2468880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Diagram lines</a:t>
            </a:r>
            <a:endParaRPr/>
          </a:p>
        </p:txBody>
      </p:sp>
      <p:sp>
        <p:nvSpPr>
          <p:cNvPr id="273" name="Google Shape;273;p18"/>
          <p:cNvSpPr/>
          <p:nvPr/>
        </p:nvSpPr>
        <p:spPr>
          <a:xfrm>
            <a:off x="4434840" y="356616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8"/>
          <p:cNvSpPr txBox="1"/>
          <p:nvPr/>
        </p:nvSpPr>
        <p:spPr>
          <a:xfrm>
            <a:off x="4434840" y="36393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24+</a:t>
            </a:r>
            <a:endParaRPr/>
          </a:p>
        </p:txBody>
      </p:sp>
      <p:sp>
        <p:nvSpPr>
          <p:cNvPr id="275" name="Google Shape;275;p18"/>
          <p:cNvSpPr txBox="1"/>
          <p:nvPr/>
        </p:nvSpPr>
        <p:spPr>
          <a:xfrm>
            <a:off x="4434840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Total files</a:t>
            </a:r>
            <a:endParaRPr/>
          </a:p>
        </p:txBody>
      </p:sp>
      <p:sp>
        <p:nvSpPr>
          <p:cNvPr id="276" name="Google Shape;276;p18"/>
          <p:cNvSpPr/>
          <p:nvPr/>
        </p:nvSpPr>
        <p:spPr>
          <a:xfrm>
            <a:off x="6400800" y="356616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8"/>
          <p:cNvSpPr txBox="1"/>
          <p:nvPr/>
        </p:nvSpPr>
        <p:spPr>
          <a:xfrm>
            <a:off x="6400800" y="36393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7,206</a:t>
            </a:r>
            <a:endParaRPr/>
          </a:p>
        </p:txBody>
      </p:sp>
      <p:sp>
        <p:nvSpPr>
          <p:cNvPr id="278" name="Google Shape;278;p18"/>
          <p:cNvSpPr txBox="1"/>
          <p:nvPr/>
        </p:nvSpPr>
        <p:spPr>
          <a:xfrm>
            <a:off x="6400800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Submission words</a:t>
            </a:r>
            <a:endParaRPr/>
          </a:p>
        </p:txBody>
      </p:sp>
      <p:sp>
        <p:nvSpPr>
          <p:cNvPr id="279" name="Google Shape;279;p18"/>
          <p:cNvSpPr/>
          <p:nvPr/>
        </p:nvSpPr>
        <p:spPr>
          <a:xfrm>
            <a:off x="8366760" y="356616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8"/>
          <p:cNvSpPr txBox="1"/>
          <p:nvPr/>
        </p:nvSpPr>
        <p:spPr>
          <a:xfrm>
            <a:off x="8366760" y="36393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18</a:t>
            </a:r>
            <a:endParaRPr/>
          </a:p>
        </p:txBody>
      </p:sp>
      <p:sp>
        <p:nvSpPr>
          <p:cNvPr id="281" name="Google Shape;281;p18"/>
          <p:cNvSpPr txBox="1"/>
          <p:nvPr/>
        </p:nvSpPr>
        <p:spPr>
          <a:xfrm>
            <a:off x="8366760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Assumptions</a:t>
            </a:r>
            <a:endParaRPr/>
          </a:p>
        </p:txBody>
      </p:sp>
      <p:sp>
        <p:nvSpPr>
          <p:cNvPr id="282" name="Google Shape;282;p18"/>
          <p:cNvSpPr/>
          <p:nvPr/>
        </p:nvSpPr>
        <p:spPr>
          <a:xfrm>
            <a:off x="10332720" y="3566160"/>
            <a:ext cx="182880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8"/>
          <p:cNvSpPr txBox="1"/>
          <p:nvPr/>
        </p:nvSpPr>
        <p:spPr>
          <a:xfrm>
            <a:off x="10332720" y="3639312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5</a:t>
            </a:r>
            <a:endParaRPr/>
          </a:p>
        </p:txBody>
      </p:sp>
      <p:sp>
        <p:nvSpPr>
          <p:cNvPr id="284" name="Google Shape;284;p18"/>
          <p:cNvSpPr txBox="1"/>
          <p:nvPr/>
        </p:nvSpPr>
        <p:spPr>
          <a:xfrm>
            <a:off x="10332720" y="406908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Build steps</a:t>
            </a:r>
            <a:endParaRPr/>
          </a:p>
        </p:txBody>
      </p:sp>
      <p:sp>
        <p:nvSpPr>
          <p:cNvPr id="285" name="Google Shape;285;p18"/>
          <p:cNvSpPr/>
          <p:nvPr/>
        </p:nvSpPr>
        <p:spPr>
          <a:xfrm>
            <a:off x="502920" y="4709160"/>
            <a:ext cx="1115568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8"/>
          <p:cNvSpPr/>
          <p:nvPr/>
        </p:nvSpPr>
        <p:spPr>
          <a:xfrm>
            <a:off x="502920" y="4764024"/>
            <a:ext cx="41148" cy="121615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667512" y="4800600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How sub-agents worked in practice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667512" y="5093208"/>
            <a:ext cx="10863000" cy="8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Claude Code executed each step of the plan as a focused sub-task with clear inputs and outputs.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Each step verified cross-file consistency before moving on (function signatures, field names, constant values).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After Step 2: verified ChunkMetadata fields match between ingestion and CRAG state machine.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After Step 4: verified all diagram function names match the actual pseudocode exports.</a:t>
            </a:r>
            <a:endParaRPr sz="11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This incremental verification prevented the cascading inconsistencies that AI-generated code normally suffers from.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9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9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297" name="Google Shape;297;p19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Stage 4: Quality Control with External Agents</a:t>
            </a:r>
            <a:endParaRPr/>
          </a:p>
        </p:txBody>
      </p:sp>
      <p:sp>
        <p:nvSpPr>
          <p:cNvPr id="298" name="Google Shape;298;p19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Independent scoring from ChatGPT 5.4 and teacher-style feedback from Hermes Agent</a:t>
            </a:r>
            <a:endParaRPr/>
          </a:p>
        </p:txBody>
      </p:sp>
      <p:sp>
        <p:nvSpPr>
          <p:cNvPr id="299" name="Google Shape;299;p19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7 of 12</a:t>
            </a:r>
            <a:endParaRPr/>
          </a:p>
        </p:txBody>
      </p:sp>
      <p:sp>
        <p:nvSpPr>
          <p:cNvPr id="300" name="Google Shape;300;p19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 Semerci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9"/>
          <p:cNvSpPr/>
          <p:nvPr/>
        </p:nvSpPr>
        <p:spPr>
          <a:xfrm>
            <a:off x="502920" y="1325880"/>
            <a:ext cx="5486400" cy="2743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9"/>
          <p:cNvSpPr/>
          <p:nvPr/>
        </p:nvSpPr>
        <p:spPr>
          <a:xfrm>
            <a:off x="502920" y="1380744"/>
            <a:ext cx="41148" cy="263347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9"/>
          <p:cNvSpPr txBox="1"/>
          <p:nvPr/>
        </p:nvSpPr>
        <p:spPr>
          <a:xfrm>
            <a:off x="667512" y="1417320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ChatGPT 5.4 Extended Thinking — Strict Scoring</a:t>
            </a:r>
            <a:endParaRPr/>
          </a:p>
        </p:txBody>
      </p:sp>
      <p:sp>
        <p:nvSpPr>
          <p:cNvPr id="304" name="Google Shape;304;p19"/>
          <p:cNvSpPr txBox="1"/>
          <p:nvPr/>
        </p:nvSpPr>
        <p:spPr>
          <a:xfrm>
            <a:off x="667512" y="1709928"/>
            <a:ext cx="5193900" cy="210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Reviewed every file in the repository against the assessment brief.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Scored the submission at 86% complete, rated 8/10.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Per-module scores: M1 88%, M2 92%, M3 80%, M4 84%.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Top issues found: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Internal contradictions (14 vs 22 metadata fields across files).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Memory sizing inconsistency (SQ8 vs fp16 not settled).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Retry/TTFT math contradiction (1450 ms “within budget” vs 2030 ms “over budget”).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CI/evaluation claims without supporting artifacts.</a:t>
            </a:r>
            <a:endParaRPr sz="13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RRF narrative vs non-RRF active config in the OpenSearch mapping.</a:t>
            </a:r>
            <a:endParaRPr sz="1300"/>
          </a:p>
        </p:txBody>
      </p:sp>
      <p:sp>
        <p:nvSpPr>
          <p:cNvPr id="305" name="Google Shape;305;p19"/>
          <p:cNvSpPr/>
          <p:nvPr/>
        </p:nvSpPr>
        <p:spPr>
          <a:xfrm>
            <a:off x="6172200" y="1325875"/>
            <a:ext cx="5486400" cy="2971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6172200" y="1380744"/>
            <a:ext cx="41148" cy="2633472"/>
          </a:xfrm>
          <a:prstGeom prst="rect">
            <a:avLst/>
          </a:prstGeom>
          <a:solidFill>
            <a:srgbClr val="BE4242"/>
          </a:solidFill>
          <a:ln cap="flat" cmpd="sng" w="12700">
            <a:solidFill>
              <a:srgbClr val="BE424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6336792" y="1417320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BE4242"/>
                </a:solidFill>
                <a:latin typeface="Play"/>
                <a:ea typeface="Play"/>
                <a:cs typeface="Play"/>
                <a:sym typeface="Play"/>
              </a:rPr>
              <a:t>Hermes Agent — Teacher-Style Feedback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6336792" y="1709928"/>
            <a:ext cx="5193900" cy="244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Independent review using a teacher/interviewer persona.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Verdict: “strong technically, medium on communication efficiency.”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What the agent praised: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Real decisions (not hiding behind vague options).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Security reasoning above average.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Domain awareness (Dutch legal, ECLI, temporal versioning).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What the agent flagged: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Main answer too long (10.7K words, reviewer fatigue).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Performative tone (“most candidates will…”, “crown jewel”).</a:t>
            </a:r>
            <a:endParaRPr sz="1200"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• Grader rule too blunt (one-size-fits-all ≥3 chunks).</a:t>
            </a:r>
            <a:endParaRPr sz="1200"/>
          </a:p>
        </p:txBody>
      </p:sp>
      <p:sp>
        <p:nvSpPr>
          <p:cNvPr id="309" name="Google Shape;309;p19"/>
          <p:cNvSpPr/>
          <p:nvPr/>
        </p:nvSpPr>
        <p:spPr>
          <a:xfrm>
            <a:off x="502920" y="4297680"/>
            <a:ext cx="1115568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502920" y="4352544"/>
            <a:ext cx="41148" cy="121615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667512" y="4389120"/>
            <a:ext cx="10881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Why external review matters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667512" y="4681728"/>
            <a:ext cx="10863072" cy="8503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Neither agent had seen the build process. They reviewed the output cold, like an assessor would.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Their feedback overlapped on the biggest risk: internal contradictions hurt credibility more than missing features.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The Hermes agent caught tone issues that ChatGPT did not flag, and ChatGPT caught quantitative inconsistencies that Hermes did not.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Together they produced a comprehensive improvement list that became the input for Stage 5.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20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0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Review</a:t>
            </a:r>
            <a:endParaRPr/>
          </a:p>
        </p:txBody>
      </p:sp>
      <p:sp>
        <p:nvSpPr>
          <p:cNvPr id="320" name="Google Shape;320;p20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Stage 4: How did I use Hermes agent 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20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Independent scoring from ChatGPT 5.4 and teacher-style feedback from Hermes Agent</a:t>
            </a:r>
            <a:endParaRPr/>
          </a:p>
        </p:txBody>
      </p:sp>
      <p:sp>
        <p:nvSpPr>
          <p:cNvPr id="322" name="Google Shape;322;p20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7 of 12</a:t>
            </a:r>
            <a:endParaRPr/>
          </a:p>
        </p:txBody>
      </p:sp>
      <p:sp>
        <p:nvSpPr>
          <p:cNvPr id="323" name="Google Shape;323;p20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 Semerci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0"/>
          <p:cNvSpPr txBox="1"/>
          <p:nvPr/>
        </p:nvSpPr>
        <p:spPr>
          <a:xfrm>
            <a:off x="731520" y="1483359"/>
            <a:ext cx="33630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Deployed </a:t>
            </a:r>
            <a:r>
              <a:rPr b="1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main agent</a:t>
            </a:r>
            <a:r>
              <a:rPr b="0" i="0" lang="en-US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Codex 5.4 extra high thinking, with the task of being the teacher and revising on the assessment. Also keeping up a feedback document.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Deployed</a:t>
            </a: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2 sub agents: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Both Codex 5.4 extra high.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 agent 1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was tasked with writing down questions, and imperfections about the feedback document that the main agent was keeping up.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 agent 2</a:t>
            </a: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was tasked with answering the quesitons and fixing the imperfections that sub agent 1 found about the feedback document.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My Hermes agents ran on a heartbeat of 15 min for a couple of hours straight.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 made sure to install plenty reasoning skills to improve performance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screenshot of a computer&#10;&#10;AI-generated content may be incorrect." id="325" name="Google Shape;32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06511" y="1480905"/>
            <a:ext cx="6914220" cy="380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1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1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Harden</a:t>
            </a:r>
            <a:endParaRPr/>
          </a:p>
        </p:txBody>
      </p:sp>
      <p:sp>
        <p:nvSpPr>
          <p:cNvPr id="334" name="Google Shape;334;p21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Stage 5: Hardening the Submission</a:t>
            </a:r>
            <a:endParaRPr/>
          </a:p>
        </p:txBody>
      </p:sp>
      <p:sp>
        <p:nvSpPr>
          <p:cNvPr id="335" name="Google Shape;335;p21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Every feedback item addressed — contradictions fixed, claims softened, v2 written</a:t>
            </a:r>
            <a:endParaRPr/>
          </a:p>
        </p:txBody>
      </p:sp>
      <p:sp>
        <p:nvSpPr>
          <p:cNvPr id="336" name="Google Shape;336;p21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8 of 12</a:t>
            </a:r>
            <a:endParaRPr/>
          </a:p>
        </p:txBody>
      </p:sp>
      <p:sp>
        <p:nvSpPr>
          <p:cNvPr id="337" name="Google Shape;337;p21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</a:t>
            </a:r>
            <a:endParaRPr/>
          </a:p>
        </p:txBody>
      </p:sp>
      <p:sp>
        <p:nvSpPr>
          <p:cNvPr id="338" name="Google Shape;338;p21"/>
          <p:cNvSpPr/>
          <p:nvPr/>
        </p:nvSpPr>
        <p:spPr>
          <a:xfrm>
            <a:off x="502920" y="1325880"/>
            <a:ext cx="544068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21"/>
          <p:cNvSpPr/>
          <p:nvPr/>
        </p:nvSpPr>
        <p:spPr>
          <a:xfrm>
            <a:off x="502920" y="1380744"/>
            <a:ext cx="41148" cy="181051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1"/>
          <p:cNvSpPr txBox="1"/>
          <p:nvPr/>
        </p:nvSpPr>
        <p:spPr>
          <a:xfrm>
            <a:off x="667512" y="1417320"/>
            <a:ext cx="5166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Contradictions fixed</a:t>
            </a:r>
            <a:endParaRPr/>
          </a:p>
        </p:txBody>
      </p:sp>
      <p:sp>
        <p:nvSpPr>
          <p:cNvPr id="341" name="Google Shape;341;p21"/>
          <p:cNvSpPr txBox="1"/>
          <p:nvPr/>
        </p:nvSpPr>
        <p:spPr>
          <a:xfrm>
            <a:off x="667512" y="1709928"/>
            <a:ext cx="514807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14 fields → 22 fields (matched actual schema).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SQ8 ~60 GB → fp16 ~61 GB primary, SQ8 ~31 GB fallback.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Retry TTFT: corrected to ~2030 ms (over budget but rare).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RRF made the active OpenSearch pipeline config.</a:t>
            </a:r>
            <a:endParaRPr/>
          </a:p>
        </p:txBody>
      </p:sp>
      <p:sp>
        <p:nvSpPr>
          <p:cNvPr id="342" name="Google Shape;342;p21"/>
          <p:cNvSpPr/>
          <p:nvPr/>
        </p:nvSpPr>
        <p:spPr>
          <a:xfrm>
            <a:off x="6217920" y="1325880"/>
            <a:ext cx="544068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1"/>
          <p:cNvSpPr/>
          <p:nvPr/>
        </p:nvSpPr>
        <p:spPr>
          <a:xfrm>
            <a:off x="6217920" y="1380744"/>
            <a:ext cx="41148" cy="181051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 txBox="1"/>
          <p:nvPr/>
        </p:nvSpPr>
        <p:spPr>
          <a:xfrm>
            <a:off x="6382512" y="1417320"/>
            <a:ext cx="5166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Submission rewritten</a:t>
            </a:r>
            <a:endParaRPr/>
          </a:p>
        </p:txBody>
      </p:sp>
      <p:sp>
        <p:nvSpPr>
          <p:cNvPr id="345" name="Google Shape;345;p21"/>
          <p:cNvSpPr txBox="1"/>
          <p:nvPr/>
        </p:nvSpPr>
        <p:spPr>
          <a:xfrm>
            <a:off x="6382512" y="1709928"/>
            <a:ext cx="514807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10,700 words → 7,206 words (33% reduction).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Added Quick Answers Sheet at the top.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Removed all performative language.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Query-type-aware grader thresholds added.</a:t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502920" y="3474720"/>
            <a:ext cx="544068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502920" y="3529584"/>
            <a:ext cx="41148" cy="181051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 txBox="1"/>
          <p:nvPr/>
        </p:nvSpPr>
        <p:spPr>
          <a:xfrm>
            <a:off x="667512" y="3566160"/>
            <a:ext cx="5166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Artifacts added</a:t>
            </a:r>
            <a:endParaRPr/>
          </a:p>
        </p:txBody>
      </p:sp>
      <p:sp>
        <p:nvSpPr>
          <p:cNvPr id="349" name="Google Shape;349;p21"/>
          <p:cNvSpPr txBox="1"/>
          <p:nvPr/>
        </p:nvSpPr>
        <p:spPr>
          <a:xfrm>
            <a:off x="667512" y="3858768"/>
            <a:ext cx="514807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requirements.txt — full Python dependency list.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.github/workflows/eval_gate.yml — CI/CD stub.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eval/golden_test_set_spec.json — 5-entry sample.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Hallucination claim qualified to “fail-closed.”</a:t>
            </a:r>
            <a:endParaRPr/>
          </a:p>
        </p:txBody>
      </p:sp>
      <p:sp>
        <p:nvSpPr>
          <p:cNvPr id="350" name="Google Shape;350;p21"/>
          <p:cNvSpPr/>
          <p:nvPr/>
        </p:nvSpPr>
        <p:spPr>
          <a:xfrm>
            <a:off x="6217920" y="3474720"/>
            <a:ext cx="544068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217920" y="3529584"/>
            <a:ext cx="41148" cy="181051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 txBox="1"/>
          <p:nvPr/>
        </p:nvSpPr>
        <p:spPr>
          <a:xfrm>
            <a:off x="6382512" y="3566160"/>
            <a:ext cx="5166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Repository reorganized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>
            <a:off x="6382512" y="3858768"/>
            <a:ext cx="5148072" cy="14447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4 clear zones: answer, evidence, eval/ops, reference.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README.md rewritten as delivery navigator.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Deprecated v1 moved to internal/.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Evaluator path: README → final_submission_v2.md.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2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362" name="Google Shape;362;p22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The Architecture at a Glance</a:t>
            </a:r>
            <a:endParaRPr/>
          </a:p>
        </p:txBody>
      </p:sp>
      <p:sp>
        <p:nvSpPr>
          <p:cNvPr id="363" name="Google Shape;363;p22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Core design choices across all four modules</a:t>
            </a:r>
            <a:endParaRPr/>
          </a:p>
        </p:txBody>
      </p:sp>
      <p:sp>
        <p:nvSpPr>
          <p:cNvPr id="364" name="Google Shape;364;p22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9 of 12</a:t>
            </a:r>
            <a:endParaRPr/>
          </a:p>
        </p:txBody>
      </p:sp>
      <p:sp>
        <p:nvSpPr>
          <p:cNvPr id="365" name="Google Shape;365;p22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</a:t>
            </a:r>
            <a:endParaRPr/>
          </a:p>
        </p:txBody>
      </p:sp>
      <p:sp>
        <p:nvSpPr>
          <p:cNvPr id="366" name="Google Shape;366;p22"/>
          <p:cNvSpPr/>
          <p:nvPr/>
        </p:nvSpPr>
        <p:spPr>
          <a:xfrm>
            <a:off x="502920" y="1417320"/>
            <a:ext cx="1664208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 txBox="1"/>
          <p:nvPr/>
        </p:nvSpPr>
        <p:spPr>
          <a:xfrm>
            <a:off x="557784" y="154533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User query</a:t>
            </a:r>
            <a:endParaRPr/>
          </a:p>
        </p:txBody>
      </p:sp>
      <p:sp>
        <p:nvSpPr>
          <p:cNvPr id="368" name="Google Shape;368;p22"/>
          <p:cNvSpPr txBox="1"/>
          <p:nvPr/>
        </p:nvSpPr>
        <p:spPr>
          <a:xfrm>
            <a:off x="2221992" y="160020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369" name="Google Shape;369;p22"/>
          <p:cNvSpPr/>
          <p:nvPr/>
        </p:nvSpPr>
        <p:spPr>
          <a:xfrm>
            <a:off x="2377439" y="1417320"/>
            <a:ext cx="1664208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2"/>
          <p:cNvSpPr txBox="1"/>
          <p:nvPr/>
        </p:nvSpPr>
        <p:spPr>
          <a:xfrm>
            <a:off x="2432303" y="154533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API + OIDC</a:t>
            </a:r>
            <a:endParaRPr/>
          </a:p>
        </p:txBody>
      </p:sp>
      <p:sp>
        <p:nvSpPr>
          <p:cNvPr id="371" name="Google Shape;371;p22"/>
          <p:cNvSpPr txBox="1"/>
          <p:nvPr/>
        </p:nvSpPr>
        <p:spPr>
          <a:xfrm>
            <a:off x="4096511" y="160020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372" name="Google Shape;372;p22"/>
          <p:cNvSpPr/>
          <p:nvPr/>
        </p:nvSpPr>
        <p:spPr>
          <a:xfrm>
            <a:off x="4251958" y="1417320"/>
            <a:ext cx="1664208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 txBox="1"/>
          <p:nvPr/>
        </p:nvSpPr>
        <p:spPr>
          <a:xfrm>
            <a:off x="4306822" y="154533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Redis cache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>
            <a:off x="5971030" y="160020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6126477" y="1417320"/>
            <a:ext cx="1664208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2"/>
          <p:cNvSpPr txBox="1"/>
          <p:nvPr/>
        </p:nvSpPr>
        <p:spPr>
          <a:xfrm>
            <a:off x="6181341" y="154533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CRAG loop</a:t>
            </a:r>
            <a:endParaRPr/>
          </a:p>
        </p:txBody>
      </p:sp>
      <p:sp>
        <p:nvSpPr>
          <p:cNvPr id="377" name="Google Shape;377;p22"/>
          <p:cNvSpPr txBox="1"/>
          <p:nvPr/>
        </p:nvSpPr>
        <p:spPr>
          <a:xfrm>
            <a:off x="7845549" y="160020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378" name="Google Shape;378;p22"/>
          <p:cNvSpPr/>
          <p:nvPr/>
        </p:nvSpPr>
        <p:spPr>
          <a:xfrm>
            <a:off x="8000996" y="1417320"/>
            <a:ext cx="1664208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2"/>
          <p:cNvSpPr txBox="1"/>
          <p:nvPr/>
        </p:nvSpPr>
        <p:spPr>
          <a:xfrm>
            <a:off x="8055860" y="154533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Hybrid retrieval</a:t>
            </a:r>
            <a:endParaRPr/>
          </a:p>
        </p:txBody>
      </p:sp>
      <p:sp>
        <p:nvSpPr>
          <p:cNvPr id="380" name="Google Shape;380;p22"/>
          <p:cNvSpPr txBox="1"/>
          <p:nvPr/>
        </p:nvSpPr>
        <p:spPr>
          <a:xfrm>
            <a:off x="9720068" y="1600200"/>
            <a:ext cx="1645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›</a:t>
            </a:r>
            <a:endParaRPr/>
          </a:p>
        </p:txBody>
      </p:sp>
      <p:sp>
        <p:nvSpPr>
          <p:cNvPr id="381" name="Google Shape;381;p22"/>
          <p:cNvSpPr/>
          <p:nvPr/>
        </p:nvSpPr>
        <p:spPr>
          <a:xfrm>
            <a:off x="9875515" y="1417320"/>
            <a:ext cx="1664208" cy="6400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2"/>
          <p:cNvSpPr txBox="1"/>
          <p:nvPr/>
        </p:nvSpPr>
        <p:spPr>
          <a:xfrm>
            <a:off x="9930379" y="1545336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Cited answer</a:t>
            </a:r>
            <a:endParaRPr/>
          </a:p>
        </p:txBody>
      </p:sp>
      <p:sp>
        <p:nvSpPr>
          <p:cNvPr id="383" name="Google Shape;383;p22"/>
          <p:cNvSpPr/>
          <p:nvPr/>
        </p:nvSpPr>
        <p:spPr>
          <a:xfrm>
            <a:off x="502920" y="2286000"/>
            <a:ext cx="26060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2"/>
          <p:cNvSpPr/>
          <p:nvPr/>
        </p:nvSpPr>
        <p:spPr>
          <a:xfrm>
            <a:off x="502920" y="2340864"/>
            <a:ext cx="41148" cy="107899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22"/>
          <p:cNvSpPr txBox="1"/>
          <p:nvPr/>
        </p:nvSpPr>
        <p:spPr>
          <a:xfrm>
            <a:off x="667512" y="23774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OpenSearch 2.15+</a:t>
            </a:r>
            <a:endParaRPr/>
          </a:p>
        </p:txBody>
      </p:sp>
      <p:sp>
        <p:nvSpPr>
          <p:cNvPr id="386" name="Google Shape;386;p22"/>
          <p:cNvSpPr txBox="1"/>
          <p:nvPr/>
        </p:nvSpPr>
        <p:spPr>
          <a:xfrm>
            <a:off x="667512" y="2670048"/>
            <a:ext cx="2313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Unified dense + sparse search with native document-level security</a:t>
            </a:r>
            <a:endParaRPr/>
          </a:p>
        </p:txBody>
      </p:sp>
      <p:sp>
        <p:nvSpPr>
          <p:cNvPr id="387" name="Google Shape;387;p22"/>
          <p:cNvSpPr/>
          <p:nvPr/>
        </p:nvSpPr>
        <p:spPr>
          <a:xfrm>
            <a:off x="3355848" y="2286000"/>
            <a:ext cx="26060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2"/>
          <p:cNvSpPr/>
          <p:nvPr/>
        </p:nvSpPr>
        <p:spPr>
          <a:xfrm>
            <a:off x="3355848" y="2340864"/>
            <a:ext cx="41148" cy="107899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2"/>
          <p:cNvSpPr txBox="1"/>
          <p:nvPr/>
        </p:nvSpPr>
        <p:spPr>
          <a:xfrm>
            <a:off x="3520440" y="23774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Structure-aware chunking</a:t>
            </a:r>
            <a:endParaRPr/>
          </a:p>
        </p:txBody>
      </p:sp>
      <p:sp>
        <p:nvSpPr>
          <p:cNvPr id="390" name="Google Shape;390;p22"/>
          <p:cNvSpPr txBox="1"/>
          <p:nvPr/>
        </p:nvSpPr>
        <p:spPr>
          <a:xfrm>
            <a:off x="3520440" y="2670048"/>
            <a:ext cx="2313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Split on Dutch legal boundaries; 22-field metadata; deterministic chunk IDs</a:t>
            </a:r>
            <a:endParaRPr/>
          </a:p>
        </p:txBody>
      </p:sp>
      <p:sp>
        <p:nvSpPr>
          <p:cNvPr id="391" name="Google Shape;391;p22"/>
          <p:cNvSpPr/>
          <p:nvPr/>
        </p:nvSpPr>
        <p:spPr>
          <a:xfrm>
            <a:off x="6208776" y="2286000"/>
            <a:ext cx="26060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2"/>
          <p:cNvSpPr/>
          <p:nvPr/>
        </p:nvSpPr>
        <p:spPr>
          <a:xfrm>
            <a:off x="6208776" y="2340864"/>
            <a:ext cx="41148" cy="107899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2"/>
          <p:cNvSpPr txBox="1"/>
          <p:nvPr/>
        </p:nvSpPr>
        <p:spPr>
          <a:xfrm>
            <a:off x="6373368" y="23774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Hybrid retrieval + RRF k=60</a:t>
            </a:r>
            <a:endParaRPr/>
          </a:p>
        </p:txBody>
      </p:sp>
      <p:sp>
        <p:nvSpPr>
          <p:cNvPr id="394" name="Google Shape;394;p22"/>
          <p:cNvSpPr txBox="1"/>
          <p:nvPr/>
        </p:nvSpPr>
        <p:spPr>
          <a:xfrm>
            <a:off x="6373368" y="2670048"/>
            <a:ext cx="2313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Three paths: exact-ID, BM25 top-20, kNN top-20 → 40 fused → 8 reranked</a:t>
            </a:r>
            <a:endParaRPr/>
          </a:p>
        </p:txBody>
      </p:sp>
      <p:sp>
        <p:nvSpPr>
          <p:cNvPr id="395" name="Google Shape;395;p22"/>
          <p:cNvSpPr/>
          <p:nvPr/>
        </p:nvSpPr>
        <p:spPr>
          <a:xfrm>
            <a:off x="9061704" y="2286000"/>
            <a:ext cx="26060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2"/>
          <p:cNvSpPr/>
          <p:nvPr/>
        </p:nvSpPr>
        <p:spPr>
          <a:xfrm>
            <a:off x="9061704" y="2340864"/>
            <a:ext cx="41148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2"/>
          <p:cNvSpPr txBox="1"/>
          <p:nvPr/>
        </p:nvSpPr>
        <p:spPr>
          <a:xfrm>
            <a:off x="9226296" y="23774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BAAI/bge-reranker-v2-m3</a:t>
            </a:r>
            <a:endParaRPr/>
          </a:p>
        </p:txBody>
      </p:sp>
      <p:sp>
        <p:nvSpPr>
          <p:cNvPr id="398" name="Google Shape;398;p22"/>
          <p:cNvSpPr txBox="1"/>
          <p:nvPr/>
        </p:nvSpPr>
        <p:spPr>
          <a:xfrm>
            <a:off x="9226296" y="2670048"/>
            <a:ext cx="2313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Self-hosted multilingual cross-encoder; Cohere rejected for data sovereignty</a:t>
            </a:r>
            <a:endParaRPr/>
          </a:p>
        </p:txBody>
      </p:sp>
      <p:sp>
        <p:nvSpPr>
          <p:cNvPr id="399" name="Google Shape;399;p22"/>
          <p:cNvSpPr/>
          <p:nvPr/>
        </p:nvSpPr>
        <p:spPr>
          <a:xfrm>
            <a:off x="502920" y="3703320"/>
            <a:ext cx="26060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2"/>
          <p:cNvSpPr/>
          <p:nvPr/>
        </p:nvSpPr>
        <p:spPr>
          <a:xfrm>
            <a:off x="502920" y="3758184"/>
            <a:ext cx="41148" cy="107899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2"/>
          <p:cNvSpPr txBox="1"/>
          <p:nvPr/>
        </p:nvSpPr>
        <p:spPr>
          <a:xfrm>
            <a:off x="667512" y="379476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LangGraph CRAG (9 states)</a:t>
            </a:r>
            <a:endParaRPr/>
          </a:p>
        </p:txBody>
      </p:sp>
      <p:sp>
        <p:nvSpPr>
          <p:cNvPr id="402" name="Google Shape;402;p22"/>
          <p:cNvSpPr txBox="1"/>
          <p:nvPr/>
        </p:nvSpPr>
        <p:spPr>
          <a:xfrm>
            <a:off x="667512" y="4087368"/>
            <a:ext cx="2313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Grading gate + citation validation + bounded retry + explicit REFUSE state</a:t>
            </a:r>
            <a:endParaRPr/>
          </a:p>
        </p:txBody>
      </p:sp>
      <p:sp>
        <p:nvSpPr>
          <p:cNvPr id="403" name="Google Shape;403;p22"/>
          <p:cNvSpPr/>
          <p:nvPr/>
        </p:nvSpPr>
        <p:spPr>
          <a:xfrm>
            <a:off x="3355848" y="3703320"/>
            <a:ext cx="26060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/>
          <p:nvPr/>
        </p:nvSpPr>
        <p:spPr>
          <a:xfrm>
            <a:off x="3355848" y="3758184"/>
            <a:ext cx="41148" cy="107899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2"/>
          <p:cNvSpPr txBox="1"/>
          <p:nvPr/>
        </p:nvSpPr>
        <p:spPr>
          <a:xfrm>
            <a:off x="3520440" y="379476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intfloat/multilingual-e5-large</a:t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3520440" y="4087368"/>
            <a:ext cx="2313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Self-hosted embedding model, 1024-dim, Dutch legal corpus optimized</a:t>
            </a:r>
            <a:endParaRPr/>
          </a:p>
        </p:txBody>
      </p:sp>
      <p:sp>
        <p:nvSpPr>
          <p:cNvPr id="407" name="Google Shape;407;p22"/>
          <p:cNvSpPr/>
          <p:nvPr/>
        </p:nvSpPr>
        <p:spPr>
          <a:xfrm>
            <a:off x="6208776" y="3703320"/>
            <a:ext cx="26060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/>
          <p:nvPr/>
        </p:nvSpPr>
        <p:spPr>
          <a:xfrm>
            <a:off x="6208776" y="3758184"/>
            <a:ext cx="41148" cy="107899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22"/>
          <p:cNvSpPr txBox="1"/>
          <p:nvPr/>
        </p:nvSpPr>
        <p:spPr>
          <a:xfrm>
            <a:off x="6373368" y="379476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Mixtral 8x22B via vLLM</a:t>
            </a:r>
            <a:endParaRPr/>
          </a:p>
        </p:txBody>
      </p:sp>
      <p:sp>
        <p:nvSpPr>
          <p:cNvPr id="410" name="Google Shape;410;p22"/>
          <p:cNvSpPr txBox="1"/>
          <p:nvPr/>
        </p:nvSpPr>
        <p:spPr>
          <a:xfrm>
            <a:off x="6373368" y="4087368"/>
            <a:ext cx="2313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Self-hosted LLM inference on 4× A100; Azure OpenAI GPT-4 Gov as fallback</a:t>
            </a:r>
            <a:endParaRPr/>
          </a:p>
        </p:txBody>
      </p:sp>
      <p:sp>
        <p:nvSpPr>
          <p:cNvPr id="411" name="Google Shape;411;p22"/>
          <p:cNvSpPr/>
          <p:nvPr/>
        </p:nvSpPr>
        <p:spPr>
          <a:xfrm>
            <a:off x="9061704" y="3703320"/>
            <a:ext cx="2606040" cy="1188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/>
          <p:nvPr/>
        </p:nvSpPr>
        <p:spPr>
          <a:xfrm>
            <a:off x="9061704" y="3758184"/>
            <a:ext cx="41148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2"/>
          <p:cNvSpPr txBox="1"/>
          <p:nvPr/>
        </p:nvSpPr>
        <p:spPr>
          <a:xfrm>
            <a:off x="9226296" y="379476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Cache: cosine ≥ 0.97</a:t>
            </a:r>
            <a:endParaRPr/>
          </a:p>
        </p:txBody>
      </p:sp>
      <p:sp>
        <p:nvSpPr>
          <p:cNvPr id="414" name="Google Shape;414;p22"/>
          <p:cNvSpPr txBox="1"/>
          <p:nvPr/>
        </p:nvSpPr>
        <p:spPr>
          <a:xfrm>
            <a:off x="9226296" y="4087368"/>
            <a:ext cx="2313432" cy="7132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Tier-partitioned Redis; TTL 0s/24h/7d; year-confusion protection</a:t>
            </a:r>
            <a:endParaRPr/>
          </a:p>
        </p:txBody>
      </p:sp>
      <p:sp>
        <p:nvSpPr>
          <p:cNvPr id="415" name="Google Shape;415;p22"/>
          <p:cNvSpPr/>
          <p:nvPr/>
        </p:nvSpPr>
        <p:spPr>
          <a:xfrm>
            <a:off x="502920" y="5349240"/>
            <a:ext cx="11155680" cy="658368"/>
          </a:xfrm>
          <a:prstGeom prst="roundRect">
            <a:avLst>
              <a:gd fmla="val 16667" name="adj"/>
            </a:avLst>
          </a:prstGeom>
          <a:solidFill>
            <a:srgbClr val="E7EDF4"/>
          </a:solidFill>
          <a:ln cap="flat" cmpd="sng" w="12700">
            <a:solidFill>
              <a:srgbClr val="E7ED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2"/>
          <p:cNvSpPr txBox="1"/>
          <p:nvPr/>
        </p:nvSpPr>
        <p:spPr>
          <a:xfrm>
            <a:off x="685800" y="5468112"/>
            <a:ext cx="10789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>
                <a:solidFill>
                  <a:srgbClr val="10253E"/>
                </a:solidFill>
                <a:latin typeface="Arial"/>
                <a:ea typeface="Arial"/>
                <a:cs typeface="Arial"/>
                <a:sym typeface="Arial"/>
              </a:rPr>
              <a:t>Pre-retrieval DLS is mandatory: P(information leak under post-filtering) = 1 − 0.95⁴⁰ ≈ 0.87.  TTFT budget: 1,500 ms.  Eval gates: Faithfulness ≥ 0.90, Context Precision@8 ≥ 0.85, Citation Accuracy = 1.0.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23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23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Bonus</a:t>
            </a:r>
            <a:endParaRPr/>
          </a:p>
        </p:txBody>
      </p:sp>
      <p:sp>
        <p:nvSpPr>
          <p:cNvPr id="425" name="Google Shape;425;p23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Extra: Performance and Resource Planning</a:t>
            </a:r>
            <a:endParaRPr/>
          </a:p>
        </p:txBody>
      </p:sp>
      <p:sp>
        <p:nvSpPr>
          <p:cNvPr id="426" name="Google Shape;426;p23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Voluntary supplementary work beyond the assessment brief</a:t>
            </a:r>
            <a:endParaRPr/>
          </a:p>
        </p:txBody>
      </p:sp>
      <p:sp>
        <p:nvSpPr>
          <p:cNvPr id="427" name="Google Shape;427;p23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10 of 12</a:t>
            </a:r>
            <a:endParaRPr/>
          </a:p>
        </p:txBody>
      </p:sp>
      <p:sp>
        <p:nvSpPr>
          <p:cNvPr id="428" name="Google Shape;428;p23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</a:t>
            </a:r>
            <a:endParaRPr/>
          </a:p>
        </p:txBody>
      </p:sp>
      <p:sp>
        <p:nvSpPr>
          <p:cNvPr id="429" name="Google Shape;429;p23"/>
          <p:cNvSpPr/>
          <p:nvPr/>
        </p:nvSpPr>
        <p:spPr>
          <a:xfrm>
            <a:off x="502920" y="1097280"/>
            <a:ext cx="11155680" cy="502920"/>
          </a:xfrm>
          <a:prstGeom prst="roundRect">
            <a:avLst>
              <a:gd fmla="val 16667" name="adj"/>
            </a:avLst>
          </a:prstGeom>
          <a:solidFill>
            <a:srgbClr val="FAF2E3"/>
          </a:solidFill>
          <a:ln cap="flat" cmpd="sng" w="12700">
            <a:solidFill>
              <a:srgbClr val="FAF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685800" y="1225296"/>
            <a:ext cx="10789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>
                <a:solidFill>
                  <a:srgbClr val="C4902F"/>
                </a:solidFill>
                <a:latin typeface="Arial"/>
                <a:ea typeface="Arial"/>
                <a:cs typeface="Arial"/>
                <a:sym typeface="Arial"/>
              </a:rPr>
              <a:t>This was not required. I added it because a production-ready design needs capacity planning, not just architecture.</a:t>
            </a:r>
            <a:endParaRPr/>
          </a:p>
        </p:txBody>
      </p:sp>
      <p:sp>
        <p:nvSpPr>
          <p:cNvPr id="431" name="Google Shape;431;p23"/>
          <p:cNvSpPr/>
          <p:nvPr/>
        </p:nvSpPr>
        <p:spPr>
          <a:xfrm>
            <a:off x="502920" y="1828800"/>
            <a:ext cx="26060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3"/>
          <p:cNvSpPr/>
          <p:nvPr/>
        </p:nvSpPr>
        <p:spPr>
          <a:xfrm>
            <a:off x="502920" y="1883664"/>
            <a:ext cx="41148" cy="158191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3"/>
          <p:cNvSpPr txBox="1"/>
          <p:nvPr/>
        </p:nvSpPr>
        <p:spPr>
          <a:xfrm>
            <a:off x="667512" y="19202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Hardware budget</a:t>
            </a:r>
            <a:endParaRPr/>
          </a:p>
        </p:txBody>
      </p:sp>
      <p:sp>
        <p:nvSpPr>
          <p:cNvPr id="434" name="Google Shape;434;p23"/>
          <p:cNvSpPr txBox="1"/>
          <p:nvPr/>
        </p:nvSpPr>
        <p:spPr>
          <a:xfrm>
            <a:off x="667512" y="2212848"/>
            <a:ext cx="2313432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6× A10G + 4× A100 (self-hosted path).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3 OpenSearch data nodes, 64 GB RAM each.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8 GB Redis with allkeys-lru eviction.</a:t>
            </a:r>
            <a:endParaRPr/>
          </a:p>
        </p:txBody>
      </p:sp>
      <p:sp>
        <p:nvSpPr>
          <p:cNvPr id="435" name="Google Shape;435;p23"/>
          <p:cNvSpPr/>
          <p:nvPr/>
        </p:nvSpPr>
        <p:spPr>
          <a:xfrm>
            <a:off x="3355848" y="1828800"/>
            <a:ext cx="26060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3"/>
          <p:cNvSpPr/>
          <p:nvPr/>
        </p:nvSpPr>
        <p:spPr>
          <a:xfrm>
            <a:off x="3355848" y="1883664"/>
            <a:ext cx="41148" cy="158191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23"/>
          <p:cNvSpPr txBox="1"/>
          <p:nvPr/>
        </p:nvSpPr>
        <p:spPr>
          <a:xfrm>
            <a:off x="3520440" y="19202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Throughput model</a:t>
            </a:r>
            <a:endParaRPr/>
          </a:p>
        </p:txBody>
      </p:sp>
      <p:sp>
        <p:nvSpPr>
          <p:cNvPr id="438" name="Google Shape;438;p23"/>
          <p:cNvSpPr txBox="1"/>
          <p:nvPr/>
        </p:nvSpPr>
        <p:spPr>
          <a:xfrm>
            <a:off x="3520440" y="2212848"/>
            <a:ext cx="2313432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Steady state: 6 QPS. Burst: 18 QPS.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Reranker GPU saturates first.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Cache hit rate is the primary throughput lever.</a:t>
            </a:r>
            <a:endParaRPr/>
          </a:p>
        </p:txBody>
      </p:sp>
      <p:sp>
        <p:nvSpPr>
          <p:cNvPr id="439" name="Google Shape;439;p23"/>
          <p:cNvSpPr/>
          <p:nvPr/>
        </p:nvSpPr>
        <p:spPr>
          <a:xfrm>
            <a:off x="6208776" y="1828800"/>
            <a:ext cx="26060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6208776" y="1883664"/>
            <a:ext cx="41148" cy="158191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3"/>
          <p:cNvSpPr txBox="1"/>
          <p:nvPr/>
        </p:nvSpPr>
        <p:spPr>
          <a:xfrm>
            <a:off x="6373368" y="19202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Cost per query</a:t>
            </a:r>
            <a:endParaRPr/>
          </a:p>
        </p:txBody>
      </p:sp>
      <p:sp>
        <p:nvSpPr>
          <p:cNvPr id="442" name="Google Shape;442;p23"/>
          <p:cNvSpPr txBox="1"/>
          <p:nvPr/>
        </p:nvSpPr>
        <p:spPr>
          <a:xfrm>
            <a:off x="6373368" y="2212848"/>
            <a:ext cx="2313432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Self-hosted Mixtral: ~$0.001/query.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Azure OpenAI GPT-4 Gov: ~$0.21/query.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Self-hosted is ~210× cheaper at volume.</a:t>
            </a:r>
            <a:endParaRPr/>
          </a:p>
        </p:txBody>
      </p:sp>
      <p:sp>
        <p:nvSpPr>
          <p:cNvPr id="443" name="Google Shape;443;p23"/>
          <p:cNvSpPr/>
          <p:nvPr/>
        </p:nvSpPr>
        <p:spPr>
          <a:xfrm>
            <a:off x="9061704" y="1828800"/>
            <a:ext cx="26060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3"/>
          <p:cNvSpPr/>
          <p:nvPr/>
        </p:nvSpPr>
        <p:spPr>
          <a:xfrm>
            <a:off x="9061704" y="1883664"/>
            <a:ext cx="41148" cy="158191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23"/>
          <p:cNvSpPr txBox="1"/>
          <p:nvPr/>
        </p:nvSpPr>
        <p:spPr>
          <a:xfrm>
            <a:off x="9226296" y="1920240"/>
            <a:ext cx="23317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Scaling triggers</a:t>
            </a:r>
            <a:endParaRPr/>
          </a:p>
        </p:txBody>
      </p:sp>
      <p:sp>
        <p:nvSpPr>
          <p:cNvPr id="446" name="Google Shape;446;p23"/>
          <p:cNvSpPr txBox="1"/>
          <p:nvPr/>
        </p:nvSpPr>
        <p:spPr>
          <a:xfrm>
            <a:off x="9226296" y="2212848"/>
            <a:ext cx="2313432" cy="12161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kNN p95 &gt; 120 ms → add OpenSearch node.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Reranker queue &gt; 5 → add A10G.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LLM TTFT p95 &gt; 1200 ms → add replica.</a:t>
            </a:r>
            <a:endParaRPr/>
          </a:p>
        </p:txBody>
      </p:sp>
      <p:sp>
        <p:nvSpPr>
          <p:cNvPr id="447" name="Google Shape;447;p23"/>
          <p:cNvSpPr/>
          <p:nvPr/>
        </p:nvSpPr>
        <p:spPr>
          <a:xfrm>
            <a:off x="502920" y="3749039"/>
            <a:ext cx="548640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3"/>
          <p:cNvSpPr/>
          <p:nvPr/>
        </p:nvSpPr>
        <p:spPr>
          <a:xfrm>
            <a:off x="502920" y="3803903"/>
            <a:ext cx="41148" cy="139903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23"/>
          <p:cNvSpPr txBox="1"/>
          <p:nvPr/>
        </p:nvSpPr>
        <p:spPr>
          <a:xfrm>
            <a:off x="667512" y="3840479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Also covered in the supplementary document</a:t>
            </a:r>
            <a:endParaRPr/>
          </a:p>
        </p:txBody>
      </p:sp>
      <p:sp>
        <p:nvSpPr>
          <p:cNvPr id="450" name="Google Shape;450;p23"/>
          <p:cNvSpPr txBox="1"/>
          <p:nvPr/>
        </p:nvSpPr>
        <p:spPr>
          <a:xfrm>
            <a:off x="667512" y="4133087"/>
            <a:ext cx="5193792" cy="103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Request queue depths and timeout policies per pipeline stage.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Circuit breaker patterns for reranker, grader, and kNN.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Ingestion throughput: 2,500 chunks/min, full re-index ~5.5 days.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7 Prometheus/Grafana dashboard panels with alert thresholds.</a:t>
            </a:r>
            <a:endParaRPr/>
          </a:p>
        </p:txBody>
      </p:sp>
      <p:sp>
        <p:nvSpPr>
          <p:cNvPr id="451" name="Google Shape;451;p23"/>
          <p:cNvSpPr/>
          <p:nvPr/>
        </p:nvSpPr>
        <p:spPr>
          <a:xfrm>
            <a:off x="6172200" y="3749039"/>
            <a:ext cx="5486400" cy="15087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/>
          <p:nvPr/>
        </p:nvSpPr>
        <p:spPr>
          <a:xfrm>
            <a:off x="6172200" y="3803903"/>
            <a:ext cx="41148" cy="139903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3"/>
          <p:cNvSpPr txBox="1"/>
          <p:nvPr/>
        </p:nvSpPr>
        <p:spPr>
          <a:xfrm>
            <a:off x="6336792" y="3840479"/>
            <a:ext cx="52120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Why this helps the assessment</a:t>
            </a:r>
            <a:endParaRPr/>
          </a:p>
        </p:txBody>
      </p:sp>
      <p:sp>
        <p:nvSpPr>
          <p:cNvPr id="454" name="Google Shape;454;p23"/>
          <p:cNvSpPr txBox="1"/>
          <p:nvPr/>
        </p:nvSpPr>
        <p:spPr>
          <a:xfrm>
            <a:off x="6336792" y="4133087"/>
            <a:ext cx="5193792" cy="10332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It turns the design from an architectural answer into an engineering handoff.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Shows that latency, cost, failure modes, and scaling were considered together.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The supplementary document is 530 lines of production-readiness material.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Clearly labelled as voluntary — does not clutter the main answer.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4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4"/>
          <p:cNvSpPr/>
          <p:nvPr/>
        </p:nvSpPr>
        <p:spPr>
          <a:xfrm>
            <a:off x="502920" y="164592"/>
            <a:ext cx="137160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4"/>
          <p:cNvSpPr txBox="1"/>
          <p:nvPr/>
        </p:nvSpPr>
        <p:spPr>
          <a:xfrm>
            <a:off x="576072" y="210312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Deliverables</a:t>
            </a:r>
            <a:endParaRPr/>
          </a:p>
        </p:txBody>
      </p:sp>
      <p:sp>
        <p:nvSpPr>
          <p:cNvPr id="463" name="Google Shape;463;p24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What I Delivered</a:t>
            </a:r>
            <a:endParaRPr/>
          </a:p>
        </p:txBody>
      </p:sp>
      <p:sp>
        <p:nvSpPr>
          <p:cNvPr id="464" name="Google Shape;464;p24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Organized by zone so the reviewer can navigate at summary level or drill into evidence</a:t>
            </a:r>
            <a:endParaRPr/>
          </a:p>
        </p:txBody>
      </p:sp>
      <p:sp>
        <p:nvSpPr>
          <p:cNvPr id="465" name="Google Shape;465;p24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11 of 12</a:t>
            </a:r>
            <a:endParaRPr/>
          </a:p>
        </p:txBody>
      </p:sp>
      <p:sp>
        <p:nvSpPr>
          <p:cNvPr id="466" name="Google Shape;466;p24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</a:t>
            </a:r>
            <a:endParaRPr/>
          </a:p>
        </p:txBody>
      </p:sp>
      <p:sp>
        <p:nvSpPr>
          <p:cNvPr id="467" name="Google Shape;467;p24"/>
          <p:cNvSpPr/>
          <p:nvPr/>
        </p:nvSpPr>
        <p:spPr>
          <a:xfrm>
            <a:off x="502920" y="1325880"/>
            <a:ext cx="3520440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24"/>
          <p:cNvSpPr/>
          <p:nvPr/>
        </p:nvSpPr>
        <p:spPr>
          <a:xfrm>
            <a:off x="502920" y="1380744"/>
            <a:ext cx="41148" cy="1463040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4"/>
          <p:cNvSpPr txBox="1"/>
          <p:nvPr/>
        </p:nvSpPr>
        <p:spPr>
          <a:xfrm>
            <a:off x="667512" y="14173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Main answer</a:t>
            </a:r>
            <a:endParaRPr/>
          </a:p>
        </p:txBody>
      </p:sp>
      <p:sp>
        <p:nvSpPr>
          <p:cNvPr id="470" name="Google Shape;470;p24"/>
          <p:cNvSpPr txBox="1"/>
          <p:nvPr/>
        </p:nvSpPr>
        <p:spPr>
          <a:xfrm>
            <a:off x="667512" y="1709928"/>
            <a:ext cx="32278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Final submission v2 (7,206 words) plus 4 extended module drafts.</a:t>
            </a:r>
            <a:endParaRPr/>
          </a:p>
        </p:txBody>
      </p:sp>
      <p:sp>
        <p:nvSpPr>
          <p:cNvPr id="471" name="Google Shape;471;p24"/>
          <p:cNvSpPr/>
          <p:nvPr/>
        </p:nvSpPr>
        <p:spPr>
          <a:xfrm>
            <a:off x="4297680" y="1325880"/>
            <a:ext cx="3520440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4"/>
          <p:cNvSpPr/>
          <p:nvPr/>
        </p:nvSpPr>
        <p:spPr>
          <a:xfrm>
            <a:off x="4297680" y="1380744"/>
            <a:ext cx="41148" cy="1463040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4"/>
          <p:cNvSpPr txBox="1"/>
          <p:nvPr/>
        </p:nvSpPr>
        <p:spPr>
          <a:xfrm>
            <a:off x="4462272" y="14173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Technical evidence</a:t>
            </a:r>
            <a:endParaRPr/>
          </a:p>
        </p:txBody>
      </p:sp>
      <p:sp>
        <p:nvSpPr>
          <p:cNvPr id="474" name="Google Shape;474;p24"/>
          <p:cNvSpPr txBox="1"/>
          <p:nvPr/>
        </p:nvSpPr>
        <p:spPr>
          <a:xfrm>
            <a:off x="4462272" y="1709928"/>
            <a:ext cx="32278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5 pseudocode files, 4 architecture diagrams, 4 prompt templates.</a:t>
            </a:r>
            <a:endParaRPr/>
          </a:p>
        </p:txBody>
      </p:sp>
      <p:sp>
        <p:nvSpPr>
          <p:cNvPr id="475" name="Google Shape;475;p24"/>
          <p:cNvSpPr/>
          <p:nvPr/>
        </p:nvSpPr>
        <p:spPr>
          <a:xfrm>
            <a:off x="8092440" y="1325880"/>
            <a:ext cx="3520440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4"/>
          <p:cNvSpPr/>
          <p:nvPr/>
        </p:nvSpPr>
        <p:spPr>
          <a:xfrm>
            <a:off x="8092440" y="1380744"/>
            <a:ext cx="41148" cy="1463040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24"/>
          <p:cNvSpPr txBox="1"/>
          <p:nvPr/>
        </p:nvSpPr>
        <p:spPr>
          <a:xfrm>
            <a:off x="8257032" y="14173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Schemas and config</a:t>
            </a:r>
            <a:endParaRPr/>
          </a:p>
        </p:txBody>
      </p:sp>
      <p:sp>
        <p:nvSpPr>
          <p:cNvPr id="478" name="Google Shape;478;p24"/>
          <p:cNvSpPr txBox="1"/>
          <p:nvPr/>
        </p:nvSpPr>
        <p:spPr>
          <a:xfrm>
            <a:off x="8257032" y="1709928"/>
            <a:ext cx="32278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22-field metadata schema, OpenSearch mapping, RBAC model with DLS.</a:t>
            </a:r>
            <a:endParaRPr/>
          </a:p>
        </p:txBody>
      </p:sp>
      <p:sp>
        <p:nvSpPr>
          <p:cNvPr id="479" name="Google Shape;479;p24"/>
          <p:cNvSpPr/>
          <p:nvPr/>
        </p:nvSpPr>
        <p:spPr>
          <a:xfrm>
            <a:off x="502920" y="3154680"/>
            <a:ext cx="3520440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24"/>
          <p:cNvSpPr/>
          <p:nvPr/>
        </p:nvSpPr>
        <p:spPr>
          <a:xfrm>
            <a:off x="502920" y="3209544"/>
            <a:ext cx="41148" cy="1463040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24"/>
          <p:cNvSpPr txBox="1"/>
          <p:nvPr/>
        </p:nvSpPr>
        <p:spPr>
          <a:xfrm>
            <a:off x="667512" y="32461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Evaluation and ops</a:t>
            </a:r>
            <a:endParaRPr/>
          </a:p>
        </p:txBody>
      </p:sp>
      <p:sp>
        <p:nvSpPr>
          <p:cNvPr id="482" name="Google Shape;482;p24"/>
          <p:cNvSpPr txBox="1"/>
          <p:nvPr/>
        </p:nvSpPr>
        <p:spPr>
          <a:xfrm>
            <a:off x="667512" y="3538728"/>
            <a:ext cx="32278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Metrics matrix, golden test set, CI gate stub, requirements.txt.</a:t>
            </a:r>
            <a:endParaRPr/>
          </a:p>
        </p:txBody>
      </p:sp>
      <p:sp>
        <p:nvSpPr>
          <p:cNvPr id="483" name="Google Shape;483;p24"/>
          <p:cNvSpPr/>
          <p:nvPr/>
        </p:nvSpPr>
        <p:spPr>
          <a:xfrm>
            <a:off x="4297680" y="3154680"/>
            <a:ext cx="3520440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24"/>
          <p:cNvSpPr/>
          <p:nvPr/>
        </p:nvSpPr>
        <p:spPr>
          <a:xfrm>
            <a:off x="4297680" y="3209544"/>
            <a:ext cx="41148" cy="1463040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24"/>
          <p:cNvSpPr txBox="1"/>
          <p:nvPr/>
        </p:nvSpPr>
        <p:spPr>
          <a:xfrm>
            <a:off x="4462272" y="32461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Performance add-on</a:t>
            </a:r>
            <a:endParaRPr/>
          </a:p>
        </p:txBody>
      </p:sp>
      <p:sp>
        <p:nvSpPr>
          <p:cNvPr id="486" name="Google Shape;486;p24"/>
          <p:cNvSpPr txBox="1"/>
          <p:nvPr/>
        </p:nvSpPr>
        <p:spPr>
          <a:xfrm>
            <a:off x="4462272" y="3538728"/>
            <a:ext cx="32278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530-line resource allocation document with capacity and cost analysis.</a:t>
            </a:r>
            <a:endParaRPr/>
          </a:p>
        </p:txBody>
      </p:sp>
      <p:sp>
        <p:nvSpPr>
          <p:cNvPr id="487" name="Google Shape;487;p24"/>
          <p:cNvSpPr/>
          <p:nvPr/>
        </p:nvSpPr>
        <p:spPr>
          <a:xfrm>
            <a:off x="8092440" y="3154680"/>
            <a:ext cx="3520440" cy="15727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24"/>
          <p:cNvSpPr/>
          <p:nvPr/>
        </p:nvSpPr>
        <p:spPr>
          <a:xfrm>
            <a:off x="8092440" y="3209544"/>
            <a:ext cx="41148" cy="1463040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24"/>
          <p:cNvSpPr txBox="1"/>
          <p:nvPr/>
        </p:nvSpPr>
        <p:spPr>
          <a:xfrm>
            <a:off x="8257032" y="3246120"/>
            <a:ext cx="324612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Repository structure</a:t>
            </a:r>
            <a:endParaRPr/>
          </a:p>
        </p:txBody>
      </p:sp>
      <p:sp>
        <p:nvSpPr>
          <p:cNvPr id="490" name="Google Shape;490;p24"/>
          <p:cNvSpPr txBox="1"/>
          <p:nvPr/>
        </p:nvSpPr>
        <p:spPr>
          <a:xfrm>
            <a:off x="8257032" y="3538728"/>
            <a:ext cx="3227832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4 zones: answer, evidence, eval/ops, reference. README as navigator.</a:t>
            </a:r>
            <a:endParaRPr/>
          </a:p>
        </p:txBody>
      </p:sp>
      <p:sp>
        <p:nvSpPr>
          <p:cNvPr id="491" name="Google Shape;491;p24"/>
          <p:cNvSpPr/>
          <p:nvPr/>
        </p:nvSpPr>
        <p:spPr>
          <a:xfrm>
            <a:off x="1371600" y="5257800"/>
            <a:ext cx="1188720" cy="274320"/>
          </a:xfrm>
          <a:prstGeom prst="roundRect">
            <a:avLst>
              <a:gd fmla="val 16667" name="adj"/>
            </a:avLst>
          </a:prstGeom>
          <a:solidFill>
            <a:srgbClr val="E7EDF4"/>
          </a:solidFill>
          <a:ln cap="flat" cmpd="sng" w="12700">
            <a:solidFill>
              <a:srgbClr val="E7ED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24"/>
          <p:cNvSpPr txBox="1"/>
          <p:nvPr/>
        </p:nvSpPr>
        <p:spPr>
          <a:xfrm>
            <a:off x="1444752" y="5303520"/>
            <a:ext cx="10424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0253E"/>
                </a:solidFill>
                <a:latin typeface="Arial"/>
                <a:ea typeface="Arial"/>
                <a:cs typeface="Arial"/>
                <a:sym typeface="Arial"/>
              </a:rPr>
              <a:t>Answer</a:t>
            </a:r>
            <a:endParaRPr/>
          </a:p>
        </p:txBody>
      </p:sp>
      <p:sp>
        <p:nvSpPr>
          <p:cNvPr id="493" name="Google Shape;493;p24"/>
          <p:cNvSpPr/>
          <p:nvPr/>
        </p:nvSpPr>
        <p:spPr>
          <a:xfrm>
            <a:off x="2697480" y="5257800"/>
            <a:ext cx="1325880" cy="274320"/>
          </a:xfrm>
          <a:prstGeom prst="roundRect">
            <a:avLst>
              <a:gd fmla="val 16667" name="adj"/>
            </a:avLst>
          </a:prstGeom>
          <a:solidFill>
            <a:srgbClr val="E2F3F3"/>
          </a:solidFill>
          <a:ln cap="flat" cmpd="sng" w="12700">
            <a:solidFill>
              <a:srgbClr val="E2F3F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24"/>
          <p:cNvSpPr txBox="1"/>
          <p:nvPr/>
        </p:nvSpPr>
        <p:spPr>
          <a:xfrm>
            <a:off x="2770632" y="5303520"/>
            <a:ext cx="117957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0E8784"/>
                </a:solidFill>
                <a:latin typeface="Arial"/>
                <a:ea typeface="Arial"/>
                <a:cs typeface="Arial"/>
                <a:sym typeface="Arial"/>
              </a:rPr>
              <a:t>Evidence</a:t>
            </a:r>
            <a:endParaRPr/>
          </a:p>
        </p:txBody>
      </p:sp>
      <p:sp>
        <p:nvSpPr>
          <p:cNvPr id="495" name="Google Shape;495;p24"/>
          <p:cNvSpPr/>
          <p:nvPr/>
        </p:nvSpPr>
        <p:spPr>
          <a:xfrm>
            <a:off x="4160520" y="5257800"/>
            <a:ext cx="1371600" cy="274320"/>
          </a:xfrm>
          <a:prstGeom prst="roundRect">
            <a:avLst>
              <a:gd fmla="val 16667" name="adj"/>
            </a:avLst>
          </a:prstGeom>
          <a:solidFill>
            <a:srgbClr val="FAF2E3"/>
          </a:solidFill>
          <a:ln cap="flat" cmpd="sng" w="12700">
            <a:solidFill>
              <a:srgbClr val="FAF2E3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24"/>
          <p:cNvSpPr txBox="1"/>
          <p:nvPr/>
        </p:nvSpPr>
        <p:spPr>
          <a:xfrm>
            <a:off x="4233672" y="5303520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C4902F"/>
                </a:solidFill>
                <a:latin typeface="Arial"/>
                <a:ea typeface="Arial"/>
                <a:cs typeface="Arial"/>
                <a:sym typeface="Arial"/>
              </a:rPr>
              <a:t>Eval &amp; Ops</a:t>
            </a:r>
            <a:endParaRPr/>
          </a:p>
        </p:txBody>
      </p:sp>
      <p:sp>
        <p:nvSpPr>
          <p:cNvPr id="497" name="Google Shape;497;p24"/>
          <p:cNvSpPr/>
          <p:nvPr/>
        </p:nvSpPr>
        <p:spPr>
          <a:xfrm>
            <a:off x="5669280" y="5257800"/>
            <a:ext cx="1371600" cy="274320"/>
          </a:xfrm>
          <a:prstGeom prst="roundRect">
            <a:avLst>
              <a:gd fmla="val 16667" name="adj"/>
            </a:avLst>
          </a:prstGeom>
          <a:solidFill>
            <a:srgbClr val="E7EDF4"/>
          </a:solidFill>
          <a:ln cap="flat" cmpd="sng" w="12700">
            <a:solidFill>
              <a:srgbClr val="E7EDF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24"/>
          <p:cNvSpPr txBox="1"/>
          <p:nvPr/>
        </p:nvSpPr>
        <p:spPr>
          <a:xfrm>
            <a:off x="5742432" y="5303520"/>
            <a:ext cx="122529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10253E"/>
                </a:solidFill>
                <a:latin typeface="Arial"/>
                <a:ea typeface="Arial"/>
                <a:cs typeface="Arial"/>
                <a:sym typeface="Arial"/>
              </a:rPr>
              <a:t>Reference</a:t>
            </a:r>
            <a:endParaRPr/>
          </a:p>
        </p:txBody>
      </p:sp>
      <p:sp>
        <p:nvSpPr>
          <p:cNvPr id="499" name="Google Shape;499;p24"/>
          <p:cNvSpPr/>
          <p:nvPr/>
        </p:nvSpPr>
        <p:spPr>
          <a:xfrm>
            <a:off x="7178040" y="5257800"/>
            <a:ext cx="1188720" cy="274320"/>
          </a:xfrm>
          <a:prstGeom prst="roundRect">
            <a:avLst>
              <a:gd fmla="val 16667" name="adj"/>
            </a:avLst>
          </a:prstGeom>
          <a:solidFill>
            <a:srgbClr val="FBECEC"/>
          </a:solidFill>
          <a:ln cap="flat" cmpd="sng" w="12700">
            <a:solidFill>
              <a:srgbClr val="FBECE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24"/>
          <p:cNvSpPr txBox="1"/>
          <p:nvPr/>
        </p:nvSpPr>
        <p:spPr>
          <a:xfrm>
            <a:off x="7251192" y="5303520"/>
            <a:ext cx="104241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>
                <a:solidFill>
                  <a:srgbClr val="BE4242"/>
                </a:solidFill>
                <a:latin typeface="Arial"/>
                <a:ea typeface="Arial"/>
                <a:cs typeface="Arial"/>
                <a:sym typeface="Arial"/>
              </a:rPr>
              <a:t>Internal</a:t>
            </a:r>
            <a:endParaRPr/>
          </a:p>
        </p:txBody>
      </p:sp>
      <p:sp>
        <p:nvSpPr>
          <p:cNvPr id="501" name="Google Shape;501;p24"/>
          <p:cNvSpPr txBox="1"/>
          <p:nvPr/>
        </p:nvSpPr>
        <p:spPr>
          <a:xfrm>
            <a:off x="685800" y="5669280"/>
            <a:ext cx="10789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The reviewer opens README.md, clicks one link to the final submission, and finds everything else one click deeper.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6FA"/>
        </a:solidFill>
      </p:bgPr>
    </p:bg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25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25"/>
          <p:cNvSpPr/>
          <p:nvPr/>
        </p:nvSpPr>
        <p:spPr>
          <a:xfrm>
            <a:off x="502920" y="164592"/>
            <a:ext cx="1005840" cy="274320"/>
          </a:xfrm>
          <a:prstGeom prst="roundRect">
            <a:avLst>
              <a:gd fmla="val 16667" name="adj"/>
            </a:avLst>
          </a:prstGeom>
          <a:solidFill>
            <a:srgbClr val="1E3A56"/>
          </a:solidFill>
          <a:ln cap="flat" cmpd="sng" w="12700">
            <a:solidFill>
              <a:srgbClr val="1E3A5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25"/>
          <p:cNvSpPr txBox="1"/>
          <p:nvPr/>
        </p:nvSpPr>
        <p:spPr>
          <a:xfrm>
            <a:off x="576072" y="210312"/>
            <a:ext cx="859536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>
                <a:solidFill>
                  <a:srgbClr val="2EB5BF"/>
                </a:solidFill>
                <a:latin typeface="Arial"/>
                <a:ea typeface="Arial"/>
                <a:cs typeface="Arial"/>
                <a:sym typeface="Arial"/>
              </a:rPr>
              <a:t>Close</a:t>
            </a:r>
            <a:endParaRPr/>
          </a:p>
        </p:txBody>
      </p:sp>
      <p:sp>
        <p:nvSpPr>
          <p:cNvPr id="510" name="Google Shape;510;p25"/>
          <p:cNvSpPr txBox="1"/>
          <p:nvPr/>
        </p:nvSpPr>
        <p:spPr>
          <a:xfrm>
            <a:off x="502920" y="457200"/>
            <a:ext cx="9144000" cy="310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Closing Summary</a:t>
            </a:r>
            <a:endParaRPr/>
          </a:p>
        </p:txBody>
      </p:sp>
      <p:sp>
        <p:nvSpPr>
          <p:cNvPr id="511" name="Google Shape;511;p25"/>
          <p:cNvSpPr txBox="1"/>
          <p:nvPr/>
        </p:nvSpPr>
        <p:spPr>
          <a:xfrm>
            <a:off x="502920" y="786384"/>
            <a:ext cx="10058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>
                <a:solidFill>
                  <a:srgbClr val="94A8BE"/>
                </a:solidFill>
                <a:latin typeface="Arial"/>
                <a:ea typeface="Arial"/>
                <a:cs typeface="Arial"/>
                <a:sym typeface="Arial"/>
              </a:rPr>
              <a:t>Why this approach produced a strong, defensible assessment answer</a:t>
            </a:r>
            <a:endParaRPr/>
          </a:p>
        </p:txBody>
      </p:sp>
      <p:sp>
        <p:nvSpPr>
          <p:cNvPr id="512" name="Google Shape;512;p25"/>
          <p:cNvSpPr txBox="1"/>
          <p:nvPr/>
        </p:nvSpPr>
        <p:spPr>
          <a:xfrm>
            <a:off x="10515600" y="6537960"/>
            <a:ext cx="13716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Slide 12 of 12</a:t>
            </a:r>
            <a:endParaRPr/>
          </a:p>
        </p:txBody>
      </p:sp>
      <p:sp>
        <p:nvSpPr>
          <p:cNvPr id="513" name="Google Shape;513;p25"/>
          <p:cNvSpPr txBox="1"/>
          <p:nvPr/>
        </p:nvSpPr>
        <p:spPr>
          <a:xfrm>
            <a:off x="502920" y="6537960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>
                <a:solidFill>
                  <a:srgbClr val="6B7A89"/>
                </a:solidFill>
                <a:latin typeface="Arial"/>
                <a:ea typeface="Arial"/>
                <a:cs typeface="Arial"/>
                <a:sym typeface="Arial"/>
              </a:rPr>
              <a:t>Enterprise RAG Architecture — Emre</a:t>
            </a:r>
            <a:endParaRPr/>
          </a:p>
        </p:txBody>
      </p:sp>
      <p:sp>
        <p:nvSpPr>
          <p:cNvPr id="514" name="Google Shape;514;p25"/>
          <p:cNvSpPr/>
          <p:nvPr/>
        </p:nvSpPr>
        <p:spPr>
          <a:xfrm>
            <a:off x="640080" y="1417320"/>
            <a:ext cx="5166360" cy="1463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25"/>
          <p:cNvSpPr/>
          <p:nvPr/>
        </p:nvSpPr>
        <p:spPr>
          <a:xfrm>
            <a:off x="640080" y="1472184"/>
            <a:ext cx="41148" cy="1353312"/>
          </a:xfrm>
          <a:prstGeom prst="rect">
            <a:avLst/>
          </a:prstGeom>
          <a:solidFill>
            <a:srgbClr val="2EB5BF"/>
          </a:solidFill>
          <a:ln cap="flat" cmpd="sng" w="12700">
            <a:solidFill>
              <a:srgbClr val="2EB5B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25"/>
          <p:cNvSpPr txBox="1"/>
          <p:nvPr/>
        </p:nvSpPr>
        <p:spPr>
          <a:xfrm>
            <a:off x="804672" y="1508760"/>
            <a:ext cx="4892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2EB5BF"/>
                </a:solidFill>
                <a:latin typeface="Play"/>
                <a:ea typeface="Play"/>
                <a:cs typeface="Play"/>
                <a:sym typeface="Play"/>
              </a:rPr>
              <a:t>Structured AI use</a:t>
            </a:r>
            <a:endParaRPr/>
          </a:p>
        </p:txBody>
      </p:sp>
      <p:sp>
        <p:nvSpPr>
          <p:cNvPr id="517" name="Google Shape;517;p25"/>
          <p:cNvSpPr txBox="1"/>
          <p:nvPr/>
        </p:nvSpPr>
        <p:spPr>
          <a:xfrm>
            <a:off x="804672" y="1801368"/>
            <a:ext cx="487375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Five-stage pipeline with different AI tools for decoding, planning, building, reviewing, and hardening.</a:t>
            </a:r>
            <a:endParaRPr/>
          </a:p>
        </p:txBody>
      </p:sp>
      <p:sp>
        <p:nvSpPr>
          <p:cNvPr id="518" name="Google Shape;518;p25"/>
          <p:cNvSpPr/>
          <p:nvPr/>
        </p:nvSpPr>
        <p:spPr>
          <a:xfrm>
            <a:off x="6217920" y="1417320"/>
            <a:ext cx="5166360" cy="1463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25"/>
          <p:cNvSpPr/>
          <p:nvPr/>
        </p:nvSpPr>
        <p:spPr>
          <a:xfrm>
            <a:off x="6217920" y="1472184"/>
            <a:ext cx="41148" cy="1353312"/>
          </a:xfrm>
          <a:prstGeom prst="rect">
            <a:avLst/>
          </a:prstGeom>
          <a:solidFill>
            <a:srgbClr val="0E8784"/>
          </a:solidFill>
          <a:ln cap="flat" cmpd="sng" w="12700">
            <a:solidFill>
              <a:srgbClr val="0E878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25"/>
          <p:cNvSpPr txBox="1"/>
          <p:nvPr/>
        </p:nvSpPr>
        <p:spPr>
          <a:xfrm>
            <a:off x="6382512" y="1508760"/>
            <a:ext cx="4892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0E8784"/>
                </a:solidFill>
                <a:latin typeface="Play"/>
                <a:ea typeface="Play"/>
                <a:cs typeface="Play"/>
                <a:sym typeface="Play"/>
              </a:rPr>
              <a:t>Specific and consistent</a:t>
            </a:r>
            <a:endParaRPr/>
          </a:p>
        </p:txBody>
      </p:sp>
      <p:sp>
        <p:nvSpPr>
          <p:cNvPr id="521" name="Google Shape;521;p25"/>
          <p:cNvSpPr txBox="1"/>
          <p:nvPr/>
        </p:nvSpPr>
        <p:spPr>
          <a:xfrm>
            <a:off x="6382512" y="1801368"/>
            <a:ext cx="487375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Every parameter justified. All numbers reconciled across 24+ files after independent agent review.</a:t>
            </a:r>
            <a:endParaRPr/>
          </a:p>
        </p:txBody>
      </p:sp>
      <p:sp>
        <p:nvSpPr>
          <p:cNvPr id="522" name="Google Shape;522;p25"/>
          <p:cNvSpPr/>
          <p:nvPr/>
        </p:nvSpPr>
        <p:spPr>
          <a:xfrm>
            <a:off x="640080" y="3154680"/>
            <a:ext cx="5166360" cy="1463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25"/>
          <p:cNvSpPr/>
          <p:nvPr/>
        </p:nvSpPr>
        <p:spPr>
          <a:xfrm>
            <a:off x="640080" y="3209544"/>
            <a:ext cx="41148" cy="1353312"/>
          </a:xfrm>
          <a:prstGeom prst="rect">
            <a:avLst/>
          </a:prstGeom>
          <a:solidFill>
            <a:srgbClr val="C4902F"/>
          </a:solidFill>
          <a:ln cap="flat" cmpd="sng" w="12700">
            <a:solidFill>
              <a:srgbClr val="C4902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25"/>
          <p:cNvSpPr txBox="1"/>
          <p:nvPr/>
        </p:nvSpPr>
        <p:spPr>
          <a:xfrm>
            <a:off x="804672" y="3246120"/>
            <a:ext cx="4892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C4902F"/>
                </a:solidFill>
                <a:latin typeface="Play"/>
                <a:ea typeface="Play"/>
                <a:cs typeface="Play"/>
                <a:sym typeface="Play"/>
              </a:rPr>
              <a:t>Security as a first principle</a:t>
            </a:r>
            <a:endParaRPr/>
          </a:p>
        </p:txBody>
      </p:sp>
      <p:sp>
        <p:nvSpPr>
          <p:cNvPr id="525" name="Google Shape;525;p25"/>
          <p:cNvSpPr txBox="1"/>
          <p:nvPr/>
        </p:nvSpPr>
        <p:spPr>
          <a:xfrm>
            <a:off x="804672" y="3538728"/>
            <a:ext cx="487375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Pre-retrieval DLS, tier-partitioned cache, mathematical leakage proof — not bolted on.</a:t>
            </a:r>
            <a:endParaRPr/>
          </a:p>
        </p:txBody>
      </p:sp>
      <p:sp>
        <p:nvSpPr>
          <p:cNvPr id="526" name="Google Shape;526;p25"/>
          <p:cNvSpPr/>
          <p:nvPr/>
        </p:nvSpPr>
        <p:spPr>
          <a:xfrm>
            <a:off x="6217920" y="3154680"/>
            <a:ext cx="5166360" cy="14630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D8E1E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25"/>
          <p:cNvSpPr/>
          <p:nvPr/>
        </p:nvSpPr>
        <p:spPr>
          <a:xfrm>
            <a:off x="6217920" y="3209544"/>
            <a:ext cx="41148" cy="1353312"/>
          </a:xfrm>
          <a:prstGeom prst="rect">
            <a:avLst/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25"/>
          <p:cNvSpPr txBox="1"/>
          <p:nvPr/>
        </p:nvSpPr>
        <p:spPr>
          <a:xfrm>
            <a:off x="6382512" y="3246120"/>
            <a:ext cx="4892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>
                <a:solidFill>
                  <a:srgbClr val="10253E"/>
                </a:solidFill>
                <a:latin typeface="Play"/>
                <a:ea typeface="Play"/>
                <a:cs typeface="Play"/>
                <a:sym typeface="Play"/>
              </a:rPr>
              <a:t>Production-grade thinking</a:t>
            </a:r>
            <a:endParaRPr/>
          </a:p>
        </p:txBody>
      </p:sp>
      <p:sp>
        <p:nvSpPr>
          <p:cNvPr id="529" name="Google Shape;529;p25"/>
          <p:cNvSpPr txBox="1"/>
          <p:nvPr/>
        </p:nvSpPr>
        <p:spPr>
          <a:xfrm>
            <a:off x="6382512" y="3538728"/>
            <a:ext cx="4873752" cy="98755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5400" spcFirstLastPara="1" rIns="254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1A2635"/>
                </a:solidFill>
                <a:latin typeface="Arial"/>
                <a:ea typeface="Arial"/>
                <a:cs typeface="Arial"/>
                <a:sym typeface="Arial"/>
              </a:rPr>
              <a:t>Latency budgets, scaling triggers, cost per query, CI gates, and monitoring dashboards.</a:t>
            </a:r>
            <a:endParaRPr/>
          </a:p>
        </p:txBody>
      </p:sp>
      <p:sp>
        <p:nvSpPr>
          <p:cNvPr id="530" name="Google Shape;530;p25"/>
          <p:cNvSpPr/>
          <p:nvPr/>
        </p:nvSpPr>
        <p:spPr>
          <a:xfrm>
            <a:off x="640080" y="5166360"/>
            <a:ext cx="10789920" cy="777240"/>
          </a:xfrm>
          <a:prstGeom prst="roundRect">
            <a:avLst>
              <a:gd fmla="val 16667" name="adj"/>
            </a:avLst>
          </a:prstGeom>
          <a:solidFill>
            <a:srgbClr val="10253E"/>
          </a:solidFill>
          <a:ln cap="flat" cmpd="sng" w="12700">
            <a:solidFill>
              <a:srgbClr val="10253E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25"/>
          <p:cNvSpPr txBox="1"/>
          <p:nvPr/>
        </p:nvSpPr>
        <p:spPr>
          <a:xfrm>
            <a:off x="822960" y="5303520"/>
            <a:ext cx="10424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The design is conservative where the risk is highest, specific where the brief asked for exact settings,</a:t>
            </a:r>
            <a:br>
              <a:rPr b="1" i="0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built through a multi-agent process that caught its own mistakes before the reviewer could.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