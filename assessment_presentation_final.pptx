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BA87CDD-BB30-8F0D-3E8E-1AEE57AD27F0}" v="825" dt="2026-04-13T15:14:23.9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A1A315-F175-4629-AD60-D48E9E8F2B62}" type="datetimeFigureOut"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D023DF-4C7D-4521-806C-580678AF49D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82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with: this is not just a technical assessment answer — it is a demonstration of</a:t>
            </a:r>
          </a:p>
          <a:p>
            <a:r>
              <a:t>how a senior engineer uses AI agents as a structured support system to produce</a:t>
            </a:r>
          </a:p>
          <a:p>
            <a:r>
              <a:t>work that is specific, consistent, and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four modules briefly. The point is not to go deep yet — that comes later.</a:t>
            </a:r>
          </a:p>
          <a:p>
            <a:r>
              <a:t>Emphasize the hidden criteria: the assessment is not just about knowing RAG.</a:t>
            </a:r>
          </a:p>
          <a:p>
            <a:r>
              <a:t>It tests whether you can make specific, justified, production-grade decisions.</a:t>
            </a:r>
          </a:p>
          <a:p>
            <a:r>
              <a:t>End by teasing the multi-agent workflow: decode → build → review → harden.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most important slide for the AI-process story.</a:t>
            </a:r>
          </a:p>
          <a:p>
            <a:r>
              <a:t>Walk through the five stages quickly, emphasizing that each tool was chosen for its strength.</a:t>
            </a:r>
          </a:p>
          <a:p>
            <a:r>
              <a:t>The bottom row explains the WHY: multiple perspectives prevent blind spots.</a:t>
            </a:r>
          </a:p>
          <a:p>
            <a:r>
              <a:t>End on the quality loop — the Hermes agent and ChatGPT scoring caught real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that this was the first strategic decision: using ChatGPT 5.4 to decode</a:t>
            </a:r>
          </a:p>
          <a:p>
            <a:r>
              <a:t>the brief before writing a single line. The output was not an answer — it was</a:t>
            </a:r>
          </a:p>
          <a:p>
            <a:r>
              <a:t>a research brief that made the build phase faster and more targeted.</a:t>
            </a:r>
          </a:p>
          <a:p>
            <a:r>
              <a:t>Highlight the specific insights: Module 3 weight, RBAC math trap, cache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point of this slide is that planning was a separate, deliberate step — not</a:t>
            </a:r>
          </a:p>
          <a:p>
            <a:r>
              <a:t>just diving into writing. Claude Code's plan mode enforced structure.</a:t>
            </a:r>
          </a:p>
          <a:p>
            <a:r>
              <a:t>Highlight the specific decisions that were locked, and the build order rationale.</a:t>
            </a:r>
          </a:p>
          <a:p>
            <a:r>
              <a:t>The bottom card shows the payoff: no orphan references, no TODO placeholders.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the volume of what was produced, but emphasize the process over the output.</a:t>
            </a:r>
          </a:p>
          <a:p>
            <a:r>
              <a:t>The stat cards show scale. The bottom card shows discipline: cross-file</a:t>
            </a:r>
          </a:p>
          <a:p>
            <a:r>
              <a:t>verification after every step. This is what makes AI-assisted work 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is critical for the AI story. Two independent agents reviewed</a:t>
            </a:r>
          </a:p>
          <a:p>
            <a:r>
              <a:t>the work from different angles. ChatGPT was quantitative and strict.</a:t>
            </a:r>
          </a:p>
          <a:p>
            <a:r>
              <a:t>Hermes was qualitative and pedagogical. The combination found more issues</a:t>
            </a:r>
          </a:p>
          <a:p>
            <a:r>
              <a:t>than either alone would have.</a:t>
            </a:r>
          </a:p>
          <a:p>
            <a:r>
              <a:t>Highlight that neither agent had access to the build history — pure output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the four categories of fixes quickly.</a:t>
            </a:r>
          </a:p>
          <a:p>
            <a:r>
              <a:t>The point is that every issue raised by the two review agents was addressed —</a:t>
            </a:r>
          </a:p>
          <a:p>
            <a:r>
              <a:t>not just acknowledged but fixed and verified.</a:t>
            </a:r>
          </a:p>
          <a:p>
            <a:r>
              <a:t>The result is a cleaner, shorter, more defensible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global architecture summary. Don't go deep — just show the choices exist</a:t>
            </a:r>
          </a:p>
          <a:p>
            <a:r>
              <a:t>and that they are specific. The audience can drill into the submission for detail.</a:t>
            </a:r>
          </a:p>
          <a:p>
            <a:r>
              <a:t>Name every model with its full identifier. Hit the security proof and TTFT budget</a:t>
            </a:r>
          </a:p>
          <a:p>
            <a:r>
              <a:t>in the bottom bar because those are the assessment's differentiators.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Present this as optional value-add. Keep it brief.</a:t>
            </a:r>
          </a:p>
          <a:p>
            <a:r>
              <a:t>The point is that the design can survive contact with real operational constraints.</a:t>
            </a:r>
          </a:p>
          <a:p>
            <a:r>
              <a:t>Mention the 530-line supplementary document but don't dive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Don't list file names. Describe deliverables by category and purpose.</a:t>
            </a:r>
          </a:p>
          <a:p>
            <a:r>
              <a:t>Show the zone chips to visualize the repo structure.</a:t>
            </a:r>
          </a:p>
          <a:p>
            <a:r>
              <a:t>The bottom sentence is the key: evaluator-friendly navigation.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with four words: structured, specific, secure, production-grade.</a:t>
            </a:r>
          </a:p>
          <a:p>
            <a:r>
              <a:t>The final banner sentence is the last thing before questions.</a:t>
            </a:r>
          </a:p>
          <a:p>
            <a:r>
              <a:t>If time permits, invite discussion on the AI workflow specifically —</a:t>
            </a:r>
          </a:p>
          <a:p>
            <a:r>
              <a:t>that is the most distinctive part of this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046720" y="0"/>
            <a:ext cx="4144975" cy="6858000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686800" y="822960"/>
            <a:ext cx="2011680" cy="2011680"/>
          </a:xfrm>
          <a:prstGeom prst="ellipse">
            <a:avLst/>
          </a:prstGeom>
          <a:solidFill>
            <a:srgbClr val="2EB5BF"/>
          </a:solidFill>
          <a:ln w="12700">
            <a:solidFill>
              <a:srgbClr val="2EB5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784080" y="2103120"/>
            <a:ext cx="1371600" cy="1371600"/>
          </a:xfrm>
          <a:prstGeom prst="ellipse">
            <a:avLst/>
          </a:prstGeom>
          <a:solidFill>
            <a:srgbClr val="C4902F"/>
          </a:solidFill>
          <a:ln w="12700">
            <a:solidFill>
              <a:srgbClr val="C49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412480" y="3931920"/>
            <a:ext cx="2286000" cy="2286000"/>
          </a:xfrm>
          <a:prstGeom prst="ellipse">
            <a:avLst/>
          </a:prstGeom>
          <a:solidFill>
            <a:srgbClr val="0E8784"/>
          </a:solidFill>
          <a:ln w="12700">
            <a:solidFill>
              <a:srgbClr val="0E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9646920" y="1828800"/>
            <a:ext cx="777240" cy="1005840"/>
          </a:xfrm>
          <a:prstGeom prst="line">
            <a:avLst/>
          </a:prstGeom>
          <a:ln w="20320">
            <a:solidFill>
              <a:srgbClr val="94CE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9326880" y="2834640"/>
            <a:ext cx="1097280" cy="1828800"/>
          </a:xfrm>
          <a:prstGeom prst="line">
            <a:avLst/>
          </a:prstGeom>
          <a:ln w="20320">
            <a:solidFill>
              <a:srgbClr val="94CE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" y="731520"/>
            <a:ext cx="2011680" cy="274320"/>
          </a:xfrm>
          <a:prstGeom prst="roundRect">
            <a:avLst/>
          </a:prstGeom>
          <a:solidFill>
            <a:srgbClr val="E2F3F3"/>
          </a:solidFill>
          <a:ln w="12700">
            <a:solidFill>
              <a:srgbClr val="E2F3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6072" y="777240"/>
            <a:ext cx="186537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E8784"/>
                </a:solidFill>
                <a:latin typeface="Aptos"/>
              </a:defRPr>
            </a:pPr>
            <a:r>
              <a:t>ASSESSMENT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6858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200" b="1" i="0">
                <a:solidFill>
                  <a:srgbClr val="10253E"/>
                </a:solidFill>
                <a:latin typeface="Aptos Display"/>
              </a:defRPr>
            </a:pPr>
            <a:r>
              <a:t>Enterprise RAG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48840"/>
            <a:ext cx="548640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0E8784"/>
                </a:solidFill>
                <a:latin typeface="Aptos Display"/>
              </a:defRPr>
            </a:pPr>
            <a:r>
              <a:t>Dutch National Tax Authority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51760"/>
            <a:ext cx="6400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 i="0">
                <a:solidFill>
                  <a:srgbClr val="6B7A89"/>
                </a:solidFill>
                <a:latin typeface="Aptos"/>
              </a:defRPr>
            </a:pPr>
            <a:r>
              <a:t>How I used AI agents to design, build, review, and harden</a:t>
            </a:r>
            <a:br/>
            <a:r>
              <a:t>a Lead AI Engineer assessment submission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164" y="2935745"/>
            <a:ext cx="475488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4" name="TextBox 13"/>
          <p:cNvSpPr txBox="1"/>
          <p:nvPr/>
        </p:nvSpPr>
        <p:spPr>
          <a:xfrm>
            <a:off x="658368" y="3267307"/>
            <a:ext cx="2286000" cy="219456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>
              <a:defRPr sz="1500" b="1" i="0">
                <a:solidFill>
                  <a:srgbClr val="10253E"/>
                </a:solidFill>
                <a:latin typeface="Aptos"/>
              </a:defRPr>
            </a:pPr>
            <a:r>
              <a:rPr dirty="0"/>
              <a:t>Prepared by Emre</a:t>
            </a:r>
            <a:r>
              <a:rPr lang="en-US" dirty="0"/>
              <a:t> </a:t>
            </a:r>
            <a:r>
              <a:rPr lang="en-US" dirty="0" err="1"/>
              <a:t>Semerci</a:t>
            </a:r>
            <a:endParaRPr dirty="0" err="1"/>
          </a:p>
        </p:txBody>
      </p:sp>
      <p:sp>
        <p:nvSpPr>
          <p:cNvPr id="15" name="TextBox 14"/>
          <p:cNvSpPr txBox="1"/>
          <p:nvPr/>
        </p:nvSpPr>
        <p:spPr>
          <a:xfrm>
            <a:off x="658368" y="3931920"/>
            <a:ext cx="3200400" cy="201168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>
              <a:defRPr sz="1100" b="0" i="0">
                <a:solidFill>
                  <a:srgbClr val="6B7A89"/>
                </a:solidFill>
                <a:latin typeface="Aptos"/>
              </a:defRPr>
            </a:pPr>
            <a:r>
              <a:rPr lang="en-US"/>
              <a:t>Lead</a:t>
            </a:r>
            <a:r>
              <a:rPr dirty="0"/>
              <a:t> AI Engineer — Technical Assessment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3657600" y="3794760"/>
            <a:ext cx="13716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0E8784"/>
                </a:solidFill>
                <a:latin typeface="Aptos"/>
              </a:defRPr>
            </a:pPr>
            <a:r>
              <a:t>April 2026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12080"/>
            <a:ext cx="1645920" cy="274320"/>
          </a:xfrm>
          <a:prstGeom prst="roundRect">
            <a:avLst/>
          </a:prstGeom>
          <a:solidFill>
            <a:srgbClr val="E7EDF4"/>
          </a:solidFill>
          <a:ln w="12700">
            <a:solidFill>
              <a:srgbClr val="E7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6072" y="5257800"/>
            <a:ext cx="149961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0253E"/>
                </a:solidFill>
                <a:latin typeface="Aptos"/>
              </a:defRPr>
            </a:pPr>
            <a:r>
              <a:t>AI-assisted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6000" y="5212080"/>
            <a:ext cx="1280160" cy="274320"/>
          </a:xfrm>
          <a:prstGeom prst="roundRect">
            <a:avLst/>
          </a:prstGeom>
          <a:solidFill>
            <a:srgbClr val="E2F3F3"/>
          </a:solidFill>
          <a:ln w="12700">
            <a:solidFill>
              <a:srgbClr val="E2F3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359152" y="5257800"/>
            <a:ext cx="113385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E8784"/>
                </a:solidFill>
                <a:latin typeface="Aptos"/>
              </a:defRPr>
            </a:pPr>
            <a:r>
              <a:t>5-stage process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3320" y="5212080"/>
            <a:ext cx="1554480" cy="274320"/>
          </a:xfrm>
          <a:prstGeom prst="roundRect">
            <a:avLst/>
          </a:prstGeom>
          <a:solidFill>
            <a:srgbClr val="FAF2E3"/>
          </a:solidFill>
          <a:ln w="12700">
            <a:solidFill>
              <a:srgbClr val="FAF2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76472" y="5257800"/>
            <a:ext cx="140817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C4902F"/>
                </a:solidFill>
                <a:latin typeface="Aptos"/>
              </a:defRPr>
            </a:pPr>
            <a:r>
              <a:t>Multi-agent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566928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6B7A89"/>
                </a:solidFill>
                <a:latin typeface="Aptos"/>
              </a:defRPr>
            </a:pPr>
            <a:r>
              <a:t>ChatGPT 5.4 · Claude Code · Hermes Agent · Manual hardening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371600" cy="274320"/>
          </a:xfrm>
          <a:prstGeom prst="roundRect">
            <a:avLst/>
          </a:prstGeom>
          <a:solidFill>
            <a:srgbClr val="1E3A56"/>
          </a:solidFill>
          <a:ln w="12700">
            <a:solidFill>
              <a:srgbClr val="1E3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76072" y="210312"/>
            <a:ext cx="122529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2EB5BF"/>
                </a:solidFill>
                <a:latin typeface="Aptos"/>
              </a:defRPr>
            </a:pPr>
            <a:r>
              <a:t>The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14400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FFFF"/>
                </a:solidFill>
                <a:latin typeface="Aptos Display"/>
              </a:defRPr>
            </a:pPr>
            <a:r>
              <a:t>What the Assessment Asked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6384"/>
            <a:ext cx="10058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94A8BE"/>
                </a:solidFill>
                <a:latin typeface="Aptos"/>
              </a:defRPr>
            </a:pPr>
            <a:r>
              <a:t>Four modules covering ingestion, retrieval, agentic RAG, and production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6B7A89"/>
                </a:solidFill>
                <a:latin typeface="Aptos"/>
              </a:defRPr>
            </a:pPr>
            <a:r>
              <a:t>Slide 2 of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2743200" cy="201168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>
              <a:defRPr sz="800" b="0" i="0">
                <a:solidFill>
                  <a:srgbClr val="6B7A89"/>
                </a:solidFill>
                <a:latin typeface="Aptos"/>
              </a:defRPr>
            </a:pPr>
            <a:r>
              <a:rPr dirty="0"/>
              <a:t>Enterprise RAG Architecture — Emre</a:t>
            </a:r>
            <a:r>
              <a:rPr lang="en-US" dirty="0"/>
              <a:t> </a:t>
            </a:r>
            <a:r>
              <a:rPr lang="en-US" dirty="0" err="1"/>
              <a:t>Semerci</a:t>
            </a:r>
            <a:endParaRPr lang="en-US" dirty="0"/>
          </a:p>
          <a:p>
            <a:pPr>
              <a:defRPr sz="800" b="0" i="0">
                <a:solidFill>
                  <a:srgbClr val="6B7A89"/>
                </a:solidFill>
                <a:latin typeface="Aptos"/>
              </a:defRPr>
            </a:pPr>
            <a:endParaRPr lang="en-US" dirty="0"/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2606040" cy="23774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380744"/>
            <a:ext cx="41148" cy="2267712"/>
          </a:xfrm>
          <a:prstGeom prst="rect">
            <a:avLst/>
          </a:prstGeom>
          <a:solidFill>
            <a:srgbClr val="2EB5BF"/>
          </a:solidFill>
          <a:ln w="12700">
            <a:solidFill>
              <a:srgbClr val="2EB5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" y="141732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2EB5BF"/>
                </a:solidFill>
                <a:latin typeface="Aptos Display"/>
              </a:defRPr>
            </a:pPr>
            <a:r>
              <a:t>Module 1: Ingestion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709928"/>
            <a:ext cx="2313432" cy="190195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Structure-aware chunking for legal docs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22-field metadata schema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Vector DB for 500K docs / 20M+ chunks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Exact HNSW and quantization settings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325880"/>
            <a:ext cx="2606040" cy="23774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83280" y="1380744"/>
            <a:ext cx="41148" cy="2267712"/>
          </a:xfrm>
          <a:prstGeom prst="rect">
            <a:avLst/>
          </a:prstGeom>
          <a:solidFill>
            <a:srgbClr val="0E8784"/>
          </a:solidFill>
          <a:ln w="12700">
            <a:solidFill>
              <a:srgbClr val="0E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47872" y="141732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E8784"/>
                </a:solidFill>
                <a:latin typeface="Aptos Display"/>
              </a:defRPr>
            </a:pPr>
            <a:r>
              <a:t>Module 2: 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1709928"/>
            <a:ext cx="2313432" cy="190195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Hybrid BM25 + dense retrieval design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RRF vs alpha-blending decision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Reranking model selection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Top-K cascade with justification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325880"/>
            <a:ext cx="2606040" cy="23774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63640" y="1380744"/>
            <a:ext cx="41148" cy="2267712"/>
          </a:xfrm>
          <a:prstGeom prst="rect">
            <a:avLst/>
          </a:prstGeom>
          <a:solidFill>
            <a:srgbClr val="C4902F"/>
          </a:solidFill>
          <a:ln w="12700">
            <a:solidFill>
              <a:srgbClr val="C49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28232" y="141732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C4902F"/>
                </a:solidFill>
                <a:latin typeface="Aptos Display"/>
              </a:defRPr>
            </a:pPr>
            <a:r>
              <a:t>Module 3: Agentic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1709928"/>
            <a:ext cx="2313432" cy="190195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Query decomposition and HyDE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LangGraph CRAG state machine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Retrieval grader implementation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Fallback actions for each grading outcome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325880"/>
            <a:ext cx="2606040" cy="23774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44000" y="1380744"/>
            <a:ext cx="41148" cy="226771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08592" y="141732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0253E"/>
                </a:solidFill>
                <a:latin typeface="Aptos Display"/>
              </a:defRPr>
            </a:pPr>
            <a:r>
              <a:t>Module 4: Production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1709928"/>
            <a:ext cx="2313432" cy="190195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Semantic cache with safe threshold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RBAC: where and how, with math proof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CI/CD evaluation gates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Exact Faithfulness and Precision metrics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931920"/>
            <a:ext cx="11475720" cy="13258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3986784"/>
            <a:ext cx="41148" cy="1216152"/>
          </a:xfrm>
          <a:prstGeom prst="rect">
            <a:avLst/>
          </a:prstGeom>
          <a:solidFill>
            <a:srgbClr val="BE4242"/>
          </a:solidFill>
          <a:ln w="12700">
            <a:solidFill>
              <a:srgbClr val="BE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7512" y="4023360"/>
            <a:ext cx="11201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BE4242"/>
                </a:solidFill>
                <a:latin typeface="Aptos Display"/>
              </a:defRPr>
            </a:pPr>
            <a:r>
              <a:t>The hidden evaluation criteria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15968"/>
            <a:ext cx="11183112" cy="85039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Specificity over generality — exact HNSW params, exact thresholds, exact top-k values. Vague answers fail.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Security-first thinking — RBAC enforced at the database level, not as an afterthought.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Production awareness — latency budgets, OOM prevention, quantization math. Not just “it works.”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Legal domain understanding — hierarchical versioned documents, ECLI references, Dutch tax specifics.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532120"/>
            <a:ext cx="11475720" cy="658368"/>
          </a:xfrm>
          <a:prstGeom prst="roundRect">
            <a:avLst/>
          </a:prstGeom>
          <a:solidFill>
            <a:srgbClr val="E7EDF4"/>
          </a:solidFill>
          <a:ln w="12700">
            <a:solidFill>
              <a:srgbClr val="E7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5687568"/>
            <a:ext cx="109728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0253E"/>
                </a:solidFill>
                <a:latin typeface="Aptos"/>
              </a:defRPr>
            </a:pPr>
            <a:r>
              <a:t>My approach: decode the brief with one AI, build with another, review with a third, then harden the result.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005840" cy="274320"/>
          </a:xfrm>
          <a:prstGeom prst="roundRect">
            <a:avLst/>
          </a:prstGeom>
          <a:solidFill>
            <a:srgbClr val="1E3A56"/>
          </a:solidFill>
          <a:ln w="12700">
            <a:solidFill>
              <a:srgbClr val="1E3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76072" y="210312"/>
            <a:ext cx="85953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2EB5BF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14400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FFFF"/>
                </a:solidFill>
                <a:latin typeface="Aptos Display"/>
              </a:defRPr>
            </a:pPr>
            <a:r>
              <a:t>My AI-Assisted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6384"/>
            <a:ext cx="10058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94A8BE"/>
                </a:solidFill>
                <a:latin typeface="Aptos"/>
              </a:defRPr>
            </a:pPr>
            <a:r>
              <a:t>Five stages from decoding to delivery, each using the right AI tool for the job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6B7A89"/>
                </a:solidFill>
                <a:latin typeface="Aptos"/>
              </a:defRPr>
            </a:pPr>
            <a:r>
              <a:t>Slide 3 of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2743200" cy="201168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>
              <a:defRPr sz="800" b="0" i="0">
                <a:solidFill>
                  <a:srgbClr val="6B7A89"/>
                </a:solidFill>
                <a:latin typeface="Aptos"/>
              </a:defRPr>
            </a:pPr>
            <a:r>
              <a:rPr dirty="0"/>
              <a:t>Enterprise RAG Architecture — Emre</a:t>
            </a:r>
            <a:r>
              <a:rPr lang="en-US" dirty="0"/>
              <a:t> </a:t>
            </a:r>
            <a:r>
              <a:rPr lang="en-US" dirty="0" err="1"/>
              <a:t>Semerci</a:t>
            </a:r>
            <a:endParaRPr dirty="0" err="1"/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196596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B5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" y="1527048"/>
            <a:ext cx="174650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2EB5BF"/>
                </a:solidFill>
                <a:latin typeface="Aptos Display"/>
              </a:defRPr>
            </a:pPr>
            <a:r>
              <a:t>1. Decode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1856232"/>
            <a:ext cx="1746504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6B7A89"/>
                </a:solidFill>
                <a:latin typeface="Aptos"/>
              </a:defRPr>
            </a:pPr>
            <a:r>
              <a:t>ChatGPT 5.4</a:t>
            </a:r>
            <a:br/>
            <a:r>
              <a:t>Extended Thinking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8608" y="1828800"/>
            <a:ext cx="164592" cy="2011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2EB5BF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1417320"/>
            <a:ext cx="196596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98648" y="1527048"/>
            <a:ext cx="174650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0E8784"/>
                </a:solidFill>
                <a:latin typeface="Aptos Display"/>
              </a:defRPr>
            </a:pPr>
            <a:r>
              <a:t>2.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8648" y="1856232"/>
            <a:ext cx="1746504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6B7A89"/>
                </a:solidFill>
                <a:latin typeface="Aptos"/>
              </a:defRPr>
            </a:pPr>
            <a:r>
              <a:t>Claude Code</a:t>
            </a:r>
            <a:br/>
            <a:r>
              <a:t>Plan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1828800"/>
            <a:ext cx="164592" cy="2011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0E878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4920" y="1417320"/>
            <a:ext cx="196596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49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84648" y="1527048"/>
            <a:ext cx="174650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C4902F"/>
                </a:solidFill>
                <a:latin typeface="Aptos Display"/>
              </a:defRPr>
            </a:pPr>
            <a:r>
              <a:t>3.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648" y="1856232"/>
            <a:ext cx="1746504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6B7A89"/>
                </a:solidFill>
                <a:latin typeface="Aptos"/>
              </a:defRPr>
            </a:pPr>
            <a:r>
              <a:t>Claude Code</a:t>
            </a:r>
            <a:br/>
            <a:r>
              <a:t>Sub-agents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50608" y="1828800"/>
            <a:ext cx="164592" cy="2011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C4902F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417320"/>
            <a:ext cx="196596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70648" y="1527048"/>
            <a:ext cx="174650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BE4242"/>
                </a:solidFill>
                <a:latin typeface="Aptos Display"/>
              </a:defRPr>
            </a:pPr>
            <a:r>
              <a:t>4.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1856232"/>
            <a:ext cx="1746504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6B7A89"/>
                </a:solidFill>
                <a:latin typeface="Aptos"/>
              </a:defRPr>
            </a:pPr>
            <a:r>
              <a:t>ChatGPT 5.4 +</a:t>
            </a:r>
            <a:br/>
            <a:r>
              <a:t>Hermes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1828800"/>
            <a:ext cx="164592" cy="2011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BE4242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46920" y="1417320"/>
            <a:ext cx="196596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756648" y="1527048"/>
            <a:ext cx="174650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0253E"/>
                </a:solidFill>
                <a:latin typeface="Aptos Display"/>
              </a:defRPr>
            </a:pPr>
            <a:r>
              <a:t>5. Harden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56648" y="1856232"/>
            <a:ext cx="1746504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6B7A89"/>
                </a:solidFill>
                <a:latin typeface="Aptos"/>
              </a:defRPr>
            </a:pPr>
            <a:r>
              <a:t>Claude Code</a:t>
            </a:r>
            <a:br/>
            <a:r>
              <a:t>Feedback Pass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2926080"/>
            <a:ext cx="3520440" cy="17830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02920" y="2980944"/>
            <a:ext cx="41148" cy="1673352"/>
          </a:xfrm>
          <a:prstGeom prst="rect">
            <a:avLst/>
          </a:prstGeom>
          <a:solidFill>
            <a:srgbClr val="0E8784"/>
          </a:solidFill>
          <a:ln w="12700">
            <a:solidFill>
              <a:srgbClr val="0E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7512" y="3017520"/>
            <a:ext cx="32461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E8784"/>
                </a:solidFill>
                <a:latin typeface="Aptos Display"/>
              </a:defRPr>
            </a:pPr>
            <a:r>
              <a:t>Why multiple AI tools?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3310128"/>
            <a:ext cx="3227832" cy="130759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Each tool has a different strength.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ChatGPT 5.4 extended thinking is strong for deep analysis and scoring.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Claude Code excels at structured code generation and plan execution.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The Hermes agent provided independent teacher-style feedback.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No single AI saw the full picture uncritically.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06240" y="2926080"/>
            <a:ext cx="3520440" cy="17830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206240" y="2980944"/>
            <a:ext cx="41148" cy="1673352"/>
          </a:xfrm>
          <a:prstGeom prst="rect">
            <a:avLst/>
          </a:prstGeom>
          <a:solidFill>
            <a:srgbClr val="C4902F"/>
          </a:solidFill>
          <a:ln w="12700">
            <a:solidFill>
              <a:srgbClr val="C49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70832" y="3017520"/>
            <a:ext cx="32461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C4902F"/>
                </a:solidFill>
                <a:latin typeface="Aptos Display"/>
              </a:defRPr>
            </a:pPr>
            <a:r>
              <a:t>What this produced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70832" y="3310128"/>
            <a:ext cx="3227832" cy="130759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24+ files across schemas, pseudocode, diagrams, and prompts.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A 7,206-word final submission (cut from 10,700 after review).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3 JSON schemas, 5 pseudocode components, 4 architecture diagrams.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CI/CD gate stub, golden test set, requirements.txt.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A supplementary performance deep-dive (530 extra lines).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09560" y="2926080"/>
            <a:ext cx="3749039" cy="17830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909560" y="2980944"/>
            <a:ext cx="41148" cy="1673352"/>
          </a:xfrm>
          <a:prstGeom prst="rect">
            <a:avLst/>
          </a:prstGeom>
          <a:solidFill>
            <a:srgbClr val="BE4242"/>
          </a:solidFill>
          <a:ln w="12700">
            <a:solidFill>
              <a:srgbClr val="BE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074152" y="3017520"/>
            <a:ext cx="3474719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BE4242"/>
                </a:solidFill>
                <a:latin typeface="Aptos Display"/>
              </a:defRPr>
            </a:pPr>
            <a:r>
              <a:t>The quality loop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74152" y="3310128"/>
            <a:ext cx="3456431" cy="130759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Stage 4 found contradictions, overclaims, and consistency gaps.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ChatGPT 5.4 scored the first version at 8/10 with specific deductions.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Hermes agent gave teacher-style feedback on tone and structure.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Stage 5 fixed every issue: numbers reconciled, claims softened, v2 written.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2213" y="5271553"/>
            <a:ext cx="11155680" cy="658368"/>
          </a:xfrm>
          <a:prstGeom prst="roundRect">
            <a:avLst/>
          </a:prstGeom>
          <a:solidFill>
            <a:srgbClr val="E2F3F3"/>
          </a:solidFill>
          <a:ln w="12700">
            <a:solidFill>
              <a:srgbClr val="E2F3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5093" y="5427001"/>
            <a:ext cx="107899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0E8784"/>
                </a:solidFill>
                <a:latin typeface="Aptos"/>
              </a:defRPr>
            </a:pPr>
            <a:r>
              <a:t>Key principle: AI accelerated every stage, but the final decisions were resolved through cross-checking, not blind trust.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005840" cy="274320"/>
          </a:xfrm>
          <a:prstGeom prst="roundRect">
            <a:avLst/>
          </a:prstGeom>
          <a:solidFill>
            <a:srgbClr val="1E3A56"/>
          </a:solidFill>
          <a:ln w="12700">
            <a:solidFill>
              <a:srgbClr val="1E3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76072" y="210312"/>
            <a:ext cx="85953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2EB5BF"/>
                </a:solidFill>
                <a:latin typeface="Aptos"/>
              </a:defRPr>
            </a:pPr>
            <a:r>
              <a:t>Decode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14400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FFFF"/>
                </a:solidFill>
                <a:latin typeface="Aptos Display"/>
              </a:defRPr>
            </a:pPr>
            <a:r>
              <a:t>Stage 1: Decoding the Brief with ChatGPT 5.4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6384"/>
            <a:ext cx="10058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94A8BE"/>
                </a:solidFill>
                <a:latin typeface="Aptos"/>
              </a:defRPr>
            </a:pPr>
            <a:r>
              <a:t>Extended thinking to understand what the assessment is really grading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6B7A89"/>
                </a:solidFill>
                <a:latin typeface="Aptos"/>
              </a:defRPr>
            </a:pPr>
            <a:r>
              <a:t>Slide 4 of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2743200" cy="201168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>
              <a:defRPr sz="800" b="0" i="0">
                <a:solidFill>
                  <a:srgbClr val="6B7A89"/>
                </a:solidFill>
                <a:latin typeface="Aptos"/>
              </a:defRPr>
            </a:pPr>
            <a:r>
              <a:rPr dirty="0"/>
              <a:t>Enterprise RAG Architecture — Emre</a:t>
            </a:r>
            <a:r>
              <a:rPr lang="en-US" dirty="0"/>
              <a:t> </a:t>
            </a:r>
            <a:r>
              <a:rPr lang="en-US" dirty="0" err="1"/>
              <a:t>Semerci</a:t>
            </a:r>
            <a:endParaRPr dirty="0" err="1"/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5303520" cy="2286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380744"/>
            <a:ext cx="41148" cy="2176272"/>
          </a:xfrm>
          <a:prstGeom prst="rect">
            <a:avLst/>
          </a:prstGeom>
          <a:solidFill>
            <a:srgbClr val="2EB5BF"/>
          </a:solidFill>
          <a:ln w="12700">
            <a:solidFill>
              <a:srgbClr val="2EB5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" y="1417320"/>
            <a:ext cx="50292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2EB5BF"/>
                </a:solidFill>
                <a:latin typeface="Aptos Display"/>
              </a:defRPr>
            </a:pPr>
            <a:r>
              <a:t>What I asked ChatGPT 5.4 to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709928"/>
            <a:ext cx="5010912" cy="181051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Used extended thinking mode with a focused prompt: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“Deeply research this assignment and give me a master prompt for Claude Code.”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Goal 1: understand how AI perceives the hidden evaluation criteria.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Goal 2: produce a structured starting prompt for the build agent.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This was strategic delegation — using one AI's analytical strength to brief another.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325880"/>
            <a:ext cx="5669280" cy="2286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989320" y="1380744"/>
            <a:ext cx="41148" cy="2176272"/>
          </a:xfrm>
          <a:prstGeom prst="rect">
            <a:avLst/>
          </a:prstGeom>
          <a:solidFill>
            <a:srgbClr val="C4902F"/>
          </a:solidFill>
          <a:ln w="12700">
            <a:solidFill>
              <a:srgbClr val="C49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53912" y="1417320"/>
            <a:ext cx="539496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C4902F"/>
                </a:solidFill>
                <a:latin typeface="Aptos Display"/>
              </a:defRPr>
            </a:pPr>
            <a:r>
              <a:t>What it produced: the Master 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912" y="1709928"/>
            <a:ext cx="5376672" cy="181051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Assessment decoding — hidden grading criteria, difficulty ranking per module.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15 locked decisions with exact values (m=16, k=60, 0.97 threshold).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12 prioritized deliverables with mandatory/optional flags.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10 failure modes with “why bad + how to avoid + stronger answer” for each.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6 rejected alternatives with specific technical reasons.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A 5-hour execution plan with human-vs-AI split per task.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40480"/>
            <a:ext cx="11155680" cy="13716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3895344"/>
            <a:ext cx="41148" cy="126187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7512" y="3931920"/>
            <a:ext cx="1088136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0253E"/>
                </a:solidFill>
                <a:latin typeface="Aptos Display"/>
              </a:defRPr>
            </a:pPr>
            <a:r>
              <a:t>Why this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4224528"/>
            <a:ext cx="10863072" cy="89611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The decoding step surfaced things I would not have prioritized on my own: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Module 3 (CRAG) carries 35% of the evaluator's impression — it needed the most investment.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The RBAC question is a mathematical trap — the assessment expects a probability proof, not just a policy statement.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The cache threshold question tests whether you understand that near-misses in fiscal data are catastrophic, not merely suboptimal.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Starting with this analysis meant every subsequent build step was aimed at the right targets.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005840" cy="274320"/>
          </a:xfrm>
          <a:prstGeom prst="roundRect">
            <a:avLst/>
          </a:prstGeom>
          <a:solidFill>
            <a:srgbClr val="1E3A56"/>
          </a:solidFill>
          <a:ln w="12700">
            <a:solidFill>
              <a:srgbClr val="1E3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76072" y="210312"/>
            <a:ext cx="85953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2EB5BF"/>
                </a:solidFill>
                <a:latin typeface="Aptos"/>
              </a:defRPr>
            </a:pPr>
            <a:r>
              <a:t>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14400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FFFF"/>
                </a:solidFill>
                <a:latin typeface="Aptos Display"/>
              </a:defRPr>
            </a:pPr>
            <a:r>
              <a:t>Stage 2: Planning with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6384"/>
            <a:ext cx="10058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94A8BE"/>
                </a:solidFill>
                <a:latin typeface="Aptos"/>
              </a:defRPr>
            </a:pPr>
            <a:r>
              <a:t>Plan mode turned the decoded brief into a structured, executable work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6B7A89"/>
                </a:solidFill>
                <a:latin typeface="Aptos"/>
              </a:defRPr>
            </a:pPr>
            <a:r>
              <a:t>Slide 5 of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2743200" cy="201168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>
              <a:defRPr sz="800" b="0" i="0">
                <a:solidFill>
                  <a:srgbClr val="6B7A89"/>
                </a:solidFill>
                <a:latin typeface="Aptos"/>
              </a:defRPr>
            </a:pPr>
            <a:r>
              <a:rPr dirty="0"/>
              <a:t>Enterprise RAG Architecture — Emre</a:t>
            </a:r>
            <a:r>
              <a:rPr lang="en-US" dirty="0"/>
              <a:t> </a:t>
            </a:r>
            <a:r>
              <a:rPr lang="en-US" dirty="0" err="1"/>
              <a:t>Semerci</a:t>
            </a:r>
            <a:endParaRPr dirty="0" err="1"/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3657600" cy="2194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380744"/>
            <a:ext cx="41148" cy="2084832"/>
          </a:xfrm>
          <a:prstGeom prst="rect">
            <a:avLst/>
          </a:prstGeom>
          <a:solidFill>
            <a:srgbClr val="0E8784"/>
          </a:solidFill>
          <a:ln w="12700">
            <a:solidFill>
              <a:srgbClr val="0E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" y="1417320"/>
            <a:ext cx="33832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E8784"/>
                </a:solidFill>
                <a:latin typeface="Aptos Display"/>
              </a:defRPr>
            </a:pPr>
            <a:r>
              <a:t>How Claude Code plan mode worked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709928"/>
            <a:ext cx="3364992" cy="171907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Fed the ChatGPT 5.4 master plan as input.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Claude Code entered plan mode — no code yet, only structure.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Produced a 12-section plan covering every module.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Defined the repo structure (25+ files) and build order.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Locked 15 decisions before writing any prose.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325880"/>
            <a:ext cx="3611880" cy="2194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43400" y="1380744"/>
            <a:ext cx="41148" cy="2084832"/>
          </a:xfrm>
          <a:prstGeom prst="rect">
            <a:avLst/>
          </a:prstGeom>
          <a:solidFill>
            <a:srgbClr val="C4902F"/>
          </a:solidFill>
          <a:ln w="12700">
            <a:solidFill>
              <a:srgbClr val="C49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7992" y="1417320"/>
            <a:ext cx="333756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C4902F"/>
                </a:solidFill>
                <a:latin typeface="Aptos Display"/>
              </a:defRPr>
            </a:pPr>
            <a:r>
              <a:t>Key decisions locked in the 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1709928"/>
            <a:ext cx="3319272" cy="171907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OpenSearch 2.15+ for unified search + DLS.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HNSW: m=16, ef_construction=256, ef_search=128.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Hybrid fusion: RRF with k=60 (not alpha blending).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Reranker: BAAI/bge-reranker-v2-m3 (self-hosted).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Embedding: intfloat/multilingual-e5-large (1024-dim).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Cache threshold: cosine ≥ 0.97.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LLM: Mixtral 8x22B via vLLM (self-hosted).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325880"/>
            <a:ext cx="3520440" cy="2194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1380744"/>
            <a:ext cx="41148" cy="2084832"/>
          </a:xfrm>
          <a:prstGeom prst="rect">
            <a:avLst/>
          </a:prstGeom>
          <a:solidFill>
            <a:srgbClr val="2EB5BF"/>
          </a:solidFill>
          <a:ln w="12700">
            <a:solidFill>
              <a:srgbClr val="2EB5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02752" y="1417320"/>
            <a:ext cx="32461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2EB5BF"/>
                </a:solidFill>
                <a:latin typeface="Aptos Display"/>
              </a:defRPr>
            </a:pPr>
            <a:r>
              <a:t>Build order (hardest first)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1709928"/>
            <a:ext cx="3227832" cy="171907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Step 1: Schemas (metadata, OpenSearch mapping, RBAC).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Step 2: Module 1 + Module 3 pseudocode (hardest).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Step 3: Module 2 retrieval + Module 4 cache.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Step 4: All 4 architecture diagrams.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Step 5: Module drafts + final submission assembly.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This order respected dependencies and risk.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49039"/>
            <a:ext cx="11155680" cy="14173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3803903"/>
            <a:ext cx="41148" cy="130759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512" y="3840479"/>
            <a:ext cx="1088136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0253E"/>
                </a:solidFill>
                <a:latin typeface="Aptos Display"/>
              </a:defRPr>
            </a:pPr>
            <a:r>
              <a:t>What planning prevented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4133087"/>
            <a:ext cx="10863072" cy="94183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Without planning, I would have started writing Module 1 prose immediately — the easiest but least impactful work.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The plan forced me to build schemas and pseudocode first, so every draft could reference concrete artifacts.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It also surfaced cross-file dependencies: the CRAG state machine imports retrieval functions, so retrieval must exist first.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Result: zero placeholder TODOs in the final submission. Every reference resolves to a real file.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005840" cy="274320"/>
          </a:xfrm>
          <a:prstGeom prst="roundRect">
            <a:avLst/>
          </a:prstGeom>
          <a:solidFill>
            <a:srgbClr val="1E3A56"/>
          </a:solidFill>
          <a:ln w="12700">
            <a:solidFill>
              <a:srgbClr val="1E3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76072" y="210312"/>
            <a:ext cx="85953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2EB5BF"/>
                </a:solidFill>
                <a:latin typeface="Aptos"/>
              </a:defRPr>
            </a:pPr>
            <a:r>
              <a:t>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14400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FFFF"/>
                </a:solidFill>
                <a:latin typeface="Aptos Display"/>
              </a:defRPr>
            </a:pPr>
            <a:r>
              <a:t>Stage 3: Building with Claude Code Sub-Agents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6384"/>
            <a:ext cx="10058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94A8BE"/>
                </a:solidFill>
                <a:latin typeface="Aptos"/>
              </a:defRPr>
            </a:pPr>
            <a:r>
              <a:t>Structured artifact generation across schemas, pseudocode, diagrams, and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6B7A89"/>
                </a:solidFill>
                <a:latin typeface="Aptos"/>
              </a:defRPr>
            </a:pPr>
            <a:r>
              <a:t>Slide 6 of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2743200" cy="201168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>
              <a:defRPr sz="800" b="0" i="0">
                <a:solidFill>
                  <a:srgbClr val="6B7A89"/>
                </a:solidFill>
                <a:latin typeface="Aptos"/>
              </a:defRPr>
            </a:pPr>
            <a:r>
              <a:rPr dirty="0"/>
              <a:t>Enterprise RAG Architecture — Emre</a:t>
            </a:r>
            <a:r>
              <a:rPr lang="en-US" dirty="0"/>
              <a:t> </a:t>
            </a:r>
            <a:r>
              <a:rPr lang="en-US" dirty="0" err="1"/>
              <a:t>Semerci</a:t>
            </a:r>
            <a:endParaRPr dirty="0" err="1"/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2606040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380744"/>
            <a:ext cx="41148" cy="1901952"/>
          </a:xfrm>
          <a:prstGeom prst="rect">
            <a:avLst/>
          </a:prstGeom>
          <a:solidFill>
            <a:srgbClr val="2EB5BF"/>
          </a:solidFill>
          <a:ln w="12700">
            <a:solidFill>
              <a:srgbClr val="2EB5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" y="141732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2EB5BF"/>
                </a:solidFill>
                <a:latin typeface="Aptos Display"/>
              </a:defRPr>
            </a:pPr>
            <a:r>
              <a:t>Schemas (3 files)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709928"/>
            <a:ext cx="2313432" cy="153619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chunk_metadata.json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opensearch_index_mapping.json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rbac_roles.json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325880"/>
            <a:ext cx="2606040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83280" y="1380744"/>
            <a:ext cx="41148" cy="1901952"/>
          </a:xfrm>
          <a:prstGeom prst="rect">
            <a:avLst/>
          </a:prstGeom>
          <a:solidFill>
            <a:srgbClr val="0E8784"/>
          </a:solidFill>
          <a:ln w="12700">
            <a:solidFill>
              <a:srgbClr val="0E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47872" y="141732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E8784"/>
                </a:solidFill>
                <a:latin typeface="Aptos Display"/>
              </a:defRPr>
            </a:pPr>
            <a:r>
              <a:t>Pseudocode (5 files)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1709928"/>
            <a:ext cx="2313432" cy="153619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module1_ingestion.py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module3_crag_statemachine.py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module3_grader.py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module2_retrieval.py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module4_cache.py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325880"/>
            <a:ext cx="2606040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63640" y="1380744"/>
            <a:ext cx="41148" cy="1901952"/>
          </a:xfrm>
          <a:prstGeom prst="rect">
            <a:avLst/>
          </a:prstGeom>
          <a:solidFill>
            <a:srgbClr val="C4902F"/>
          </a:solidFill>
          <a:ln w="12700">
            <a:solidFill>
              <a:srgbClr val="C49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28232" y="141732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C4902F"/>
                </a:solidFill>
                <a:latin typeface="Aptos Display"/>
              </a:defRPr>
            </a:pPr>
            <a:r>
              <a:t>Diagrams (4 files)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1709928"/>
            <a:ext cx="2313432" cy="153619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architecture_overview.md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retrieval_flow.md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crag_state_machine.md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security_model.md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325880"/>
            <a:ext cx="2606040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44000" y="1380744"/>
            <a:ext cx="41148" cy="190195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08592" y="141732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0253E"/>
                </a:solidFill>
                <a:latin typeface="Aptos Display"/>
              </a:defRPr>
            </a:pPr>
            <a:r>
              <a:t>Prompts (4 files)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1709928"/>
            <a:ext cx="2313432" cy="153619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grader_prompt.txt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generator_system_prompt.txt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hyde_prompt.txt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decomposition_prompt.txt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566160"/>
            <a:ext cx="1828800" cy="868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3639312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E8784"/>
                </a:solidFill>
                <a:latin typeface="Aptos Display"/>
              </a:defRPr>
            </a:pPr>
            <a:r>
              <a:t>4,233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06908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6B7A89"/>
                </a:solidFill>
                <a:latin typeface="Aptos"/>
              </a:defRPr>
            </a:pPr>
            <a:r>
              <a:t>Pseudocode lines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68880" y="3566160"/>
            <a:ext cx="1828800" cy="868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468880" y="3639312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C4902F"/>
                </a:solidFill>
                <a:latin typeface="Aptos Display"/>
              </a:defRPr>
            </a:pPr>
            <a:r>
              <a:t>1,398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406908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6B7A89"/>
                </a:solidFill>
                <a:latin typeface="Aptos"/>
              </a:defRPr>
            </a:pPr>
            <a:r>
              <a:t>Diagram lines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34840" y="3566160"/>
            <a:ext cx="1828800" cy="868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34840" y="3639312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2EB5BF"/>
                </a:solidFill>
                <a:latin typeface="Aptos Display"/>
              </a:defRPr>
            </a:pPr>
            <a:r>
              <a:t>24+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06908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6B7A89"/>
                </a:solidFill>
                <a:latin typeface="Aptos"/>
              </a:defRPr>
            </a:pPr>
            <a:r>
              <a:t>Total files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3566160"/>
            <a:ext cx="1828800" cy="868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0" y="3639312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10253E"/>
                </a:solidFill>
                <a:latin typeface="Aptos Display"/>
              </a:defRPr>
            </a:pPr>
            <a:r>
              <a:t>7,206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06908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6B7A89"/>
                </a:solidFill>
                <a:latin typeface="Aptos"/>
              </a:defRPr>
            </a:pPr>
            <a:r>
              <a:t>Submission words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66760" y="3566160"/>
            <a:ext cx="1828800" cy="868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66760" y="3639312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E8784"/>
                </a:solidFill>
                <a:latin typeface="Aptos Display"/>
              </a:defRPr>
            </a:pPr>
            <a: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06908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6B7A89"/>
                </a:solidFill>
                <a:latin typeface="Aptos"/>
              </a:defRPr>
            </a:pPr>
            <a:r>
              <a:t>Assumptions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332720" y="3566160"/>
            <a:ext cx="1828800" cy="868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332720" y="3639312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C4902F"/>
                </a:solidFill>
                <a:latin typeface="Aptos Display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406908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 i="0">
                <a:solidFill>
                  <a:srgbClr val="6B7A89"/>
                </a:solidFill>
                <a:latin typeface="Aptos"/>
              </a:defRPr>
            </a:pPr>
            <a:r>
              <a:t>Build steps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4709160"/>
            <a:ext cx="11155680" cy="13258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02920" y="4764024"/>
            <a:ext cx="41148" cy="1216152"/>
          </a:xfrm>
          <a:prstGeom prst="rect">
            <a:avLst/>
          </a:prstGeom>
          <a:solidFill>
            <a:srgbClr val="2EB5BF"/>
          </a:solidFill>
          <a:ln w="12700">
            <a:solidFill>
              <a:srgbClr val="2EB5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67512" y="4800600"/>
            <a:ext cx="1088136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2EB5BF"/>
                </a:solidFill>
                <a:latin typeface="Aptos Display"/>
              </a:defRPr>
            </a:pPr>
            <a:r>
              <a:t>How sub-agents worked in practice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" y="5093208"/>
            <a:ext cx="10863072" cy="85039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Claude Code executed each step of the plan as a focused sub-task with clear inputs and outputs.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Each step verified cross-file consistency before moving on (function signatures, field names, constant values).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After Step 2: verified ChunkMetadata fields match between ingestion and CRAG state machine.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After Step 4: verified all diagram function names match the actual pseudocode exports.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This incremental verification prevented the cascading inconsistencies that AI-generated code normally suffers from.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005840" cy="274320"/>
          </a:xfrm>
          <a:prstGeom prst="roundRect">
            <a:avLst/>
          </a:prstGeom>
          <a:solidFill>
            <a:srgbClr val="1E3A56"/>
          </a:solidFill>
          <a:ln w="12700">
            <a:solidFill>
              <a:srgbClr val="1E3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76072" y="210312"/>
            <a:ext cx="85953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2EB5B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14400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FFFF"/>
                </a:solidFill>
                <a:latin typeface="Aptos Display"/>
              </a:defRPr>
            </a:pPr>
            <a:r>
              <a:t>Stage 4: Quality Control with External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6384"/>
            <a:ext cx="10058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94A8BE"/>
                </a:solidFill>
                <a:latin typeface="Aptos"/>
              </a:defRPr>
            </a:pPr>
            <a:r>
              <a:t>Independent scoring from ChatGPT 5.4 and teacher-style feedback from Hermes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6B7A89"/>
                </a:solidFill>
                <a:latin typeface="Aptos"/>
              </a:defRPr>
            </a:pPr>
            <a:r>
              <a:t>Slide 7 of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2743200" cy="201168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>
              <a:defRPr sz="800" b="0" i="0">
                <a:solidFill>
                  <a:srgbClr val="6B7A89"/>
                </a:solidFill>
                <a:latin typeface="Aptos"/>
              </a:defRPr>
            </a:pPr>
            <a:r>
              <a:rPr dirty="0"/>
              <a:t>Enterprise RAG Architecture — Emre</a:t>
            </a:r>
            <a:r>
              <a:rPr lang="en-US" dirty="0"/>
              <a:t> </a:t>
            </a:r>
            <a:r>
              <a:rPr lang="en-US" dirty="0" err="1"/>
              <a:t>Semerci</a:t>
            </a:r>
            <a:endParaRPr dirty="0" err="1"/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5486400" cy="27432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380744"/>
            <a:ext cx="41148" cy="2633472"/>
          </a:xfrm>
          <a:prstGeom prst="rect">
            <a:avLst/>
          </a:prstGeom>
          <a:solidFill>
            <a:srgbClr val="2EB5BF"/>
          </a:solidFill>
          <a:ln w="12700">
            <a:solidFill>
              <a:srgbClr val="2EB5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" y="1417320"/>
            <a:ext cx="5212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2EB5BF"/>
                </a:solidFill>
                <a:latin typeface="Aptos Display"/>
              </a:defRPr>
            </a:pPr>
            <a:r>
              <a:t>ChatGPT 5.4 Extended Thinking — Strict Scoring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709928"/>
            <a:ext cx="5193792" cy="226771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Reviewed every file in the repository against the assessment brief.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Scored the submission at 86% complete, rated 8/10.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Per-module scores: M1 88%, M2 92%, M3 80%, M4 84%.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endParaRPr/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Top issues found: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• Internal contradictions (14 vs 22 metadata fields across files).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• Memory sizing inconsistency (SQ8 vs fp16 not settled).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• Retry/TTFT math contradiction (1450 ms “within budget” vs 2030 ms “over budget”).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• CI/evaluation claims without supporting artifacts.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• RRF narrative vs non-RRF active config in the OpenSearch mapping.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25880"/>
            <a:ext cx="5486400" cy="27432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1380744"/>
            <a:ext cx="41148" cy="2633472"/>
          </a:xfrm>
          <a:prstGeom prst="rect">
            <a:avLst/>
          </a:prstGeom>
          <a:solidFill>
            <a:srgbClr val="BE4242"/>
          </a:solidFill>
          <a:ln w="12700">
            <a:solidFill>
              <a:srgbClr val="BE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36792" y="1417320"/>
            <a:ext cx="5212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BE4242"/>
                </a:solidFill>
                <a:latin typeface="Aptos Display"/>
              </a:defRPr>
            </a:pPr>
            <a:r>
              <a:t>Hermes Agent — Teacher-Style Feedback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09928"/>
            <a:ext cx="5193792" cy="226771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Independent review using a teacher/interviewer persona.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Verdict: “strong technically, medium on communication efficiency.”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endParaRPr/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What the agent praised: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• Real decisions (not hiding behind vague options).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• Security reasoning above average.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• Domain awareness (Dutch legal, ECLI, temporal versioning).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endParaRPr/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What the agent flagged: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• Main answer too long (10.7K words, reviewer fatigue).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• Performative tone (“most candidates will…”, “crown jewel”).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• Grader rule too blunt (one-size-fits-all ≥3 chunks).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97680"/>
            <a:ext cx="11155680" cy="13258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4352544"/>
            <a:ext cx="41148" cy="1216152"/>
          </a:xfrm>
          <a:prstGeom prst="rect">
            <a:avLst/>
          </a:prstGeom>
          <a:solidFill>
            <a:srgbClr val="C4902F"/>
          </a:solidFill>
          <a:ln w="12700">
            <a:solidFill>
              <a:srgbClr val="C49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7512" y="4389120"/>
            <a:ext cx="1088136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C4902F"/>
                </a:solidFill>
                <a:latin typeface="Aptos Display"/>
              </a:defRPr>
            </a:pPr>
            <a:r>
              <a:t>Why external review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4681728"/>
            <a:ext cx="10863072" cy="85039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Neither agent had seen the build process. They reviewed the output cold, like an assessor would.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Their feedback overlapped on the biggest risk: internal contradictions hurt credibility more than missing features.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The Hermes agent caught tone issues that ChatGPT did not flag, and ChatGPT caught quantitative inconsistencies that Hermes did not.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Together they produced a comprehensive improvement list that became the input for Stage 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EF4EE05-F58A-9864-2158-89E45E10B577}"/>
              </a:ext>
            </a:extLst>
          </p:cNvPr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2">
            <a:extLst>
              <a:ext uri="{FF2B5EF4-FFF2-40B4-BE49-F238E27FC236}">
                <a16:creationId xmlns:a16="http://schemas.microsoft.com/office/drawing/2014/main" id="{8F3CD7B8-1403-8722-122A-C264AEE30B25}"/>
              </a:ext>
            </a:extLst>
          </p:cNvPr>
          <p:cNvSpPr/>
          <p:nvPr/>
        </p:nvSpPr>
        <p:spPr>
          <a:xfrm>
            <a:off x="502920" y="164592"/>
            <a:ext cx="1005840" cy="274320"/>
          </a:xfrm>
          <a:prstGeom prst="roundRect">
            <a:avLst/>
          </a:prstGeom>
          <a:solidFill>
            <a:srgbClr val="1E3A56"/>
          </a:solidFill>
          <a:ln w="12700">
            <a:solidFill>
              <a:srgbClr val="1E3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1E9CC6-6BC6-E898-B956-498596E734FE}"/>
              </a:ext>
            </a:extLst>
          </p:cNvPr>
          <p:cNvSpPr txBox="1"/>
          <p:nvPr/>
        </p:nvSpPr>
        <p:spPr>
          <a:xfrm>
            <a:off x="576072" y="210312"/>
            <a:ext cx="85953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2EB5B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A7C395-32E7-FEE9-2DDC-22D193AF5203}"/>
              </a:ext>
            </a:extLst>
          </p:cNvPr>
          <p:cNvSpPr txBox="1"/>
          <p:nvPr/>
        </p:nvSpPr>
        <p:spPr>
          <a:xfrm>
            <a:off x="502920" y="457200"/>
            <a:ext cx="9144000" cy="310896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>
              <a:defRPr sz="2200" b="1" i="0">
                <a:solidFill>
                  <a:srgbClr val="FFFFFF"/>
                </a:solidFill>
                <a:latin typeface="Aptos Display"/>
              </a:defRPr>
            </a:pPr>
            <a:r>
              <a:rPr dirty="0"/>
              <a:t>Stage 4: </a:t>
            </a:r>
            <a:r>
              <a:rPr lang="en-US"/>
              <a:t>How did I use Hermes agent ?</a:t>
            </a: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E6CBB4-FB48-2D59-1322-7961B62C75F8}"/>
              </a:ext>
            </a:extLst>
          </p:cNvPr>
          <p:cNvSpPr txBox="1"/>
          <p:nvPr/>
        </p:nvSpPr>
        <p:spPr>
          <a:xfrm>
            <a:off x="502920" y="786384"/>
            <a:ext cx="10058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94A8BE"/>
                </a:solidFill>
                <a:latin typeface="Aptos"/>
              </a:defRPr>
            </a:pPr>
            <a:r>
              <a:t>Independent scoring from ChatGPT 5.4 and teacher-style feedback from Hermes Agent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276EF2-C1F2-C67C-0B0F-A98D19F303EA}"/>
              </a:ext>
            </a:extLst>
          </p:cNvPr>
          <p:cNvSpPr txBox="1"/>
          <p:nvPr/>
        </p:nvSpPr>
        <p:spPr>
          <a:xfrm>
            <a:off x="10515600" y="6537960"/>
            <a:ext cx="1371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6B7A89"/>
                </a:solidFill>
                <a:latin typeface="Aptos"/>
              </a:defRPr>
            </a:pPr>
            <a:r>
              <a:t>Slide 7 of 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C9C1DE-2D62-E2DB-2C7D-FCF75405570D}"/>
              </a:ext>
            </a:extLst>
          </p:cNvPr>
          <p:cNvSpPr txBox="1"/>
          <p:nvPr/>
        </p:nvSpPr>
        <p:spPr>
          <a:xfrm>
            <a:off x="502920" y="6537960"/>
            <a:ext cx="2743200" cy="201168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>
              <a:defRPr sz="800" b="0" i="0">
                <a:solidFill>
                  <a:srgbClr val="6B7A89"/>
                </a:solidFill>
                <a:latin typeface="Aptos"/>
              </a:defRPr>
            </a:pPr>
            <a:r>
              <a:rPr dirty="0"/>
              <a:t>Enterprise RAG Architecture — Emre</a:t>
            </a:r>
            <a:r>
              <a:rPr lang="en-US" dirty="0"/>
              <a:t> </a:t>
            </a:r>
            <a:r>
              <a:rPr lang="en-US" dirty="0" err="1"/>
              <a:t>Semerci</a:t>
            </a:r>
            <a:endParaRPr dirty="0" err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D96D7E0-D7AA-18F6-FB7B-8109A006E5BB}"/>
              </a:ext>
            </a:extLst>
          </p:cNvPr>
          <p:cNvSpPr txBox="1"/>
          <p:nvPr/>
        </p:nvSpPr>
        <p:spPr>
          <a:xfrm>
            <a:off x="731520" y="1483359"/>
            <a:ext cx="3362960" cy="352404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 dirty="0">
                <a:ea typeface="Calibri"/>
                <a:cs typeface="Calibri"/>
              </a:rPr>
              <a:t>Deployed 1 main agent : Codex 5.4 extra high thinking, with the task of being the teacher and revising on the </a:t>
            </a:r>
            <a:r>
              <a:rPr lang="en-US" sz="1100">
                <a:ea typeface="Calibri"/>
                <a:cs typeface="Calibri"/>
              </a:rPr>
              <a:t>assessment</a:t>
            </a:r>
            <a:r>
              <a:rPr lang="en-US" sz="1100" dirty="0">
                <a:ea typeface="Calibri"/>
                <a:cs typeface="Calibri"/>
              </a:rPr>
              <a:t>. Also keeping up a feedback document. </a:t>
            </a:r>
          </a:p>
          <a:p>
            <a:endParaRPr lang="en-US" sz="1100" dirty="0">
              <a:ea typeface="Calibri"/>
              <a:cs typeface="Calibri"/>
            </a:endParaRPr>
          </a:p>
          <a:p>
            <a:r>
              <a:rPr lang="en-US" sz="1100" dirty="0">
                <a:ea typeface="Calibri"/>
                <a:cs typeface="Calibri"/>
              </a:rPr>
              <a:t>Deployed 2 sub agents: Both Codex 5.4 extra high. </a:t>
            </a:r>
          </a:p>
          <a:p>
            <a:endParaRPr lang="en-US" sz="1100" dirty="0">
              <a:ea typeface="Calibri"/>
              <a:cs typeface="Calibri"/>
            </a:endParaRPr>
          </a:p>
          <a:p>
            <a:r>
              <a:rPr lang="en-US" sz="1100">
                <a:ea typeface="Calibri"/>
                <a:cs typeface="Calibri"/>
              </a:rPr>
              <a:t>Sub agent 1 </a:t>
            </a:r>
            <a:r>
              <a:rPr lang="en-US" sz="1100" dirty="0">
                <a:ea typeface="Calibri"/>
                <a:cs typeface="Calibri"/>
              </a:rPr>
              <a:t>was tasked with writing down questions, and imperfections about the </a:t>
            </a:r>
            <a:r>
              <a:rPr lang="en-US" sz="1100" err="1">
                <a:ea typeface="Calibri"/>
                <a:cs typeface="Calibri"/>
              </a:rPr>
              <a:t>feedbac</a:t>
            </a:r>
            <a:r>
              <a:rPr lang="en-US" sz="1100" dirty="0">
                <a:ea typeface="Calibri"/>
                <a:cs typeface="Calibri"/>
              </a:rPr>
              <a:t>k document that the main agent was keeping up. </a:t>
            </a:r>
          </a:p>
          <a:p>
            <a:endParaRPr lang="en-US" sz="1100" dirty="0">
              <a:ea typeface="Calibri"/>
              <a:cs typeface="Calibri"/>
            </a:endParaRPr>
          </a:p>
          <a:p>
            <a:r>
              <a:rPr lang="en-US" sz="1100" dirty="0">
                <a:ea typeface="Calibri"/>
                <a:cs typeface="Calibri"/>
              </a:rPr>
              <a:t>Sub agent 2 was tasked with answering the </a:t>
            </a:r>
            <a:r>
              <a:rPr lang="en-US" sz="1100" dirty="0" err="1">
                <a:ea typeface="Calibri"/>
                <a:cs typeface="Calibri"/>
              </a:rPr>
              <a:t>quesitons</a:t>
            </a:r>
            <a:r>
              <a:rPr lang="en-US" sz="1100" dirty="0">
                <a:ea typeface="Calibri"/>
                <a:cs typeface="Calibri"/>
              </a:rPr>
              <a:t> and fixing the imperfections that sub agent 1 found about the feedback document. 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sz="1100" dirty="0">
                <a:ea typeface="Calibri"/>
                <a:cs typeface="Calibri"/>
              </a:rPr>
              <a:t>My Hermes agents ran on a </a:t>
            </a:r>
            <a:r>
              <a:rPr lang="en-US" sz="1100">
                <a:ea typeface="Calibri"/>
                <a:cs typeface="Calibri"/>
              </a:rPr>
              <a:t>heartbeat of 15 min for a couple of hours straight.</a:t>
            </a:r>
            <a:endParaRPr lang="en-US" sz="1100" dirty="0"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sz="1100" dirty="0">
                <a:ea typeface="Calibri"/>
                <a:cs typeface="Calibri"/>
              </a:rPr>
              <a:t>I made sure to install plenty reasoning skills to improve </a:t>
            </a:r>
            <a:r>
              <a:rPr lang="en-US" sz="1100">
                <a:ea typeface="Calibri"/>
                <a:cs typeface="Calibri"/>
              </a:rPr>
              <a:t>performance</a:t>
            </a:r>
            <a:endParaRPr lang="en-US" sz="1100" dirty="0">
              <a:ea typeface="Calibri"/>
              <a:cs typeface="Calibri"/>
            </a:endParaRPr>
          </a:p>
        </p:txBody>
      </p:sp>
      <p:pic>
        <p:nvPicPr>
          <p:cNvPr id="41" name="Picture 4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EABF156-36F5-014C-6246-AA80E1B23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511" y="1480905"/>
            <a:ext cx="6914220" cy="3803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127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005840" cy="274320"/>
          </a:xfrm>
          <a:prstGeom prst="roundRect">
            <a:avLst/>
          </a:prstGeom>
          <a:solidFill>
            <a:srgbClr val="1E3A56"/>
          </a:solidFill>
          <a:ln w="12700">
            <a:solidFill>
              <a:srgbClr val="1E3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76072" y="210312"/>
            <a:ext cx="85953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2EB5BF"/>
                </a:solidFill>
                <a:latin typeface="Aptos"/>
              </a:defRPr>
            </a:pPr>
            <a:r>
              <a:t>Harden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14400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FFFF"/>
                </a:solidFill>
                <a:latin typeface="Aptos Display"/>
              </a:defRPr>
            </a:pPr>
            <a:r>
              <a:t>Stage 5: Hardening the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6384"/>
            <a:ext cx="10058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94A8BE"/>
                </a:solidFill>
                <a:latin typeface="Aptos"/>
              </a:defRPr>
            </a:pPr>
            <a:r>
              <a:t>Every feedback item addressed — contradictions fixed, claims softened, v2 written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6B7A89"/>
                </a:solidFill>
                <a:latin typeface="Aptos"/>
              </a:defRPr>
            </a:pPr>
            <a:r>
              <a:t>Slide 8 of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27432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6B7A89"/>
                </a:solidFill>
                <a:latin typeface="Aptos"/>
              </a:defRPr>
            </a:pPr>
            <a:r>
              <a:t>Enterprise RAG Architecture — Emre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5440680" cy="19202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380744"/>
            <a:ext cx="41148" cy="1810512"/>
          </a:xfrm>
          <a:prstGeom prst="rect">
            <a:avLst/>
          </a:prstGeom>
          <a:solidFill>
            <a:srgbClr val="2EB5BF"/>
          </a:solidFill>
          <a:ln w="12700">
            <a:solidFill>
              <a:srgbClr val="2EB5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" y="1417320"/>
            <a:ext cx="516636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2EB5BF"/>
                </a:solidFill>
                <a:latin typeface="Aptos Display"/>
              </a:defRPr>
            </a:pPr>
            <a:r>
              <a:t>Contradictions fixed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709928"/>
            <a:ext cx="5148072" cy="144475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14 fields → 22 fields (matched actual schema).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SQ8 ~60 GB → fp16 ~61 GB primary, SQ8 ~31 GB fallback.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Retry TTFT: corrected to ~2030 ms (over budget but rare).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RRF made the active OpenSearch pipeline config.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25880"/>
            <a:ext cx="5440680" cy="19202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380744"/>
            <a:ext cx="41148" cy="1810512"/>
          </a:xfrm>
          <a:prstGeom prst="rect">
            <a:avLst/>
          </a:prstGeom>
          <a:solidFill>
            <a:srgbClr val="0E8784"/>
          </a:solidFill>
          <a:ln w="12700">
            <a:solidFill>
              <a:srgbClr val="0E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82512" y="1417320"/>
            <a:ext cx="516636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0E8784"/>
                </a:solidFill>
                <a:latin typeface="Aptos Display"/>
              </a:defRPr>
            </a:pPr>
            <a:r>
              <a:t>Submission rewritten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709928"/>
            <a:ext cx="5148072" cy="144475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10,700 words → 7,206 words (33% reduction).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Added Quick Answers Sheet at the top.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Removed all performative language.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Query-type-aware grader thresholds added.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74720"/>
            <a:ext cx="5440680" cy="19202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3529584"/>
            <a:ext cx="41148" cy="1810512"/>
          </a:xfrm>
          <a:prstGeom prst="rect">
            <a:avLst/>
          </a:prstGeom>
          <a:solidFill>
            <a:srgbClr val="C4902F"/>
          </a:solidFill>
          <a:ln w="12700">
            <a:solidFill>
              <a:srgbClr val="C49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7512" y="3566160"/>
            <a:ext cx="516636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C4902F"/>
                </a:solidFill>
                <a:latin typeface="Aptos Display"/>
              </a:defRPr>
            </a:pPr>
            <a:r>
              <a:t>Artifacts added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3858768"/>
            <a:ext cx="5148072" cy="144475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requirements.txt — full Python dependency list.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.github/workflows/eval_gate.yml — CI/CD stub.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eval/golden_test_set_spec.json — 5-entry sample.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Hallucination claim qualified to “fail-closed.”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474720"/>
            <a:ext cx="5440680" cy="19202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3529584"/>
            <a:ext cx="41148" cy="181051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82512" y="3566160"/>
            <a:ext cx="516636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10253E"/>
                </a:solidFill>
                <a:latin typeface="Aptos Display"/>
              </a:defRPr>
            </a:pPr>
            <a:r>
              <a:t>Repository reorganized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3858768"/>
            <a:ext cx="5148072" cy="144475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4 clear zones: answer, evidence, eval/ops, reference.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README.md rewritten as delivery navigator.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Deprecated v1 moved to internal/.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Evaluator path: README → final_submission_v2.md.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005840" cy="274320"/>
          </a:xfrm>
          <a:prstGeom prst="roundRect">
            <a:avLst/>
          </a:prstGeom>
          <a:solidFill>
            <a:srgbClr val="1E3A56"/>
          </a:solidFill>
          <a:ln w="12700">
            <a:solidFill>
              <a:srgbClr val="1E3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76072" y="210312"/>
            <a:ext cx="85953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2EB5BF"/>
                </a:solidFill>
                <a:latin typeface="Aptos"/>
              </a:defRPr>
            </a:pPr>
            <a:r>
              <a:t>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14400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FFFF"/>
                </a:solidFill>
                <a:latin typeface="Aptos Display"/>
              </a:defRPr>
            </a:pPr>
            <a:r>
              <a:t>The Architecture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6384"/>
            <a:ext cx="10058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94A8BE"/>
                </a:solidFill>
                <a:latin typeface="Aptos"/>
              </a:defRPr>
            </a:pPr>
            <a:r>
              <a:t>Core design choices across all four modules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6B7A89"/>
                </a:solidFill>
                <a:latin typeface="Aptos"/>
              </a:defRPr>
            </a:pPr>
            <a:r>
              <a:t>Slide 9 of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27432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6B7A89"/>
                </a:solidFill>
                <a:latin typeface="Aptos"/>
              </a:defRPr>
            </a:pPr>
            <a:r>
              <a:t>Enterprise RAG Architecture — Emre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1664208" cy="640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57784" y="1545336"/>
            <a:ext cx="15544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0253E"/>
                </a:solidFill>
                <a:latin typeface="Aptos Display"/>
              </a:defRPr>
            </a:pPr>
            <a:r>
              <a:t>User query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1992" y="1600200"/>
            <a:ext cx="164592" cy="2011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0E878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39" y="1417320"/>
            <a:ext cx="1664208" cy="640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32303" y="1545336"/>
            <a:ext cx="15544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0253E"/>
                </a:solidFill>
                <a:latin typeface="Aptos Display"/>
              </a:defRPr>
            </a:pPr>
            <a:r>
              <a:t>API + OIDC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1" y="1600200"/>
            <a:ext cx="164592" cy="2011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0E878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58" y="1417320"/>
            <a:ext cx="1664208" cy="640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06822" y="1545336"/>
            <a:ext cx="15544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0253E"/>
                </a:solidFill>
                <a:latin typeface="Aptos Display"/>
              </a:defRPr>
            </a:pPr>
            <a:r>
              <a:t>Redis cache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71030" y="1600200"/>
            <a:ext cx="164592" cy="2011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0E878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77" y="1417320"/>
            <a:ext cx="1664208" cy="640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81341" y="1545336"/>
            <a:ext cx="15544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0253E"/>
                </a:solidFill>
                <a:latin typeface="Aptos Display"/>
              </a:defRPr>
            </a:pPr>
            <a:r>
              <a:t>CRAG 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49" y="1600200"/>
            <a:ext cx="164592" cy="2011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0E878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0996" y="1417320"/>
            <a:ext cx="1664208" cy="640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55860" y="1545336"/>
            <a:ext cx="15544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0253E"/>
                </a:solidFill>
                <a:latin typeface="Aptos Display"/>
              </a:defRPr>
            </a:pPr>
            <a:r>
              <a:t>Hybrid retrieval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68" y="1600200"/>
            <a:ext cx="164592" cy="20116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 i="0">
                <a:solidFill>
                  <a:srgbClr val="0E8784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75515" y="1417320"/>
            <a:ext cx="1664208" cy="640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930379" y="1545336"/>
            <a:ext cx="15544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0253E"/>
                </a:solidFill>
                <a:latin typeface="Aptos Display"/>
              </a:defRPr>
            </a:pPr>
            <a:r>
              <a:t>Cited 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2286000"/>
            <a:ext cx="2606040" cy="1188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02920" y="2340864"/>
            <a:ext cx="41148" cy="1078992"/>
          </a:xfrm>
          <a:prstGeom prst="rect">
            <a:avLst/>
          </a:prstGeom>
          <a:solidFill>
            <a:srgbClr val="2EB5BF"/>
          </a:solidFill>
          <a:ln w="12700">
            <a:solidFill>
              <a:srgbClr val="2EB5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7512" y="237744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2EB5BF"/>
                </a:solidFill>
                <a:latin typeface="Aptos Display"/>
              </a:defRPr>
            </a:pPr>
            <a:r>
              <a:t>OpenSearch 2.15+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" y="2670048"/>
            <a:ext cx="2313432" cy="71323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Unified dense + sparse search with native document-level security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55848" y="2286000"/>
            <a:ext cx="2606040" cy="1188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355848" y="2340864"/>
            <a:ext cx="41148" cy="1078992"/>
          </a:xfrm>
          <a:prstGeom prst="rect">
            <a:avLst/>
          </a:prstGeom>
          <a:solidFill>
            <a:srgbClr val="0E8784"/>
          </a:solidFill>
          <a:ln w="12700">
            <a:solidFill>
              <a:srgbClr val="0E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520440" y="237744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0E8784"/>
                </a:solidFill>
                <a:latin typeface="Aptos Display"/>
              </a:defRPr>
            </a:pPr>
            <a:r>
              <a:t>Structure-aware chunking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2670048"/>
            <a:ext cx="2313432" cy="71323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Split on Dutch legal boundaries; 22-field metadata; deterministic chunk IDs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08776" y="2286000"/>
            <a:ext cx="2606040" cy="1188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08776" y="2340864"/>
            <a:ext cx="41148" cy="1078992"/>
          </a:xfrm>
          <a:prstGeom prst="rect">
            <a:avLst/>
          </a:prstGeom>
          <a:solidFill>
            <a:srgbClr val="C4902F"/>
          </a:solidFill>
          <a:ln w="12700">
            <a:solidFill>
              <a:srgbClr val="C49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73368" y="237744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C4902F"/>
                </a:solidFill>
                <a:latin typeface="Aptos Display"/>
              </a:defRPr>
            </a:pPr>
            <a:r>
              <a:t>Hybrid retrieval + RRF k=60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3368" y="2670048"/>
            <a:ext cx="2313432" cy="71323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Three paths: exact-ID, BM25 top-20, kNN top-20 → 40 fused → 8 reranked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61704" y="2286000"/>
            <a:ext cx="2606040" cy="1188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061704" y="2340864"/>
            <a:ext cx="41148" cy="107899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226296" y="237744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0253E"/>
                </a:solidFill>
                <a:latin typeface="Aptos Display"/>
              </a:defRPr>
            </a:pPr>
            <a:r>
              <a:t>BAAI/bge-reranker-v2-m3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26296" y="2670048"/>
            <a:ext cx="2313432" cy="71323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Self-hosted multilingual cross-encoder; Cohere rejected for data sovereignty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3703320"/>
            <a:ext cx="2606040" cy="1188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02920" y="3758184"/>
            <a:ext cx="41148" cy="1078992"/>
          </a:xfrm>
          <a:prstGeom prst="rect">
            <a:avLst/>
          </a:prstGeom>
          <a:solidFill>
            <a:srgbClr val="2EB5BF"/>
          </a:solidFill>
          <a:ln w="12700">
            <a:solidFill>
              <a:srgbClr val="2EB5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67512" y="379476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2EB5BF"/>
                </a:solidFill>
                <a:latin typeface="Aptos Display"/>
              </a:defRPr>
            </a:pPr>
            <a:r>
              <a:t>LangGraph CRAG (9 states)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" y="4087368"/>
            <a:ext cx="2313432" cy="71323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Grading gate + citation validation + bounded retry + explicit REFUSE state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55848" y="3703320"/>
            <a:ext cx="2606040" cy="1188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355848" y="3758184"/>
            <a:ext cx="41148" cy="1078992"/>
          </a:xfrm>
          <a:prstGeom prst="rect">
            <a:avLst/>
          </a:prstGeom>
          <a:solidFill>
            <a:srgbClr val="0E8784"/>
          </a:solidFill>
          <a:ln w="12700">
            <a:solidFill>
              <a:srgbClr val="0E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520440" y="379476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0E8784"/>
                </a:solidFill>
                <a:latin typeface="Aptos Display"/>
              </a:defRPr>
            </a:pPr>
            <a:r>
              <a:t>intfloat/multilingual-e5-large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20440" y="4087368"/>
            <a:ext cx="2313432" cy="71323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Self-hosted embedding model, 1024-dim, Dutch legal corpus optimized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08776" y="3703320"/>
            <a:ext cx="2606040" cy="1188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208776" y="3758184"/>
            <a:ext cx="41148" cy="1078992"/>
          </a:xfrm>
          <a:prstGeom prst="rect">
            <a:avLst/>
          </a:prstGeom>
          <a:solidFill>
            <a:srgbClr val="C4902F"/>
          </a:solidFill>
          <a:ln w="12700">
            <a:solidFill>
              <a:srgbClr val="C49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373368" y="379476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C4902F"/>
                </a:solidFill>
                <a:latin typeface="Aptos Display"/>
              </a:defRPr>
            </a:pPr>
            <a:r>
              <a:t>Mixtral 8x22B via vLLM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3368" y="4087368"/>
            <a:ext cx="2313432" cy="71323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Self-hosted LLM inference on 4× A100; Azure OpenAI GPT-4 Gov as fallback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61704" y="3703320"/>
            <a:ext cx="2606040" cy="1188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061704" y="3758184"/>
            <a:ext cx="41148" cy="107899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226296" y="379476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10253E"/>
                </a:solidFill>
                <a:latin typeface="Aptos Display"/>
              </a:defRPr>
            </a:pPr>
            <a:r>
              <a:t>Cache: cosine ≥ 0.97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26296" y="4087368"/>
            <a:ext cx="2313432" cy="71323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000">
                <a:solidFill>
                  <a:srgbClr val="1A2635"/>
                </a:solidFill>
                <a:latin typeface="Aptos"/>
              </a:defRPr>
            </a:pPr>
            <a:r>
              <a:t>Tier-partitioned Redis; TTL 0s/24h/7d; year-confusion protection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02920" y="5349240"/>
            <a:ext cx="11155680" cy="658368"/>
          </a:xfrm>
          <a:prstGeom prst="roundRect">
            <a:avLst/>
          </a:prstGeom>
          <a:solidFill>
            <a:srgbClr val="E7EDF4"/>
          </a:solidFill>
          <a:ln w="12700">
            <a:solidFill>
              <a:srgbClr val="E7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85800" y="5468112"/>
            <a:ext cx="10789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10253E"/>
                </a:solidFill>
                <a:latin typeface="Aptos"/>
              </a:defRPr>
            </a:pPr>
            <a:r>
              <a:rPr dirty="0"/>
              <a:t>Pre-retrieval DLS is mandatory: P(information leak under post-filtering) = 1 − 0.95⁴⁰ ≈ 0.87.  TTFT budget: 1,500 </a:t>
            </a:r>
            <a:r>
              <a:rPr dirty="0" err="1"/>
              <a:t>ms.</a:t>
            </a:r>
            <a:r>
              <a:rPr dirty="0"/>
              <a:t>  Eval gates: Faithfulness ≥ 0.90, Context Precision@8 ≥ 0.85, Citation Accuracy = 1.0.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005840" cy="274320"/>
          </a:xfrm>
          <a:prstGeom prst="roundRect">
            <a:avLst/>
          </a:prstGeom>
          <a:solidFill>
            <a:srgbClr val="1E3A56"/>
          </a:solidFill>
          <a:ln w="12700">
            <a:solidFill>
              <a:srgbClr val="1E3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76072" y="210312"/>
            <a:ext cx="85953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2EB5BF"/>
                </a:solidFill>
                <a:latin typeface="Aptos"/>
              </a:defRPr>
            </a:pPr>
            <a:r>
              <a:t>Bonus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14400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FFFF"/>
                </a:solidFill>
                <a:latin typeface="Aptos Display"/>
              </a:defRPr>
            </a:pPr>
            <a:r>
              <a:t>Extra: Performance and Resource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6384"/>
            <a:ext cx="10058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94A8BE"/>
                </a:solidFill>
                <a:latin typeface="Aptos"/>
              </a:defRPr>
            </a:pPr>
            <a:r>
              <a:t>Voluntary supplementary work beyond the assessment brief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6B7A89"/>
                </a:solidFill>
                <a:latin typeface="Aptos"/>
              </a:defRPr>
            </a:pPr>
            <a:r>
              <a:t>Slide 10 of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27432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6B7A89"/>
                </a:solidFill>
                <a:latin typeface="Aptos"/>
              </a:defRPr>
            </a:pPr>
            <a:r>
              <a:t>Enterprise RAG Architecture — Emre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97280"/>
            <a:ext cx="11155680" cy="502920"/>
          </a:xfrm>
          <a:prstGeom prst="roundRect">
            <a:avLst/>
          </a:prstGeom>
          <a:solidFill>
            <a:srgbClr val="FAF2E3"/>
          </a:solidFill>
          <a:ln w="12700">
            <a:solidFill>
              <a:srgbClr val="FAF2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225296"/>
            <a:ext cx="107899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 i="0">
                <a:solidFill>
                  <a:srgbClr val="C4902F"/>
                </a:solidFill>
                <a:latin typeface="Aptos"/>
              </a:defRPr>
            </a:pPr>
            <a:r>
              <a:t>This was not required. I added it because a production-ready design needs capacity planning, not just architecture.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28800"/>
            <a:ext cx="2606040" cy="16916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883664"/>
            <a:ext cx="41148" cy="1581912"/>
          </a:xfrm>
          <a:prstGeom prst="rect">
            <a:avLst/>
          </a:prstGeom>
          <a:solidFill>
            <a:srgbClr val="2EB5BF"/>
          </a:solidFill>
          <a:ln w="12700">
            <a:solidFill>
              <a:srgbClr val="2EB5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" y="192024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2EB5BF"/>
                </a:solidFill>
                <a:latin typeface="Aptos Display"/>
              </a:defRPr>
            </a:pPr>
            <a:r>
              <a:t>Hardware 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2212848"/>
            <a:ext cx="2313432" cy="121615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6× A10G + 4× A100 (self-hosted path).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3 OpenSearch data nodes, 64 GB RAM each.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8 GB Redis with allkeys-lru eviction.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1828800"/>
            <a:ext cx="2606040" cy="16916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55848" y="1883664"/>
            <a:ext cx="41148" cy="1581912"/>
          </a:xfrm>
          <a:prstGeom prst="rect">
            <a:avLst/>
          </a:prstGeom>
          <a:solidFill>
            <a:srgbClr val="0E8784"/>
          </a:solidFill>
          <a:ln w="12700">
            <a:solidFill>
              <a:srgbClr val="0E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20440" y="192024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0E8784"/>
                </a:solidFill>
                <a:latin typeface="Aptos Display"/>
              </a:defRPr>
            </a:pPr>
            <a:r>
              <a:t>Throughput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212848"/>
            <a:ext cx="2313432" cy="121615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Steady state: 6 QPS. Burst: 18 QPS.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Reranker GPU saturates first.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Cache hit rate is the primary throughput lever.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1828800"/>
            <a:ext cx="2606040" cy="16916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08776" y="1883664"/>
            <a:ext cx="41148" cy="1581912"/>
          </a:xfrm>
          <a:prstGeom prst="rect">
            <a:avLst/>
          </a:prstGeom>
          <a:solidFill>
            <a:srgbClr val="C4902F"/>
          </a:solidFill>
          <a:ln w="12700">
            <a:solidFill>
              <a:srgbClr val="C49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192024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C4902F"/>
                </a:solidFill>
                <a:latin typeface="Aptos Display"/>
              </a:defRPr>
            </a:pPr>
            <a:r>
              <a:t>Cost per query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2212848"/>
            <a:ext cx="2313432" cy="121615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Self-hosted Mixtral: ~$0.001/query.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Azure OpenAI GPT-4 Gov: ~$0.21/query.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Self-hosted is ~210× cheaper at volume.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4" y="1828800"/>
            <a:ext cx="2606040" cy="16916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61704" y="1883664"/>
            <a:ext cx="41148" cy="158191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26296" y="1920240"/>
            <a:ext cx="23317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10253E"/>
                </a:solidFill>
                <a:latin typeface="Aptos Display"/>
              </a:defRPr>
            </a:pPr>
            <a:r>
              <a:t>Scaling triggers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6296" y="2212848"/>
            <a:ext cx="2313432" cy="121615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kNN p95 &gt; 120 ms → add OpenSearch node.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Reranker queue &gt; 5 → add A10G.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LLM TTFT p95 &gt; 1200 ms → add replica.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749039"/>
            <a:ext cx="5486400" cy="1508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02920" y="3803903"/>
            <a:ext cx="41148" cy="1399032"/>
          </a:xfrm>
          <a:prstGeom prst="rect">
            <a:avLst/>
          </a:prstGeom>
          <a:solidFill>
            <a:srgbClr val="2EB5BF"/>
          </a:solidFill>
          <a:ln w="12700">
            <a:solidFill>
              <a:srgbClr val="2EB5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7512" y="3840479"/>
            <a:ext cx="5212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2EB5BF"/>
                </a:solidFill>
                <a:latin typeface="Aptos Display"/>
              </a:defRPr>
            </a:pPr>
            <a:r>
              <a:t>Also covered in the supplementary document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4133087"/>
            <a:ext cx="5193792" cy="103327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Request queue depths and timeout policies per pipeline stage.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Circuit breaker patterns for reranker, grader, and kNN.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Ingestion throughput: 2,500 chunks/min, full re-index ~5.5 days.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7 Prometheus/Grafana dashboard panels with alert thresholds.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749039"/>
            <a:ext cx="5486400" cy="1508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172200" y="3803903"/>
            <a:ext cx="41148" cy="1399032"/>
          </a:xfrm>
          <a:prstGeom prst="rect">
            <a:avLst/>
          </a:prstGeom>
          <a:solidFill>
            <a:srgbClr val="0E8784"/>
          </a:solidFill>
          <a:ln w="12700">
            <a:solidFill>
              <a:srgbClr val="0E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36792" y="3840479"/>
            <a:ext cx="5212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 i="0">
                <a:solidFill>
                  <a:srgbClr val="0E8784"/>
                </a:solidFill>
                <a:latin typeface="Aptos Display"/>
              </a:defRPr>
            </a:pPr>
            <a:r>
              <a:t>Why this helps the assessment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4133087"/>
            <a:ext cx="5193792" cy="103327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It turns the design from an architectural answer into an engineering handoff.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Shows that latency, cost, failure modes, and scaling were considered together.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The supplementary document is 530 lines of production-readiness material.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100">
                <a:solidFill>
                  <a:srgbClr val="1A2635"/>
                </a:solidFill>
                <a:latin typeface="Aptos"/>
              </a:defRPr>
            </a:pPr>
            <a:r>
              <a:t>Clearly labelled as voluntary — does not clutter the main answer.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371600" cy="274320"/>
          </a:xfrm>
          <a:prstGeom prst="roundRect">
            <a:avLst/>
          </a:prstGeom>
          <a:solidFill>
            <a:srgbClr val="1E3A56"/>
          </a:solidFill>
          <a:ln w="12700">
            <a:solidFill>
              <a:srgbClr val="1E3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76072" y="210312"/>
            <a:ext cx="122529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2EB5BF"/>
                </a:solidFill>
                <a:latin typeface="Aptos"/>
              </a:defRPr>
            </a:pPr>
            <a:r>
              <a:t>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14400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FFFF"/>
                </a:solidFill>
                <a:latin typeface="Aptos Display"/>
              </a:defRPr>
            </a:pPr>
            <a:r>
              <a:t>What I Delivered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6384"/>
            <a:ext cx="10058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94A8BE"/>
                </a:solidFill>
                <a:latin typeface="Aptos"/>
              </a:defRPr>
            </a:pPr>
            <a:r>
              <a:t>Organized by zone so the reviewer can navigate at summary level or drill into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6B7A89"/>
                </a:solidFill>
                <a:latin typeface="Aptos"/>
              </a:defRPr>
            </a:pPr>
            <a:r>
              <a:t>Slide 11 of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27432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6B7A89"/>
                </a:solidFill>
                <a:latin typeface="Aptos"/>
              </a:defRPr>
            </a:pPr>
            <a:r>
              <a:t>Enterprise RAG Architecture — Emre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3520440" cy="15727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380744"/>
            <a:ext cx="41148" cy="1463040"/>
          </a:xfrm>
          <a:prstGeom prst="rect">
            <a:avLst/>
          </a:prstGeom>
          <a:solidFill>
            <a:srgbClr val="2EB5BF"/>
          </a:solidFill>
          <a:ln w="12700">
            <a:solidFill>
              <a:srgbClr val="2EB5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" y="1417320"/>
            <a:ext cx="32461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2EB5BF"/>
                </a:solidFill>
                <a:latin typeface="Aptos Display"/>
              </a:defRPr>
            </a:pPr>
            <a:r>
              <a:t>Main 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709928"/>
            <a:ext cx="3227832" cy="1097280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Final submission v2 (7,206 words) plus 4 extended module drafts.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325880"/>
            <a:ext cx="3520440" cy="15727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380744"/>
            <a:ext cx="41148" cy="1463040"/>
          </a:xfrm>
          <a:prstGeom prst="rect">
            <a:avLst/>
          </a:prstGeom>
          <a:solidFill>
            <a:srgbClr val="0E8784"/>
          </a:solidFill>
          <a:ln w="12700">
            <a:solidFill>
              <a:srgbClr val="0E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62272" y="1417320"/>
            <a:ext cx="32461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0E8784"/>
                </a:solidFill>
                <a:latin typeface="Aptos Display"/>
              </a:defRPr>
            </a:pPr>
            <a:r>
              <a:t>Technical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1709928"/>
            <a:ext cx="3227832" cy="1097280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5 pseudocode files, 4 architecture diagrams, 4 prompt templates.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325880"/>
            <a:ext cx="3520440" cy="15727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2440" y="1380744"/>
            <a:ext cx="41148" cy="1463040"/>
          </a:xfrm>
          <a:prstGeom prst="rect">
            <a:avLst/>
          </a:prstGeom>
          <a:solidFill>
            <a:srgbClr val="C4902F"/>
          </a:solidFill>
          <a:ln w="12700">
            <a:solidFill>
              <a:srgbClr val="C49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2" y="1417320"/>
            <a:ext cx="32461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C4902F"/>
                </a:solidFill>
                <a:latin typeface="Aptos Display"/>
              </a:defRPr>
            </a:pPr>
            <a:r>
              <a:t>Schemas and config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709928"/>
            <a:ext cx="3227832" cy="1097280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22-field metadata schema, OpenSearch mapping, RBAC model with DLS.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154680"/>
            <a:ext cx="3520440" cy="15727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3209544"/>
            <a:ext cx="41148" cy="1463040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512" y="3246120"/>
            <a:ext cx="32461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10253E"/>
                </a:solidFill>
                <a:latin typeface="Aptos Display"/>
              </a:defRPr>
            </a:pPr>
            <a:r>
              <a:t>Evaluation and 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3538728"/>
            <a:ext cx="3227832" cy="1097280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Metrics matrix, golden test set, CI gate stub, requirements.txt.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3154680"/>
            <a:ext cx="3520440" cy="15727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297680" y="3209544"/>
            <a:ext cx="41148" cy="1463040"/>
          </a:xfrm>
          <a:prstGeom prst="rect">
            <a:avLst/>
          </a:prstGeom>
          <a:solidFill>
            <a:srgbClr val="2EB5BF"/>
          </a:solidFill>
          <a:ln w="12700">
            <a:solidFill>
              <a:srgbClr val="2EB5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62272" y="3246120"/>
            <a:ext cx="32461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2EB5BF"/>
                </a:solidFill>
                <a:latin typeface="Aptos Display"/>
              </a:defRPr>
            </a:pPr>
            <a:r>
              <a:t>Performance add-on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2272" y="3538728"/>
            <a:ext cx="3227832" cy="1097280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530-line resource allocation document with capacity and cost analysis.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3154680"/>
            <a:ext cx="3520440" cy="15727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92440" y="3209544"/>
            <a:ext cx="41148" cy="1463040"/>
          </a:xfrm>
          <a:prstGeom prst="rect">
            <a:avLst/>
          </a:prstGeom>
          <a:solidFill>
            <a:srgbClr val="0E8784"/>
          </a:solidFill>
          <a:ln w="12700">
            <a:solidFill>
              <a:srgbClr val="0E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57032" y="3246120"/>
            <a:ext cx="32461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 i="0">
                <a:solidFill>
                  <a:srgbClr val="0E8784"/>
                </a:solidFill>
                <a:latin typeface="Aptos Display"/>
              </a:defRPr>
            </a:pPr>
            <a:r>
              <a:t>Repository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2" y="3538728"/>
            <a:ext cx="3227832" cy="1097280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200">
                <a:solidFill>
                  <a:srgbClr val="1A2635"/>
                </a:solidFill>
                <a:latin typeface="Aptos"/>
              </a:defRPr>
            </a:pPr>
            <a:r>
              <a:t>4 zones: answer, evidence, eval/ops, reference. README as navigator.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371600" y="5257800"/>
            <a:ext cx="1188720" cy="274320"/>
          </a:xfrm>
          <a:prstGeom prst="roundRect">
            <a:avLst/>
          </a:prstGeom>
          <a:solidFill>
            <a:srgbClr val="E7EDF4"/>
          </a:solidFill>
          <a:ln w="12700">
            <a:solidFill>
              <a:srgbClr val="E7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444752" y="5303520"/>
            <a:ext cx="104241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0253E"/>
                </a:solidFill>
                <a:latin typeface="Aptos"/>
              </a:defRPr>
            </a:pPr>
            <a:r>
              <a:t>Answer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5257800"/>
            <a:ext cx="1325880" cy="274320"/>
          </a:xfrm>
          <a:prstGeom prst="roundRect">
            <a:avLst/>
          </a:prstGeom>
          <a:solidFill>
            <a:srgbClr val="E2F3F3"/>
          </a:solidFill>
          <a:ln w="12700">
            <a:solidFill>
              <a:srgbClr val="E2F3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70632" y="5303520"/>
            <a:ext cx="117957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0E8784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60520" y="5257800"/>
            <a:ext cx="1371600" cy="274320"/>
          </a:xfrm>
          <a:prstGeom prst="roundRect">
            <a:avLst/>
          </a:prstGeom>
          <a:solidFill>
            <a:srgbClr val="FAF2E3"/>
          </a:solidFill>
          <a:ln w="12700">
            <a:solidFill>
              <a:srgbClr val="FAF2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233672" y="5303520"/>
            <a:ext cx="122529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C4902F"/>
                </a:solidFill>
                <a:latin typeface="Aptos"/>
              </a:defRPr>
            </a:pPr>
            <a:r>
              <a:t>Eval &amp; Ops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0" y="5257800"/>
            <a:ext cx="1371600" cy="274320"/>
          </a:xfrm>
          <a:prstGeom prst="roundRect">
            <a:avLst/>
          </a:prstGeom>
          <a:solidFill>
            <a:srgbClr val="E7EDF4"/>
          </a:solidFill>
          <a:ln w="12700">
            <a:solidFill>
              <a:srgbClr val="E7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742432" y="5303520"/>
            <a:ext cx="122529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10253E"/>
                </a:solidFill>
                <a:latin typeface="Aptos"/>
              </a:defRPr>
            </a:pPr>
            <a:r>
              <a:t>Reference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78040" y="5257800"/>
            <a:ext cx="1188720" cy="274320"/>
          </a:xfrm>
          <a:prstGeom prst="roundRect">
            <a:avLst/>
          </a:prstGeom>
          <a:solidFill>
            <a:srgbClr val="FBECEC"/>
          </a:solidFill>
          <a:ln w="12700">
            <a:solidFill>
              <a:srgbClr val="FB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251192" y="5303520"/>
            <a:ext cx="104241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1" i="0">
                <a:solidFill>
                  <a:srgbClr val="BE4242"/>
                </a:solidFill>
                <a:latin typeface="Aptos"/>
              </a:defRPr>
            </a:pPr>
            <a:r>
              <a:t>Internal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5669280"/>
            <a:ext cx="107899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 i="0">
                <a:solidFill>
                  <a:srgbClr val="6B7A89"/>
                </a:solidFill>
                <a:latin typeface="Aptos"/>
              </a:defRPr>
            </a:pPr>
            <a:r>
              <a:t>The reviewer opens README.md, clicks one link to the final submission, and finds everything else one click deeper.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005840" cy="274320"/>
          </a:xfrm>
          <a:prstGeom prst="roundRect">
            <a:avLst/>
          </a:prstGeom>
          <a:solidFill>
            <a:srgbClr val="1E3A56"/>
          </a:solidFill>
          <a:ln w="12700">
            <a:solidFill>
              <a:srgbClr val="1E3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76072" y="210312"/>
            <a:ext cx="859536" cy="146304"/>
          </a:xfrm>
          <a:prstGeom prst="rect">
            <a:avLst/>
          </a:prstGeom>
          <a:noFill/>
        </p:spPr>
        <p:txBody>
          <a:bodyPr wrap="square" lIns="12700" tIns="12700" r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 i="0">
                <a:solidFill>
                  <a:srgbClr val="2EB5BF"/>
                </a:solidFill>
                <a:latin typeface="Aptos"/>
              </a:defRPr>
            </a:pPr>
            <a: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914400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FFFF"/>
                </a:solidFill>
                <a:latin typeface="Aptos Display"/>
              </a:defRPr>
            </a:pPr>
            <a:r>
              <a:t>Closing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6384"/>
            <a:ext cx="10058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0">
                <a:solidFill>
                  <a:srgbClr val="94A8BE"/>
                </a:solidFill>
                <a:latin typeface="Aptos"/>
              </a:defRPr>
            </a:pPr>
            <a:r>
              <a:t>Why this approach produced a strong, defensible assessment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6B7A89"/>
                </a:solidFill>
                <a:latin typeface="Aptos"/>
              </a:defRPr>
            </a:pPr>
            <a:r>
              <a:t>Slide 12 of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27432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6B7A89"/>
                </a:solidFill>
                <a:latin typeface="Aptos"/>
              </a:defRPr>
            </a:pPr>
            <a:r>
              <a:t>Enterprise RAG Architecture — Emre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17320"/>
            <a:ext cx="5166360" cy="14630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1472184"/>
            <a:ext cx="41148" cy="1353312"/>
          </a:xfrm>
          <a:prstGeom prst="rect">
            <a:avLst/>
          </a:prstGeom>
          <a:solidFill>
            <a:srgbClr val="2EB5BF"/>
          </a:solidFill>
          <a:ln w="12700">
            <a:solidFill>
              <a:srgbClr val="2EB5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1508760"/>
            <a:ext cx="48920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2EB5BF"/>
                </a:solidFill>
                <a:latin typeface="Aptos Display"/>
              </a:defRPr>
            </a:pPr>
            <a:r>
              <a:t>Structured AI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1801368"/>
            <a:ext cx="4873752" cy="98755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300">
                <a:solidFill>
                  <a:srgbClr val="1A2635"/>
                </a:solidFill>
                <a:latin typeface="Aptos"/>
              </a:defRPr>
            </a:pPr>
            <a:r>
              <a:t>Five-stage pipeline with different AI tools for decoding, planning, building, reviewing, and hardening.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17320"/>
            <a:ext cx="5166360" cy="14630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472184"/>
            <a:ext cx="41148" cy="1353312"/>
          </a:xfrm>
          <a:prstGeom prst="rect">
            <a:avLst/>
          </a:prstGeom>
          <a:solidFill>
            <a:srgbClr val="0E8784"/>
          </a:solidFill>
          <a:ln w="12700">
            <a:solidFill>
              <a:srgbClr val="0E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82512" y="1508760"/>
            <a:ext cx="48920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0E8784"/>
                </a:solidFill>
                <a:latin typeface="Aptos Display"/>
              </a:defRPr>
            </a:pPr>
            <a:r>
              <a:t>Specific and consistent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1801368"/>
            <a:ext cx="4873752" cy="98755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300">
                <a:solidFill>
                  <a:srgbClr val="1A2635"/>
                </a:solidFill>
                <a:latin typeface="Aptos"/>
              </a:defRPr>
            </a:pPr>
            <a:r>
              <a:t>Every parameter justified. All numbers reconciled across 24+ files after independent agent review.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54680"/>
            <a:ext cx="5166360" cy="14630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3209544"/>
            <a:ext cx="41148" cy="1353312"/>
          </a:xfrm>
          <a:prstGeom prst="rect">
            <a:avLst/>
          </a:prstGeom>
          <a:solidFill>
            <a:srgbClr val="C4902F"/>
          </a:solidFill>
          <a:ln w="12700">
            <a:solidFill>
              <a:srgbClr val="C49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246120"/>
            <a:ext cx="48920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C4902F"/>
                </a:solidFill>
                <a:latin typeface="Aptos Display"/>
              </a:defRPr>
            </a:pPr>
            <a:r>
              <a:t>Security as a first principle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538728"/>
            <a:ext cx="4873752" cy="98755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300">
                <a:solidFill>
                  <a:srgbClr val="1A2635"/>
                </a:solidFill>
                <a:latin typeface="Aptos"/>
              </a:defRPr>
            </a:pPr>
            <a:r>
              <a:t>Pre-retrieval DLS, tier-partitioned cache, mathematical leakage proof — not bolted 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154680"/>
            <a:ext cx="5166360" cy="14630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3209544"/>
            <a:ext cx="41148" cy="1353312"/>
          </a:xfrm>
          <a:prstGeom prst="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82512" y="3246120"/>
            <a:ext cx="48920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 i="0">
                <a:solidFill>
                  <a:srgbClr val="10253E"/>
                </a:solidFill>
                <a:latin typeface="Aptos Display"/>
              </a:defRPr>
            </a:pPr>
            <a:r>
              <a:t>Production-grade thinking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3538728"/>
            <a:ext cx="4873752" cy="98755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>
              <a:spcBef>
                <a:spcPts val="300"/>
              </a:spcBef>
              <a:spcAft>
                <a:spcPts val="100"/>
              </a:spcAft>
              <a:defRPr sz="1300">
                <a:solidFill>
                  <a:srgbClr val="1A2635"/>
                </a:solidFill>
                <a:latin typeface="Aptos"/>
              </a:defRPr>
            </a:pPr>
            <a:r>
              <a:t>Latency budgets, scaling triggers, cost per query, CI gates, and monitoring dashboards.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166360"/>
            <a:ext cx="10789920" cy="777240"/>
          </a:xfrm>
          <a:prstGeom prst="roundRect">
            <a:avLst/>
          </a:prstGeom>
          <a:solidFill>
            <a:srgbClr val="10253E"/>
          </a:solidFill>
          <a:ln w="12700">
            <a:solidFill>
              <a:srgbClr val="102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" y="5303520"/>
            <a:ext cx="104241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 i="0">
                <a:solidFill>
                  <a:srgbClr val="FFFFFF"/>
                </a:solidFill>
                <a:latin typeface="Aptos"/>
              </a:defRPr>
            </a:pPr>
            <a:r>
              <a:t>The design is conservative where the risk is highest, specific where the brief asked for exact settings,</a:t>
            </a:r>
            <a:br/>
            <a:r>
              <a:t>and built through a multi-agent process that caught its own mistakes before the reviewer could.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13</Slides>
  <Notes>12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77</cp:revision>
  <dcterms:created xsi:type="dcterms:W3CDTF">2013-01-27T09:14:16Z</dcterms:created>
  <dcterms:modified xsi:type="dcterms:W3CDTF">2026-04-13T15:14:52Z</dcterms:modified>
  <cp:category/>
</cp:coreProperties>
</file>