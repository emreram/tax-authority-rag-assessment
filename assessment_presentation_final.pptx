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this is not just a technical assessment answer — it is a demonstration of</a:t>
            </a:r>
          </a:p>
          <a:p>
            <a:r>
              <a:t>how a senior engineer uses AI agents as a structured support system to produce</a:t>
            </a:r>
          </a:p>
          <a:p>
            <a:r>
              <a:t>work that is specific, consistent,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four modules briefly. The point is not to go deep yet — that comes later.</a:t>
            </a:r>
          </a:p>
          <a:p>
            <a:r>
              <a:t>Emphasize the hidden criteria: the assessment is not just about knowing RAG.</a:t>
            </a:r>
          </a:p>
          <a:p>
            <a:r>
              <a:t>It tests whether you can make specific, justified, production-grade decisions.</a:t>
            </a:r>
          </a:p>
          <a:p>
            <a:r>
              <a:t>End by teasing the multi-agent workflow: decode → build → review → harden.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for the AI-process story.</a:t>
            </a:r>
          </a:p>
          <a:p>
            <a:r>
              <a:t>Walk through the five stages quickly, emphasizing that each tool was chosen for its strength.</a:t>
            </a:r>
          </a:p>
          <a:p>
            <a:r>
              <a:t>The bottom row explains the WHY: multiple perspectives prevent blind spots.</a:t>
            </a:r>
          </a:p>
          <a:p>
            <a:r>
              <a:t>End on the quality loop — the Hermes agent and ChatGPT scoring caught real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this was the first strategic decision: using ChatGPT 5.4 to decode</a:t>
            </a:r>
          </a:p>
          <a:p>
            <a:r>
              <a:t>the brief before writing a single line. The output was not an answer — it was</a:t>
            </a:r>
          </a:p>
          <a:p>
            <a:r>
              <a:t>a research brief that made the build phase faster and more targeted.</a:t>
            </a:r>
          </a:p>
          <a:p>
            <a:r>
              <a:t>Highlight the specific insights: Module 3 weight, RBAC math trap, cache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this slide is that planning was a separate, deliberate step — not</a:t>
            </a:r>
          </a:p>
          <a:p>
            <a:r>
              <a:t>just diving into writing. Claude Code's plan mode enforced structure.</a:t>
            </a:r>
          </a:p>
          <a:p>
            <a:r>
              <a:t>Highlight the specific decisions that were locked, and the build order rationale.</a:t>
            </a:r>
          </a:p>
          <a:p>
            <a:r>
              <a:t>The bottom card shows the payoff: no orphan references, no TODO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volume of what was produced, but emphasize the process over the output.</a:t>
            </a:r>
          </a:p>
          <a:p>
            <a:r>
              <a:t>The stat cards show scale. The bottom card shows discipline: cross-file</a:t>
            </a:r>
          </a:p>
          <a:p>
            <a:r>
              <a:t>verification after every step. This is what makes AI-assisted work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critical for the AI story. Two independent agents reviewed</a:t>
            </a:r>
          </a:p>
          <a:p>
            <a:r>
              <a:t>the work from different angles. ChatGPT was quantitative and strict.</a:t>
            </a:r>
          </a:p>
          <a:p>
            <a:r>
              <a:t>Hermes was qualitative and pedagogical. The combination found more issues</a:t>
            </a:r>
          </a:p>
          <a:p>
            <a:r>
              <a:t>than either alone would have.</a:t>
            </a:r>
          </a:p>
          <a:p>
            <a:r>
              <a:t>Highlight that neither agent had access to the build history — pure output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categories of fixes quickly.</a:t>
            </a:r>
          </a:p>
          <a:p>
            <a:r>
              <a:t>The point is that every issue raised by the two review agents was addressed —</a:t>
            </a:r>
          </a:p>
          <a:p>
            <a:r>
              <a:t>not just acknowledged but fixed and verified.</a:t>
            </a:r>
          </a:p>
          <a:p>
            <a:r>
              <a:t>The result is a cleaner, shorter, more defensible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global architecture summary. Don't go deep — just show the choices exist</a:t>
            </a:r>
          </a:p>
          <a:p>
            <a:r>
              <a:t>and that they are specific. The audience can drill into the submission for detail.</a:t>
            </a:r>
          </a:p>
          <a:p>
            <a:r>
              <a:t>Name every model with its full identifier. Hit the security proof and TTFT budget</a:t>
            </a:r>
          </a:p>
          <a:p>
            <a:r>
              <a:t>in the bottom bar because those are the assessment's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optional value-add. Keep it brief.</a:t>
            </a:r>
          </a:p>
          <a:p>
            <a:r>
              <a:t>The point is that the design can survive contact with real operational constraints.</a:t>
            </a:r>
          </a:p>
          <a:p>
            <a:r>
              <a:t>Mention the 530-line supplementary document but don't dive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list file names. Describe deliverables by category and purpose.</a:t>
            </a:r>
          </a:p>
          <a:p>
            <a:r>
              <a:t>Show the zone chips to visualize the repo structure.</a:t>
            </a:r>
          </a:p>
          <a:p>
            <a:r>
              <a:t>The bottom sentence is the key: evaluator-friendly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four words: structured, specific, secure, production-grade.</a:t>
            </a:r>
          </a:p>
          <a:p>
            <a:r>
              <a:t>The final banner sentence is the last thing before questions.</a:t>
            </a:r>
          </a:p>
          <a:p>
            <a:r>
              <a:t>If time permits, invite discussion on the AI workflow specifically —</a:t>
            </a:r>
          </a:p>
          <a:p>
            <a:r>
              <a:t>that is the most distinctive part of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822960"/>
            <a:ext cx="2011680" cy="2011680"/>
          </a:xfrm>
          <a:prstGeom prst="ellipse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2103120"/>
            <a:ext cx="1371600" cy="1371600"/>
          </a:xfrm>
          <a:prstGeom prst="ellipse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931920"/>
            <a:ext cx="2286000" cy="2286000"/>
          </a:xfrm>
          <a:prstGeom prst="ellipse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646920" y="1828800"/>
            <a:ext cx="777240" cy="1005840"/>
          </a:xfrm>
          <a:prstGeom prst="line">
            <a:avLst/>
          </a:prstGeom>
          <a:ln w="20320">
            <a:solidFill>
              <a:srgbClr val="94C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326880" y="2834640"/>
            <a:ext cx="1097280" cy="1828800"/>
          </a:xfrm>
          <a:prstGeom prst="line">
            <a:avLst/>
          </a:prstGeom>
          <a:ln w="20320">
            <a:solidFill>
              <a:srgbClr val="94C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731520"/>
            <a:ext cx="2011680" cy="274320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E2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777240"/>
            <a:ext cx="186537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E8784"/>
                </a:solidFill>
                <a:latin typeface="Aptos"/>
              </a:defRPr>
            </a:pPr>
            <a:r>
              <a:t>ASSESSMENT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0253E"/>
                </a:solidFill>
                <a:latin typeface="Aptos Display"/>
              </a:defRPr>
            </a:pPr>
            <a:r>
              <a:t>Enterprise RAG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E8784"/>
                </a:solidFill>
                <a:latin typeface="Aptos Display"/>
              </a:defRPr>
            </a:pPr>
            <a:r>
              <a:t>Dutch National Tax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5176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B7A89"/>
                </a:solidFill>
                <a:latin typeface="Aptos"/>
              </a:defRPr>
            </a:pPr>
            <a:r>
              <a:t>How I used AI agents to design, build, review, and harden</a:t>
            </a:r>
            <a:br/>
            <a:r>
              <a:t>a Lead AI Engineer assessment submission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74720"/>
            <a:ext cx="47548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2286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53E"/>
                </a:solidFill>
                <a:latin typeface="Aptos"/>
              </a:defRPr>
            </a:pPr>
            <a:r>
              <a:t>Prepared by Emre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3192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Lead AI Engineer — Technical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94760"/>
            <a:ext cx="13716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E8784"/>
                </a:solidFill>
                <a:latin typeface="Aptos"/>
              </a:defRPr>
            </a:pPr>
            <a:r>
              <a:t>April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12080"/>
            <a:ext cx="1645920" cy="274320"/>
          </a:xfrm>
          <a:prstGeom prst="roundRect">
            <a:avLst/>
          </a:prstGeom>
          <a:solidFill>
            <a:srgbClr val="E7EDF4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5257800"/>
            <a:ext cx="149961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0253E"/>
                </a:solidFill>
                <a:latin typeface="Aptos"/>
              </a:defRPr>
            </a:pPr>
            <a:r>
              <a:t>AI-assisted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212080"/>
            <a:ext cx="1280160" cy="274320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E2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5257800"/>
            <a:ext cx="113385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E8784"/>
                </a:solidFill>
                <a:latin typeface="Aptos"/>
              </a:defRPr>
            </a:pPr>
            <a:r>
              <a:t>5-stage process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5212080"/>
            <a:ext cx="1554480" cy="274320"/>
          </a:xfrm>
          <a:prstGeom prst="roundRect">
            <a:avLst/>
          </a:prstGeom>
          <a:solidFill>
            <a:srgbClr val="FAF2E3"/>
          </a:solidFill>
          <a:ln w="12700">
            <a:solidFill>
              <a:srgbClr val="FA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5257800"/>
            <a:ext cx="140817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C4902F"/>
                </a:solidFill>
                <a:latin typeface="Aptos"/>
              </a:defRPr>
            </a:pPr>
            <a:r>
              <a:t>Multi-agent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6692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ChatGPT 5.4 · Claude Code · Hermes Agent · Manual hardening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37160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122529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What the Assessment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Four modules covering ingestion, retrieval, agentic RAG, and production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2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60604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226771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B5BF"/>
                </a:solidFill>
                <a:latin typeface="Aptos Display"/>
              </a:defRPr>
            </a:pPr>
            <a:r>
              <a:t>Module 1: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2313432" cy="19019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Structure-aware chunking for legal docs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22-field metadata schema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Vector DB for 500K docs / 20M+ chunks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Exact HNSW and quantization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25880"/>
            <a:ext cx="260604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380744"/>
            <a:ext cx="41148" cy="226771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E8784"/>
                </a:solidFill>
                <a:latin typeface="Aptos Display"/>
              </a:defRPr>
            </a:pPr>
            <a:r>
              <a:t>Module 2: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709928"/>
            <a:ext cx="2313432" cy="19019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Hybrid BM25 + dense retrieval design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RRF vs alpha-blending decision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Reranking model selection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Top-K cascade with justification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25880"/>
            <a:ext cx="260604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380744"/>
            <a:ext cx="41148" cy="226771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02F"/>
                </a:solidFill>
                <a:latin typeface="Aptos Display"/>
              </a:defRPr>
            </a:pPr>
            <a:r>
              <a:t>Module 3: Agentic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1709928"/>
            <a:ext cx="2313432" cy="19019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Query decomposition and HyDE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LangGraph CRAG state machine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Retrieval grader implementation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Fallback actions for each grading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325880"/>
            <a:ext cx="260604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80744"/>
            <a:ext cx="41148" cy="226771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53E"/>
                </a:solidFill>
                <a:latin typeface="Aptos Display"/>
              </a:defRPr>
            </a:pPr>
            <a:r>
              <a:t>Module 4: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709928"/>
            <a:ext cx="2313432" cy="19019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Semantic cache with safe threshold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RBAC: where and how, with math proof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CI/CD evaluation gates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Exact Faithfulness and Precision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31920"/>
            <a:ext cx="1147572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86784"/>
            <a:ext cx="41148" cy="1216152"/>
          </a:xfrm>
          <a:prstGeom prst="rect">
            <a:avLst/>
          </a:prstGeom>
          <a:solidFill>
            <a:srgbClr val="BE4242"/>
          </a:solidFill>
          <a:ln w="12700">
            <a:solidFill>
              <a:srgbClr val="B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023360"/>
            <a:ext cx="11201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BE4242"/>
                </a:solidFill>
                <a:latin typeface="Aptos Display"/>
              </a:defRPr>
            </a:pPr>
            <a:r>
              <a:t>The hidden evaluation criteria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315968"/>
            <a:ext cx="11183112" cy="8503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Specificity over generality — exact HNSW params, exact thresholds, exact top-k values. Vague answers fail.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Security-first thinking — RBAC enforced at the database level, not as an afterthought.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Production awareness — latency budgets, OOM prevention, quantization math. Not just “it works.”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Legal domain understanding — hierarchical versioned documents, ECLI references, Dutch tax specifics.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32120"/>
            <a:ext cx="11475720" cy="658368"/>
          </a:xfrm>
          <a:prstGeom prst="roundRect">
            <a:avLst/>
          </a:prstGeom>
          <a:solidFill>
            <a:srgbClr val="E7EDF4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687568"/>
            <a:ext cx="10972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0253E"/>
                </a:solidFill>
                <a:latin typeface="Aptos"/>
              </a:defRPr>
            </a:pPr>
            <a:r>
              <a:t>My approach: decode the brief with one AI, build with another, review with a third, then harden the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My AI-Assisted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Five stages from decoding to delivery, each using the right AI tool for the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3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965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27048"/>
            <a:ext cx="174650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EB5BF"/>
                </a:solidFill>
                <a:latin typeface="Aptos Display"/>
              </a:defRPr>
            </a:pPr>
            <a:r>
              <a:t>1. 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56232"/>
            <a:ext cx="1746504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ChatGPT 5.4</a:t>
            </a:r>
            <a:br/>
            <a:r>
              <a:t>Extended 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8288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EB5B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17320"/>
            <a:ext cx="1965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527048"/>
            <a:ext cx="174650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E8784"/>
                </a:solidFill>
                <a:latin typeface="Aptos Display"/>
              </a:defRPr>
            </a:pPr>
            <a:r>
              <a:t>2.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1856232"/>
            <a:ext cx="1746504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Claude Code</a:t>
            </a:r>
            <a:br/>
            <a:r>
              <a:t>Plan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8288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E878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417320"/>
            <a:ext cx="1965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527048"/>
            <a:ext cx="174650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4902F"/>
                </a:solidFill>
                <a:latin typeface="Aptos Display"/>
              </a:defRPr>
            </a:pPr>
            <a:r>
              <a:t>3.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856232"/>
            <a:ext cx="1746504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Claude Code</a:t>
            </a:r>
            <a:br/>
            <a:r>
              <a:t>Sub-agents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8288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02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417320"/>
            <a:ext cx="1965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1527048"/>
            <a:ext cx="174650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BE4242"/>
                </a:solidFill>
                <a:latin typeface="Aptos Display"/>
              </a:defRPr>
            </a:pPr>
            <a:r>
              <a:t>4.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1856232"/>
            <a:ext cx="1746504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ChatGPT 5.4 +</a:t>
            </a:r>
            <a:br/>
            <a:r>
              <a:t>Hermes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18288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BE42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417320"/>
            <a:ext cx="1965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1527048"/>
            <a:ext cx="174650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53E"/>
                </a:solidFill>
                <a:latin typeface="Aptos Display"/>
              </a:defRPr>
            </a:pPr>
            <a:r>
              <a:t>5. Harden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1856232"/>
            <a:ext cx="1746504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7A89"/>
                </a:solidFill>
                <a:latin typeface="Aptos"/>
              </a:defRPr>
            </a:pPr>
            <a:r>
              <a:t>Claude Code</a:t>
            </a:r>
            <a:br/>
            <a:r>
              <a:t>Feedback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926080"/>
            <a:ext cx="3520440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2980944"/>
            <a:ext cx="41148" cy="167335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0175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E8784"/>
                </a:solidFill>
                <a:latin typeface="Aptos Display"/>
              </a:defRPr>
            </a:pPr>
            <a:r>
              <a:t>Why multiple AI tools?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3310128"/>
            <a:ext cx="3227832" cy="1307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Each tool has a different strength.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ChatGPT 5.4 extended thinking is strong for deep analysis and scoring.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Claude Code excels at structured code generation and plan execution.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The Hermes agent provided independent teacher-style feedback.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No single AI saw the full picture uncritically.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926080"/>
            <a:ext cx="3520440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2980944"/>
            <a:ext cx="41148" cy="167335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30175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02F"/>
                </a:solidFill>
                <a:latin typeface="Aptos Display"/>
              </a:defRPr>
            </a:pPr>
            <a:r>
              <a:t>What this produced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3310128"/>
            <a:ext cx="3227832" cy="1307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24+ files across schemas, pseudocode, diagrams, and prompts.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A 7,206-word final submission (cut from 10,700 after review).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3 JSON schemas, 5 pseudocode components, 4 architecture diagrams.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CI/CD gate stub, golden test set, requirements.txt.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A supplementary performance deep-dive (530 extra lines).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2926080"/>
            <a:ext cx="3749039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2980944"/>
            <a:ext cx="41148" cy="1673352"/>
          </a:xfrm>
          <a:prstGeom prst="rect">
            <a:avLst/>
          </a:prstGeom>
          <a:solidFill>
            <a:srgbClr val="BE4242"/>
          </a:solidFill>
          <a:ln w="12700">
            <a:solidFill>
              <a:srgbClr val="B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3017520"/>
            <a:ext cx="3474719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BE4242"/>
                </a:solidFill>
                <a:latin typeface="Aptos Display"/>
              </a:defRPr>
            </a:pPr>
            <a:r>
              <a:t>The quality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310128"/>
            <a:ext cx="3456431" cy="1307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Stage 4 found contradictions, overclaims, and consistency gaps.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ChatGPT 5.4 scored the first version at 8/10 with specific deductions.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Hermes agent gave teacher-style feedback on tone and structure.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Stage 5 fixed every issue: numbers reconciled, claims softened, v2 written.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983480"/>
            <a:ext cx="11155680" cy="658368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E2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138928"/>
            <a:ext cx="10789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E8784"/>
                </a:solidFill>
                <a:latin typeface="Aptos"/>
              </a:defRPr>
            </a:pPr>
            <a:r>
              <a:t>Key principle: AI accelerated every stage, but the final decisions were resolved through cross-checking, not blind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Stage 1: Decoding the Brief with ChatGPT 5.4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Extended thinking to understand what the assessment is really grading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4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0352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217627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EB5BF"/>
                </a:solidFill>
                <a:latin typeface="Aptos Display"/>
              </a:defRPr>
            </a:pPr>
            <a:r>
              <a:t>What I asked ChatGPT 5.4 to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5010912" cy="181051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Used extended thinking mode with a focused prompt: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“Deeply research this assignment and give me a master prompt for Claude Code.”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Goal 1: understand how AI perceives the hidden evaluation criteria.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Goal 2: produce a structured starting prompt for the build agent.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This was strategic delegation — using one AI's analytical strength to brief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566928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80744"/>
            <a:ext cx="41148" cy="217627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417320"/>
            <a:ext cx="5394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4902F"/>
                </a:solidFill>
                <a:latin typeface="Aptos Display"/>
              </a:defRPr>
            </a:pPr>
            <a:r>
              <a:t>What it produced: the Master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709928"/>
            <a:ext cx="5376672" cy="181051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Assessment decoding — hidden grading criteria, difficulty ranking per module.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15 locked decisions with exact values (m=16, k=60, 0.97 threshold).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12 prioritized deliverables with mandatory/optional flags.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10 failure modes with “why bad + how to avoid + stronger answer” for each.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6 rejected alternatives with specific technical reasons.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A 5-hour execution plan with human-vs-AI split per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11155680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95344"/>
            <a:ext cx="41148" cy="126187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31920"/>
            <a:ext cx="10881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53E"/>
                </a:solidFill>
                <a:latin typeface="Aptos Display"/>
              </a:defRPr>
            </a:pPr>
            <a:r>
              <a:t>Why this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224528"/>
            <a:ext cx="10863072" cy="89611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The decoding step surfaced things I would not have prioritized on my own: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Module 3 (CRAG) carries 35% of the evaluator's impression — it needed the most investment.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The RBAC question is a mathematical trap — the assessment expects a probability proof, not just a policy statement.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The cache threshold question tests whether you understand that near-misses in fiscal data are catastrophic, not merely suboptimal.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Starting with this analysis meant every subsequent build step was aimed at the right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Stage 2: Planning with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Plan mode turned the decoded brief into a structured, executable work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5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65760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208483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3383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E8784"/>
                </a:solidFill>
                <a:latin typeface="Aptos Display"/>
              </a:defRPr>
            </a:pPr>
            <a:r>
              <a:t>How Claude Code plan mode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3364992" cy="17190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Fed the ChatGPT 5.4 master plan as input.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Claude Code entered plan mode — no code yet, only structure.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Produced a 12-section plan covering every module.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Defined the repo structure (25+ files) and build order.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Locked 15 decisions before writing any prose.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61188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80744"/>
            <a:ext cx="41148" cy="208483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417320"/>
            <a:ext cx="3337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02F"/>
                </a:solidFill>
                <a:latin typeface="Aptos Display"/>
              </a:defRPr>
            </a:pPr>
            <a:r>
              <a:t>Key decisions locked in the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709928"/>
            <a:ext cx="3319272" cy="17190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OpenSearch 2.15+ for unified search + DLS.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HNSW: m=16, ef_construction=256, ef_search=128.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Hybrid fusion: RRF with k=60 (not alpha blending).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Reranker: BAAI/bge-reranker-v2-m3 (self-hosted).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Embedding: intfloat/multilingual-e5-large (1024-dim).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Cache threshold: cosine ≥ 0.97.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LLM: Mixtral 8x22B via vLLM (self-hosted).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5204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80744"/>
            <a:ext cx="41148" cy="208483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173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B5BF"/>
                </a:solidFill>
                <a:latin typeface="Aptos Display"/>
              </a:defRPr>
            </a:pPr>
            <a:r>
              <a:t>Build order (hardest first)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09928"/>
            <a:ext cx="3227832" cy="17190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Step 1: Schemas (metadata, OpenSearch mapping, RBAC).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Step 2: Module 1 + Module 3 pseudocode (hardest).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Step 3: Module 2 retrieval + Module 4 cache.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Step 4: All 4 architecture diagrams.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Step 5: Module drafts + final submission assembly.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This order respected dependencies and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111556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03903"/>
            <a:ext cx="41148" cy="13075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840479"/>
            <a:ext cx="10881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53E"/>
                </a:solidFill>
                <a:latin typeface="Aptos Display"/>
              </a:defRPr>
            </a:pPr>
            <a:r>
              <a:t>What planning prevented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133087"/>
            <a:ext cx="10863072" cy="9418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Without planning, I would have started writing Module 1 prose immediately — the easiest but least impactful work.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The plan forced me to build schemas and pseudocode first, so every draft could reference concrete artifacts.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It also surfaced cross-file dependencies: the CRAG state machine imports retrieval functions, so retrieval must exist first.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Result: zero placeholder TODOs in the final submission. Every reference resolves to a real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Stage 3: Building with Claude Code Sub-Agents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Structured artifact generation across schemas, pseudocode, diagrams, and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6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60604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190195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B5BF"/>
                </a:solidFill>
                <a:latin typeface="Aptos Display"/>
              </a:defRPr>
            </a:pPr>
            <a:r>
              <a:t>Schemas (3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2313432" cy="15361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chunk_metadata.json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opensearch_index_mapping.json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rbac_roles.json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25880"/>
            <a:ext cx="260604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380744"/>
            <a:ext cx="41148" cy="190195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E8784"/>
                </a:solidFill>
                <a:latin typeface="Aptos Display"/>
              </a:defRPr>
            </a:pPr>
            <a:r>
              <a:t>Pseudocode (5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709928"/>
            <a:ext cx="2313432" cy="15361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module1_ingestion.py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module3_crag_statemachine.py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module3_grader.py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module2_retrieval.py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module4_cache.py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25880"/>
            <a:ext cx="260604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380744"/>
            <a:ext cx="41148" cy="190195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02F"/>
                </a:solidFill>
                <a:latin typeface="Aptos Display"/>
              </a:defRPr>
            </a:pPr>
            <a:r>
              <a:t>Diagrams (4 files)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1709928"/>
            <a:ext cx="2313432" cy="15361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architecture_overview.md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retrieval_flow.md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crag_state_machine.md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security_model.md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325880"/>
            <a:ext cx="260604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80744"/>
            <a:ext cx="41148" cy="190195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41732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53E"/>
                </a:solidFill>
                <a:latin typeface="Aptos Display"/>
              </a:defRPr>
            </a:pPr>
            <a:r>
              <a:t>Prompts (4 files)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709928"/>
            <a:ext cx="2313432" cy="15361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grader_prompt.txt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generator_system_prompt.txt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hyde_prompt.txt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decomposition_prompt.txt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566160"/>
            <a:ext cx="18288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3931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E8784"/>
                </a:solidFill>
                <a:latin typeface="Aptos Display"/>
              </a:defRPr>
            </a:pPr>
            <a:r>
              <a:t>4,233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7A89"/>
                </a:solidFill>
                <a:latin typeface="Aptos"/>
              </a:defRPr>
            </a:pPr>
            <a:r>
              <a:t>Pseudocode 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3566160"/>
            <a:ext cx="18288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363931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C4902F"/>
                </a:solidFill>
                <a:latin typeface="Aptos Display"/>
              </a:defRPr>
            </a:pPr>
            <a:r>
              <a:t>1,398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7A89"/>
                </a:solidFill>
                <a:latin typeface="Aptos"/>
              </a:defRPr>
            </a:pPr>
            <a:r>
              <a:t>Diagram lines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566160"/>
            <a:ext cx="18288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63931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2EB5BF"/>
                </a:solidFill>
                <a:latin typeface="Aptos Display"/>
              </a:defRPr>
            </a:pPr>
            <a:r>
              <a:t>24+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7A89"/>
                </a:solidFill>
                <a:latin typeface="Aptos"/>
              </a:defRPr>
            </a:pPr>
            <a:r>
              <a:t>Total files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66160"/>
            <a:ext cx="18288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63931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0253E"/>
                </a:solidFill>
                <a:latin typeface="Aptos Display"/>
              </a:defRPr>
            </a:pPr>
            <a:r>
              <a:t>7,206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7A89"/>
                </a:solidFill>
                <a:latin typeface="Aptos"/>
              </a:defRPr>
            </a:pPr>
            <a:r>
              <a:t>Submission words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3566160"/>
            <a:ext cx="18288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63931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E8784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7A89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3566160"/>
            <a:ext cx="18288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363931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C4902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7A89"/>
                </a:solidFill>
                <a:latin typeface="Aptos"/>
              </a:defRPr>
            </a:pPr>
            <a:r>
              <a:t>Build steps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709160"/>
            <a:ext cx="111556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764024"/>
            <a:ext cx="41148" cy="121615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800600"/>
            <a:ext cx="10881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B5BF"/>
                </a:solidFill>
                <a:latin typeface="Aptos Display"/>
              </a:defRPr>
            </a:pPr>
            <a:r>
              <a:t>How sub-agents worked in practice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5093208"/>
            <a:ext cx="10863072" cy="8503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Claude Code executed each step of the plan as a focused sub-task with clear inputs and outputs.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Each step verified cross-file consistency before moving on (function signatures, field names, constant values).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After Step 2: verified ChunkMetadata fields match between ingestion and CRAG state machine.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After Step 4: verified all diagram function names match the actual pseudocode exports.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This incremental verification prevented the cascading inconsistencies that AI-generated code normally suffers from.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Stage 4: Quality Control with External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Independent scoring from ChatGPT 5.4 and teacher-style feedback from Hermes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7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86400" cy="2743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263347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5212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B5BF"/>
                </a:solidFill>
                <a:latin typeface="Aptos Display"/>
              </a:defRPr>
            </a:pPr>
            <a:r>
              <a:t>ChatGPT 5.4 Extended Thinking — Strict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5193792" cy="226771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Reviewed every file in the repository against the assessment brief.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Scored the submission at 86% complete, rated 8/10.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Per-module scores: M1 88%, M2 92%, M3 80%, M4 84%.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Top issues found: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Internal contradictions (14 vs 22 metadata fields across files).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Memory sizing inconsistency (SQ8 vs fp16 not settled).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Retry/TTFT math contradiction (1450 ms “within budget” vs 2030 ms “over budget”).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CI/evaluation claims without supporting artifacts.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RRF narrative vs non-RRF active config in the OpenSearch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486400" cy="2743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80744"/>
            <a:ext cx="41148" cy="2633472"/>
          </a:xfrm>
          <a:prstGeom prst="rect">
            <a:avLst/>
          </a:prstGeom>
          <a:solidFill>
            <a:srgbClr val="BE4242"/>
          </a:solidFill>
          <a:ln w="12700">
            <a:solidFill>
              <a:srgbClr val="B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417320"/>
            <a:ext cx="5212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BE4242"/>
                </a:solidFill>
                <a:latin typeface="Aptos Display"/>
              </a:defRPr>
            </a:pPr>
            <a:r>
              <a:t>Hermes Agent — Teacher-Style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09928"/>
            <a:ext cx="5193792" cy="226771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Independent review using a teacher/interviewer persona.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Verdict: “strong technically, medium on communication efficiency.”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What the agent praised: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Real decisions (not hiding behind vague options).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Security reasoning above average.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Domain awareness (Dutch legal, ECLI, temporal versioning).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What the agent flagged: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Main answer too long (10.7K words, reviewer fatigue).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Performative tone (“most candidates will…”, “crown jewel”).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• Grader rule too blunt (one-size-fits-all ≥3 chunks).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97680"/>
            <a:ext cx="111556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352544"/>
            <a:ext cx="41148" cy="121615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389120"/>
            <a:ext cx="10881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02F"/>
                </a:solidFill>
                <a:latin typeface="Aptos Display"/>
              </a:defRPr>
            </a:pPr>
            <a:r>
              <a:t>Why external review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681728"/>
            <a:ext cx="10863072" cy="8503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Neither agent had seen the build process. They reviewed the output cold, like an assessor would.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Their feedback overlapped on the biggest risk: internal contradictions hurt credibility more than missing features.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The Hermes agent caught tone issues that ChatGPT did not flag, and ChatGPT caught quantitative inconsistencies that Hermes did not.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Together they produced a comprehensive improvement list that became the input for Stage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Harden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Stage 5: Hardening the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Every feedback item addressed — contradictions fixed, claims softened, v2 written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8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40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181051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5166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EB5BF"/>
                </a:solidFill>
                <a:latin typeface="Aptos Display"/>
              </a:defRPr>
            </a:pPr>
            <a:r>
              <a:t>Contradictions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5148072" cy="14447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14 fields → 22 fields (matched actual schema).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SQ8 ~60 GB → fp16 ~61 GB primary, SQ8 ~31 GB fallback.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Retry TTFT: corrected to ~2030 ms (over budget but rare).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RRF made the active OpenSearch pipeline config.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440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80744"/>
            <a:ext cx="41148" cy="181051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17320"/>
            <a:ext cx="5166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E8784"/>
                </a:solidFill>
                <a:latin typeface="Aptos Display"/>
              </a:defRPr>
            </a:pPr>
            <a:r>
              <a:t>Submission rewritten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09928"/>
            <a:ext cx="5148072" cy="14447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10,700 words → 7,206 words (33% reduction).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Added Quick Answers Sheet at the top.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Removed all performative language.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Query-type-aware grader thresholds added.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5440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29584"/>
            <a:ext cx="41148" cy="181051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566160"/>
            <a:ext cx="5166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02F"/>
                </a:solidFill>
                <a:latin typeface="Aptos Display"/>
              </a:defRPr>
            </a:pPr>
            <a:r>
              <a:t>Artifacts added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858768"/>
            <a:ext cx="5148072" cy="14447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requirements.txt — full Python dependency list.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.github/workflows/eval_gate.yml — CI/CD stub.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eval/golden_test_set_spec.json — 5-entry sample.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Hallucination claim qualified to “fail-closed.”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40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29584"/>
            <a:ext cx="41148" cy="181051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566160"/>
            <a:ext cx="5166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53E"/>
                </a:solidFill>
                <a:latin typeface="Aptos Display"/>
              </a:defRPr>
            </a:pPr>
            <a:r>
              <a:t>Repository reorganized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858768"/>
            <a:ext cx="5148072" cy="14447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4 clear zones: answer, evidence, eval/ops, reference.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README.md rewritten as delivery navigator.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Deprecated v1 moved to internal/.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Evaluator path: README → final_submission_v2.md.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The Architecture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Core design choices across all four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9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66420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545336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User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600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E878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1417320"/>
            <a:ext cx="166420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3" y="1545336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API + OIDC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1" y="1600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E878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8" y="1417320"/>
            <a:ext cx="166420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2" y="1545336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Redis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0" y="1600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E878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7" y="1417320"/>
            <a:ext cx="166420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1" y="1545336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CRAG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49" y="1600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E878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996" y="1417320"/>
            <a:ext cx="166420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0" y="1545336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Hybrid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68" y="1600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E878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15" y="1417320"/>
            <a:ext cx="166420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79" y="1545336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Cited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28600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340864"/>
            <a:ext cx="41148" cy="107899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3774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EB5BF"/>
                </a:solidFill>
                <a:latin typeface="Aptos Display"/>
              </a:defRPr>
            </a:pPr>
            <a:r>
              <a:t>OpenSearch 2.15+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267004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Unified dense + sparse search with native document-level 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228600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5848" y="2340864"/>
            <a:ext cx="41148" cy="107899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23774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E8784"/>
                </a:solidFill>
                <a:latin typeface="Aptos Display"/>
              </a:defRPr>
            </a:pPr>
            <a:r>
              <a:t>Structure-aware chunking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267004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Split on Dutch legal boundaries; 22-field metadata; deterministic chunk IDs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228600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8776" y="2340864"/>
            <a:ext cx="41148" cy="107899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23774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4902F"/>
                </a:solidFill>
                <a:latin typeface="Aptos Display"/>
              </a:defRPr>
            </a:pPr>
            <a:r>
              <a:t>Hybrid retrieval + RRF k=60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267004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Three paths: exact-ID, BM25 top-20, kNN top-20 → 40 fused → 8 reranked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1704" y="228600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61704" y="2340864"/>
            <a:ext cx="41148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3774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BAAI/bge-reranker-v2-m3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7004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Self-hosted multilingual cross-encoder; Cohere rejected for data sovereignty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70332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3758184"/>
            <a:ext cx="41148" cy="107899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379476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EB5BF"/>
                </a:solidFill>
                <a:latin typeface="Aptos Display"/>
              </a:defRPr>
            </a:pPr>
            <a:r>
              <a:t>LangGraph CRAG (9 states)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408736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Grading gate + citation validation + bounded retry + explicit REFUSE state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5848" y="370332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5848" y="3758184"/>
            <a:ext cx="41148" cy="107899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40" y="379476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E8784"/>
                </a:solidFill>
                <a:latin typeface="Aptos Display"/>
              </a:defRPr>
            </a:pPr>
            <a:r>
              <a:t>intfloat/multilingual-e5-large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408736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Self-hosted embedding model, 1024-dim, Dutch legal corpus optimized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08776" y="370332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08776" y="3758184"/>
            <a:ext cx="41148" cy="107899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3368" y="379476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4902F"/>
                </a:solidFill>
                <a:latin typeface="Aptos Display"/>
              </a:defRPr>
            </a:pPr>
            <a:r>
              <a:t>Mixtral 8x22B via vLLM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3368" y="408736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Self-hosted LLM inference on 4× A100; Azure OpenAI GPT-4 Gov as fallback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61704" y="3703320"/>
            <a:ext cx="26060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61704" y="3758184"/>
            <a:ext cx="41148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26296" y="379476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253E"/>
                </a:solidFill>
                <a:latin typeface="Aptos Display"/>
              </a:defRPr>
            </a:pPr>
            <a:r>
              <a:t>Cache: cosine ≥ 0.97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4087368"/>
            <a:ext cx="2313432" cy="7132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000">
                <a:solidFill>
                  <a:srgbClr val="1A2635"/>
                </a:solidFill>
                <a:latin typeface="Aptos"/>
              </a:defRPr>
            </a:pPr>
            <a:r>
              <a:t>Tier-partitioned Redis; TTL 0s/24h/7d; year-confusion protection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349240"/>
            <a:ext cx="11155680" cy="658368"/>
          </a:xfrm>
          <a:prstGeom prst="roundRect">
            <a:avLst/>
          </a:prstGeom>
          <a:solidFill>
            <a:srgbClr val="E7EDF4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468112"/>
            <a:ext cx="10789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0253E"/>
                </a:solidFill>
                <a:latin typeface="Aptos"/>
              </a:defRPr>
            </a:pPr>
            <a:r>
              <a:t>Pre-retrieval DLS is mandatory: P(information leak under post-filtering) = 1 − 0.95⁴⁰ ≈ 0.87.  TTFT budget: 1,500 ms.  Eval gates: Faithfulness ≥ 0.90, Context Precision@8 ≥ 0.85, Citation Accuracy = 1.0.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Bonus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Extra: Performance and Resource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Voluntary supplementary work beyond the assessment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10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55680" cy="502920"/>
          </a:xfrm>
          <a:prstGeom prst="roundRect">
            <a:avLst/>
          </a:prstGeom>
          <a:solidFill>
            <a:srgbClr val="FAF2E3"/>
          </a:solidFill>
          <a:ln w="12700">
            <a:solidFill>
              <a:srgbClr val="FA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25296"/>
            <a:ext cx="10789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4902F"/>
                </a:solidFill>
                <a:latin typeface="Aptos"/>
              </a:defRPr>
            </a:pPr>
            <a:r>
              <a:t>This was not required. I added it because a production-ready design needs capacity planning, not just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83664"/>
            <a:ext cx="41148" cy="158191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202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B5BF"/>
                </a:solidFill>
                <a:latin typeface="Aptos Display"/>
              </a:defRPr>
            </a:pPr>
            <a:r>
              <a:t>Hardware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212848"/>
            <a:ext cx="2313432" cy="12161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6× A10G + 4× A100 (self-hosted path).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3 OpenSearch data nodes, 64 GB RAM each.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8 GB Redis with allkeys-lru eviction.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828800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883664"/>
            <a:ext cx="41148" cy="158191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9202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E8784"/>
                </a:solidFill>
                <a:latin typeface="Aptos Display"/>
              </a:defRPr>
            </a:pPr>
            <a:r>
              <a:t>Throughput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12848"/>
            <a:ext cx="2313432" cy="12161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Steady state: 6 QPS. Burst: 18 QPS.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Reranker GPU saturates first.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Cache hit rate is the primary throughput lever.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828800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883664"/>
            <a:ext cx="41148" cy="158191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9202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C4902F"/>
                </a:solidFill>
                <a:latin typeface="Aptos Display"/>
              </a:defRPr>
            </a:pPr>
            <a:r>
              <a:t>Cost per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212848"/>
            <a:ext cx="2313432" cy="12161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Self-hosted Mixtral: ~$0.001/query.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Azure OpenAI GPT-4 Gov: ~$0.21/query.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Self-hosted is ~210× cheaper at volume.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828800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1704" y="1883664"/>
            <a:ext cx="41148" cy="158191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1920240"/>
            <a:ext cx="2331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0253E"/>
                </a:solidFill>
                <a:latin typeface="Aptos Display"/>
              </a:defRPr>
            </a:pPr>
            <a:r>
              <a:t>Scaling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212848"/>
            <a:ext cx="2313432" cy="12161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kNN p95 &gt; 120 ms → add OpenSearch node.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Reranker queue &gt; 5 → add A10G.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LLM TTFT p95 &gt; 1200 ms → add replica.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49039"/>
            <a:ext cx="548640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803903"/>
            <a:ext cx="41148" cy="139903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840479"/>
            <a:ext cx="5212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B5BF"/>
                </a:solidFill>
                <a:latin typeface="Aptos Display"/>
              </a:defRPr>
            </a:pPr>
            <a:r>
              <a:t>Also covered in the supplementary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133087"/>
            <a:ext cx="5193792" cy="10332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Request queue depths and timeout policies per pipeline stage.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Circuit breaker patterns for reranker, grader, and kNN.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Ingestion throughput: 2,500 chunks/min, full re-index ~5.5 days.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7 Prometheus/Grafana dashboard panels with alert thresholds.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49039"/>
            <a:ext cx="548640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803903"/>
            <a:ext cx="41148" cy="139903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840479"/>
            <a:ext cx="5212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E8784"/>
                </a:solidFill>
                <a:latin typeface="Aptos Display"/>
              </a:defRPr>
            </a:pPr>
            <a:r>
              <a:t>Why this helps the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133087"/>
            <a:ext cx="5193792" cy="10332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It turns the design from an architectural answer into an engineering handoff.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Shows that latency, cost, failure modes, and scaling were considered together.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The supplementary document is 530 lines of production-readiness material.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>
                <a:solidFill>
                  <a:srgbClr val="1A2635"/>
                </a:solidFill>
                <a:latin typeface="Aptos"/>
              </a:defRPr>
            </a:pPr>
            <a:r>
              <a:t>Clearly labelled as voluntary — does not clutter the main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37160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122529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What I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Organized by zone so the reviewer can navigate at summary level or drill into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11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52044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80744"/>
            <a:ext cx="41148" cy="1463040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EB5BF"/>
                </a:solidFill>
                <a:latin typeface="Aptos Display"/>
              </a:defRPr>
            </a:pPr>
            <a:r>
              <a:t>Main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9928"/>
            <a:ext cx="3227832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Final submission v2 (7,206 words) plus 4 extended module drafts.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52044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80744"/>
            <a:ext cx="41148" cy="1463040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4173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E8784"/>
                </a:solidFill>
                <a:latin typeface="Aptos Display"/>
              </a:defRPr>
            </a:pPr>
            <a:r>
              <a:t>Technical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709928"/>
            <a:ext cx="3227832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5 pseudocode files, 4 architecture diagrams, 4 prompt templates.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52044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80744"/>
            <a:ext cx="41148" cy="1463040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4173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4902F"/>
                </a:solidFill>
                <a:latin typeface="Aptos Display"/>
              </a:defRPr>
            </a:pPr>
            <a:r>
              <a:t>Schemas and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1709928"/>
            <a:ext cx="3227832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22-field metadata schema, OpenSearch mapping, RBAC model with DLS.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54680"/>
            <a:ext cx="352044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09544"/>
            <a:ext cx="41148" cy="1463040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461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53E"/>
                </a:solidFill>
                <a:latin typeface="Aptos Display"/>
              </a:defRPr>
            </a:pPr>
            <a:r>
              <a:t>Evaluation and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538728"/>
            <a:ext cx="3227832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Metrics matrix, golden test set, CI gate stub, requirements.txt.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154680"/>
            <a:ext cx="352044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209544"/>
            <a:ext cx="41148" cy="1463040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32461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EB5BF"/>
                </a:solidFill>
                <a:latin typeface="Aptos Display"/>
              </a:defRPr>
            </a:pPr>
            <a:r>
              <a:t>Performance add-on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538728"/>
            <a:ext cx="3227832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530-line resource allocation document with capacity and cost analysis.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154680"/>
            <a:ext cx="352044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209544"/>
            <a:ext cx="41148" cy="1463040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3246120"/>
            <a:ext cx="3246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E8784"/>
                </a:solidFill>
                <a:latin typeface="Aptos Display"/>
              </a:defRPr>
            </a:pPr>
            <a:r>
              <a:t>Repository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3538728"/>
            <a:ext cx="3227832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1A2635"/>
                </a:solidFill>
                <a:latin typeface="Aptos"/>
              </a:defRPr>
            </a:pPr>
            <a:r>
              <a:t>4 zones: answer, evidence, eval/ops, reference. README as navigator.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257800"/>
            <a:ext cx="1188720" cy="274320"/>
          </a:xfrm>
          <a:prstGeom prst="roundRect">
            <a:avLst/>
          </a:prstGeom>
          <a:solidFill>
            <a:srgbClr val="E7EDF4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4752" y="5303520"/>
            <a:ext cx="104241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0253E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5257800"/>
            <a:ext cx="1325880" cy="274320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E2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70632" y="5303520"/>
            <a:ext cx="117957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E8784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5257800"/>
            <a:ext cx="1371600" cy="274320"/>
          </a:xfrm>
          <a:prstGeom prst="roundRect">
            <a:avLst/>
          </a:prstGeom>
          <a:solidFill>
            <a:srgbClr val="FAF2E3"/>
          </a:solidFill>
          <a:ln w="12700">
            <a:solidFill>
              <a:srgbClr val="FA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5303520"/>
            <a:ext cx="122529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C4902F"/>
                </a:solidFill>
                <a:latin typeface="Aptos"/>
              </a:defRPr>
            </a:pPr>
            <a:r>
              <a:t>Eval &amp; Ops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5257800"/>
            <a:ext cx="1371600" cy="274320"/>
          </a:xfrm>
          <a:prstGeom prst="roundRect">
            <a:avLst/>
          </a:prstGeom>
          <a:solidFill>
            <a:srgbClr val="E7EDF4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2432" y="5303520"/>
            <a:ext cx="122529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0253E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5257800"/>
            <a:ext cx="1188720" cy="27432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51192" y="5303520"/>
            <a:ext cx="104241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BE4242"/>
                </a:solidFill>
                <a:latin typeface="Aptos"/>
              </a:defRPr>
            </a:pPr>
            <a:r>
              <a:t>Internal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69280"/>
            <a:ext cx="10789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7A89"/>
                </a:solidFill>
                <a:latin typeface="Aptos"/>
              </a:defRPr>
            </a:pPr>
            <a:r>
              <a:t>The reviewer opens README.md, clicks one link to the final submission, and finds everything else one click deeper.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005840" cy="274320"/>
          </a:xfrm>
          <a:prstGeom prst="roundRect">
            <a:avLst/>
          </a:prstGeom>
          <a:solidFill>
            <a:srgbClr val="1E3A56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</p:spPr>
        <p:txBody>
          <a:bodyPr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EB5BF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ptos Display"/>
              </a:defRPr>
            </a:pPr>
            <a:r>
              <a:t>Closing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8BE"/>
                </a:solidFill>
                <a:latin typeface="Aptos"/>
              </a:defRPr>
            </a:pPr>
            <a:r>
              <a:t>Why this approach produced a strong, defensible assessment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Slide 12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B7A89"/>
                </a:solidFill>
                <a:latin typeface="Aptos"/>
              </a:defRPr>
            </a:pPr>
            <a:r>
              <a:t>Enterprise RAG Architecture — Emre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166360" cy="1463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72184"/>
            <a:ext cx="41148" cy="1353312"/>
          </a:xfrm>
          <a:prstGeom prst="rect">
            <a:avLst/>
          </a:prstGeom>
          <a:solidFill>
            <a:srgbClr val="2EB5BF"/>
          </a:solidFill>
          <a:ln w="12700">
            <a:solidFill>
              <a:srgbClr val="2EB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508760"/>
            <a:ext cx="4892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EB5BF"/>
                </a:solidFill>
                <a:latin typeface="Aptos Display"/>
              </a:defRPr>
            </a:pPr>
            <a:r>
              <a:t>Structured AI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01368"/>
            <a:ext cx="4873752" cy="9875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2635"/>
                </a:solidFill>
                <a:latin typeface="Aptos"/>
              </a:defRPr>
            </a:pPr>
            <a:r>
              <a:t>Five-stage pipeline with different AI tools for decoding, planning, building, reviewing, and hardening.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166360" cy="1463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72184"/>
            <a:ext cx="41148" cy="1353312"/>
          </a:xfrm>
          <a:prstGeom prst="rect">
            <a:avLst/>
          </a:prstGeom>
          <a:solidFill>
            <a:srgbClr val="0E8784"/>
          </a:solidFill>
          <a:ln w="12700">
            <a:solidFill>
              <a:srgbClr val="0E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08760"/>
            <a:ext cx="4892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E8784"/>
                </a:solidFill>
                <a:latin typeface="Aptos Display"/>
              </a:defRPr>
            </a:pPr>
            <a:r>
              <a:t>Specific and consistent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01368"/>
            <a:ext cx="4873752" cy="9875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2635"/>
                </a:solidFill>
                <a:latin typeface="Aptos"/>
              </a:defRPr>
            </a:pPr>
            <a:r>
              <a:t>Every parameter justified. All numbers reconciled across 24+ files after independent agent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5166360" cy="1463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09544"/>
            <a:ext cx="41148" cy="1353312"/>
          </a:xfrm>
          <a:prstGeom prst="rect">
            <a:avLst/>
          </a:prstGeom>
          <a:solidFill>
            <a:srgbClr val="C4902F"/>
          </a:solidFill>
          <a:ln w="12700">
            <a:solidFill>
              <a:srgbClr val="C4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46120"/>
            <a:ext cx="4892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C4902F"/>
                </a:solidFill>
                <a:latin typeface="Aptos Display"/>
              </a:defRPr>
            </a:pPr>
            <a:r>
              <a:t>Security as a first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538728"/>
            <a:ext cx="4873752" cy="9875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2635"/>
                </a:solidFill>
                <a:latin typeface="Aptos"/>
              </a:defRPr>
            </a:pPr>
            <a:r>
              <a:t>Pre-retrieval DLS, tier-partitioned cache, mathematical leakage proof — not bolted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5166360" cy="1463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209544"/>
            <a:ext cx="41148" cy="1353312"/>
          </a:xfrm>
          <a:prstGeom prst="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246120"/>
            <a:ext cx="4892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0253E"/>
                </a:solidFill>
                <a:latin typeface="Aptos Display"/>
              </a:defRPr>
            </a:pPr>
            <a:r>
              <a:t>Production-grade thinking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538728"/>
            <a:ext cx="4873752" cy="9875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2635"/>
                </a:solidFill>
                <a:latin typeface="Aptos"/>
              </a:defRPr>
            </a:pPr>
            <a:r>
              <a:t>Latency budgets, scaling triggers, cost per query, CI gates, and monitoring dashboards.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66360"/>
            <a:ext cx="10789920" cy="777240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0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The design is conservative where the risk is highest, specific where the brief asked for exact settings,</a:t>
            </a:r>
            <a:br/>
            <a:r>
              <a:t>and built through a multi-agent process that caught its own mistakes before the reviewer could.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