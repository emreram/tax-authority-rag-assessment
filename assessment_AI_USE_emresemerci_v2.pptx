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965960"/>
            <a:ext cx="11247120" cy="457200"/>
          </a:xfrm>
          <a:prstGeom prst="rect">
            <a:avLst/>
          </a:prstGeom>
          <a:noFill/>
        </p:spPr>
        <p:txBody>
          <a:bodyPr wrap="square" lIns="0" rIns="0" tIns="0" bIns="0">
            <a:spAutoFit/>
          </a:bodyPr>
          <a:lstStyle/>
          <a:p>
            <a:pPr algn="l"/>
            <a:r>
              <a:rPr sz="1200" b="1" i="0">
                <a:solidFill>
                  <a:srgbClr val="E17000"/>
                </a:solidFill>
                <a:latin typeface="Calibri"/>
              </a:rPr>
              <a:t>ASSESSMENT PRESENTATION</a:t>
            </a:r>
          </a:p>
        </p:txBody>
      </p:sp>
      <p:sp>
        <p:nvSpPr>
          <p:cNvPr id="5" name="TextBox 4"/>
          <p:cNvSpPr txBox="1"/>
          <p:nvPr/>
        </p:nvSpPr>
        <p:spPr>
          <a:xfrm>
            <a:off x="502920" y="2423160"/>
            <a:ext cx="11247120" cy="914400"/>
          </a:xfrm>
          <a:prstGeom prst="rect">
            <a:avLst/>
          </a:prstGeom>
          <a:noFill/>
        </p:spPr>
        <p:txBody>
          <a:bodyPr wrap="square" lIns="0" rIns="0" tIns="0" bIns="0">
            <a:spAutoFit/>
          </a:bodyPr>
          <a:lstStyle/>
          <a:p>
            <a:pPr algn="l"/>
            <a:r>
              <a:rPr sz="4600" b="1" i="0">
                <a:solidFill>
                  <a:srgbClr val="E5E7EB"/>
                </a:solidFill>
                <a:latin typeface="Calibri"/>
              </a:rPr>
              <a:t>Enterprise RAG Architecture</a:t>
            </a:r>
          </a:p>
        </p:txBody>
      </p:sp>
      <p:sp>
        <p:nvSpPr>
          <p:cNvPr id="6" name="TextBox 5"/>
          <p:cNvSpPr txBox="1"/>
          <p:nvPr/>
        </p:nvSpPr>
        <p:spPr>
          <a:xfrm>
            <a:off x="502920" y="3246120"/>
            <a:ext cx="11247120" cy="548640"/>
          </a:xfrm>
          <a:prstGeom prst="rect">
            <a:avLst/>
          </a:prstGeom>
          <a:noFill/>
        </p:spPr>
        <p:txBody>
          <a:bodyPr wrap="square" lIns="0" rIns="0" tIns="0" bIns="0">
            <a:spAutoFit/>
          </a:bodyPr>
          <a:lstStyle/>
          <a:p>
            <a:pPr algn="l"/>
            <a:r>
              <a:rPr sz="2200" b="0" i="0">
                <a:solidFill>
                  <a:srgbClr val="B6C1CE"/>
                </a:solidFill>
                <a:latin typeface="Calibri"/>
              </a:rPr>
              <a:t>Dutch National Tax Authority</a:t>
            </a:r>
          </a:p>
        </p:txBody>
      </p:sp>
      <p:sp>
        <p:nvSpPr>
          <p:cNvPr id="7" name="TextBox 6"/>
          <p:cNvSpPr txBox="1"/>
          <p:nvPr/>
        </p:nvSpPr>
        <p:spPr>
          <a:xfrm>
            <a:off x="502920" y="4114800"/>
            <a:ext cx="11247120" cy="914400"/>
          </a:xfrm>
          <a:prstGeom prst="rect">
            <a:avLst/>
          </a:prstGeom>
          <a:noFill/>
        </p:spPr>
        <p:txBody>
          <a:bodyPr wrap="square" lIns="0" rIns="0" tIns="0" bIns="0">
            <a:spAutoFit/>
          </a:bodyPr>
          <a:lstStyle/>
          <a:p>
            <a:pPr algn="l"/>
            <a:r>
              <a:rPr sz="1500" b="0" i="1">
                <a:solidFill>
                  <a:srgbClr val="B6C1CE"/>
                </a:solidFill>
                <a:latin typeface="Calibri"/>
              </a:rPr>
              <a:t>How a multi-agent AI workflow turned an architecture brief
into a running, hardened demo.</a:t>
            </a:r>
          </a:p>
        </p:txBody>
      </p:sp>
      <p:sp>
        <p:nvSpPr>
          <p:cNvPr id="8" name="TextBox 7"/>
          <p:cNvSpPr txBox="1"/>
          <p:nvPr/>
        </p:nvSpPr>
        <p:spPr>
          <a:xfrm>
            <a:off x="502920" y="5577840"/>
            <a:ext cx="11247120" cy="365760"/>
          </a:xfrm>
          <a:prstGeom prst="rect">
            <a:avLst/>
          </a:prstGeom>
          <a:noFill/>
        </p:spPr>
        <p:txBody>
          <a:bodyPr wrap="square" lIns="0" rIns="0" tIns="0" bIns="0">
            <a:spAutoFit/>
          </a:bodyPr>
          <a:lstStyle/>
          <a:p>
            <a:pPr algn="l"/>
            <a:r>
              <a:rPr sz="1400" b="1" i="0">
                <a:solidFill>
                  <a:srgbClr val="E5E7EB"/>
                </a:solidFill>
                <a:latin typeface="Calibri"/>
              </a:rPr>
              <a:t>Emre Semerci</a:t>
            </a:r>
          </a:p>
        </p:txBody>
      </p:sp>
      <p:sp>
        <p:nvSpPr>
          <p:cNvPr id="9" name="TextBox 8"/>
          <p:cNvSpPr txBox="1"/>
          <p:nvPr/>
        </p:nvSpPr>
        <p:spPr>
          <a:xfrm>
            <a:off x="502920" y="5897880"/>
            <a:ext cx="11247120" cy="365760"/>
          </a:xfrm>
          <a:prstGeom prst="rect">
            <a:avLst/>
          </a:prstGeom>
          <a:noFill/>
        </p:spPr>
        <p:txBody>
          <a:bodyPr wrap="square" lIns="0" rIns="0" tIns="0" bIns="0">
            <a:spAutoFit/>
          </a:bodyPr>
          <a:lstStyle/>
          <a:p>
            <a:pPr algn="l"/>
            <a:r>
              <a:rPr sz="1200" b="0" i="0">
                <a:solidFill>
                  <a:srgbClr val="8A95A5"/>
                </a:solidFill>
                <a:latin typeface="Calibri"/>
              </a:rPr>
              <a:t>Lead AI Engineer Technical Assessment   ·   April–May 2026</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 of 19    ·    Enterprise RAG Architecture    ·    Emre Semerci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THE BRIEF</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What the assessment really asks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Four modules — but the grading lives between the lines.</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On the page</a:t>
            </a:r>
          </a:p>
          <a:p>
            <a:pPr>
              <a:spcBef>
                <a:spcPts val="600"/>
              </a:spcBef>
            </a:pPr>
            <a:r>
              <a:rPr sz="1300">
                <a:solidFill>
                  <a:srgbClr val="E5E7EB"/>
                </a:solidFill>
                <a:latin typeface="Calibri"/>
              </a:rPr>
              <a:t>•   Module 1 — Ingestion at scale, hierarchical chunking</a:t>
            </a:r>
          </a:p>
          <a:p>
            <a:pPr>
              <a:spcBef>
                <a:spcPts val="600"/>
              </a:spcBef>
            </a:pPr>
            <a:r>
              <a:rPr sz="1300">
                <a:solidFill>
                  <a:srgbClr val="E5E7EB"/>
                </a:solidFill>
                <a:latin typeface="Calibri"/>
              </a:rPr>
              <a:t>•   Module 2 — Hybrid retrieval, reranking, top-K</a:t>
            </a:r>
          </a:p>
          <a:p>
            <a:pPr>
              <a:spcBef>
                <a:spcPts val="600"/>
              </a:spcBef>
            </a:pPr>
            <a:r>
              <a:rPr sz="1300">
                <a:solidFill>
                  <a:srgbClr val="E5E7EB"/>
                </a:solidFill>
                <a:latin typeface="Calibri"/>
              </a:rPr>
              <a:t>•   Module 3 — Agentic CRAG, fail-soft state machine</a:t>
            </a:r>
          </a:p>
          <a:p>
            <a:pPr>
              <a:spcBef>
                <a:spcPts val="600"/>
              </a:spcBef>
            </a:pPr>
            <a:r>
              <a:rPr sz="1300">
                <a:solidFill>
                  <a:srgbClr val="E5E7EB"/>
                </a:solidFill>
                <a:latin typeface="Calibri"/>
              </a:rPr>
              <a:t>•   Module 4 — Cache, RBAC, eval gates</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Between the lines</a:t>
            </a:r>
          </a:p>
          <a:p>
            <a:pPr>
              <a:spcBef>
                <a:spcPts val="600"/>
              </a:spcBef>
            </a:pPr>
            <a:r>
              <a:rPr sz="1300">
                <a:solidFill>
                  <a:srgbClr val="E5E7EB"/>
                </a:solidFill>
                <a:latin typeface="Calibri"/>
              </a:rPr>
              <a:t>•   Specificity over generality — exact numbers, not options</a:t>
            </a:r>
          </a:p>
          <a:p>
            <a:pPr>
              <a:spcBef>
                <a:spcPts val="600"/>
              </a:spcBef>
            </a:pPr>
            <a:r>
              <a:rPr sz="1300">
                <a:solidFill>
                  <a:srgbClr val="E5E7EB"/>
                </a:solidFill>
                <a:latin typeface="Calibri"/>
              </a:rPr>
              <a:t>•   Security first — RBAC must be mathematically leak-proof</a:t>
            </a:r>
          </a:p>
          <a:p>
            <a:pPr>
              <a:spcBef>
                <a:spcPts val="600"/>
              </a:spcBef>
            </a:pPr>
            <a:r>
              <a:rPr sz="1300">
                <a:solidFill>
                  <a:srgbClr val="E5E7EB"/>
                </a:solidFill>
                <a:latin typeface="Calibri"/>
              </a:rPr>
              <a:t>•   Production awareness — TTFT, OOM, quantization math</a:t>
            </a:r>
          </a:p>
          <a:p>
            <a:pPr>
              <a:spcBef>
                <a:spcPts val="600"/>
              </a:spcBef>
            </a:pPr>
            <a:r>
              <a:rPr sz="1300">
                <a:solidFill>
                  <a:srgbClr val="E5E7EB"/>
                </a:solidFill>
                <a:latin typeface="Calibri"/>
              </a:rPr>
              <a:t>•   Domain understanding — Dutch legal hierarchy, ECLI references</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I read the brief twice before writing anything. The hidden criteria — specificity, security math, production constraints — decide the score more than the visible ones do.</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2 of 19    ·    Enterprise RAG Architecture    ·    Emre Semerci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MY APPROACH</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Six AI-assisted stages, each with a different tool</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No single agent saw the whole picture uncritically.</a:t>
            </a:r>
          </a:p>
        </p:txBody>
      </p:sp>
      <p:sp>
        <p:nvSpPr>
          <p:cNvPr id="7" name="Rounded Rectangle 6"/>
          <p:cNvSpPr/>
          <p:nvPr/>
        </p:nvSpPr>
        <p:spPr>
          <a:xfrm>
            <a:off x="502920" y="2331720"/>
            <a:ext cx="178308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423160"/>
            <a:ext cx="640080" cy="457200"/>
          </a:xfrm>
          <a:prstGeom prst="rect">
            <a:avLst/>
          </a:prstGeom>
          <a:noFill/>
        </p:spPr>
        <p:txBody>
          <a:bodyPr wrap="square" lIns="0" rIns="0" tIns="0" bIns="0">
            <a:spAutoFit/>
          </a:bodyPr>
          <a:lstStyle/>
          <a:p>
            <a:pPr algn="l"/>
            <a:r>
              <a:rPr sz="2000" b="1" i="0">
                <a:solidFill>
                  <a:srgbClr val="E17000"/>
                </a:solidFill>
                <a:latin typeface="Calibri"/>
              </a:rPr>
              <a:t>1</a:t>
            </a:r>
          </a:p>
        </p:txBody>
      </p:sp>
      <p:sp>
        <p:nvSpPr>
          <p:cNvPr id="9" name="TextBox 8"/>
          <p:cNvSpPr txBox="1"/>
          <p:nvPr/>
        </p:nvSpPr>
        <p:spPr>
          <a:xfrm>
            <a:off x="667512" y="2834639"/>
            <a:ext cx="1453895" cy="365760"/>
          </a:xfrm>
          <a:prstGeom prst="rect">
            <a:avLst/>
          </a:prstGeom>
          <a:noFill/>
        </p:spPr>
        <p:txBody>
          <a:bodyPr wrap="square" lIns="0" rIns="0" tIns="0" bIns="0">
            <a:spAutoFit/>
          </a:bodyPr>
          <a:lstStyle/>
          <a:p>
            <a:pPr algn="l"/>
            <a:r>
              <a:rPr sz="1500" b="1" i="0">
                <a:solidFill>
                  <a:srgbClr val="E5E7EB"/>
                </a:solidFill>
                <a:latin typeface="Calibri"/>
              </a:rPr>
              <a:t>Decode</a:t>
            </a:r>
          </a:p>
        </p:txBody>
      </p:sp>
      <p:sp>
        <p:nvSpPr>
          <p:cNvPr id="10" name="TextBox 9"/>
          <p:cNvSpPr txBox="1"/>
          <p:nvPr/>
        </p:nvSpPr>
        <p:spPr>
          <a:xfrm>
            <a:off x="667512" y="3200400"/>
            <a:ext cx="1453895" cy="365760"/>
          </a:xfrm>
          <a:prstGeom prst="rect">
            <a:avLst/>
          </a:prstGeom>
          <a:noFill/>
        </p:spPr>
        <p:txBody>
          <a:bodyPr wrap="square" lIns="0" rIns="0" tIns="0" bIns="0">
            <a:spAutoFit/>
          </a:bodyPr>
          <a:lstStyle/>
          <a:p>
            <a:pPr algn="l"/>
            <a:r>
              <a:rPr sz="1100" b="0" i="0">
                <a:solidFill>
                  <a:srgbClr val="8A95A5"/>
                </a:solidFill>
                <a:latin typeface="Calibri"/>
              </a:rPr>
              <a:t>ChatGPT 5.4</a:t>
            </a:r>
          </a:p>
        </p:txBody>
      </p:sp>
      <p:sp>
        <p:nvSpPr>
          <p:cNvPr id="11" name="Rounded Rectangle 10"/>
          <p:cNvSpPr/>
          <p:nvPr/>
        </p:nvSpPr>
        <p:spPr>
          <a:xfrm>
            <a:off x="2377439" y="2331720"/>
            <a:ext cx="178308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2032" y="2423160"/>
            <a:ext cx="640080" cy="457200"/>
          </a:xfrm>
          <a:prstGeom prst="rect">
            <a:avLst/>
          </a:prstGeom>
          <a:noFill/>
        </p:spPr>
        <p:txBody>
          <a:bodyPr wrap="square" lIns="0" rIns="0" tIns="0" bIns="0">
            <a:spAutoFit/>
          </a:bodyPr>
          <a:lstStyle/>
          <a:p>
            <a:pPr algn="l"/>
            <a:r>
              <a:rPr sz="2000" b="1" i="0">
                <a:solidFill>
                  <a:srgbClr val="E17000"/>
                </a:solidFill>
                <a:latin typeface="Calibri"/>
              </a:rPr>
              <a:t>2</a:t>
            </a:r>
          </a:p>
        </p:txBody>
      </p:sp>
      <p:sp>
        <p:nvSpPr>
          <p:cNvPr id="13" name="TextBox 12"/>
          <p:cNvSpPr txBox="1"/>
          <p:nvPr/>
        </p:nvSpPr>
        <p:spPr>
          <a:xfrm>
            <a:off x="2542032" y="2834639"/>
            <a:ext cx="1453895" cy="365760"/>
          </a:xfrm>
          <a:prstGeom prst="rect">
            <a:avLst/>
          </a:prstGeom>
          <a:noFill/>
        </p:spPr>
        <p:txBody>
          <a:bodyPr wrap="square" lIns="0" rIns="0" tIns="0" bIns="0">
            <a:spAutoFit/>
          </a:bodyPr>
          <a:lstStyle/>
          <a:p>
            <a:pPr algn="l"/>
            <a:r>
              <a:rPr sz="1500" b="1" i="0">
                <a:solidFill>
                  <a:srgbClr val="E5E7EB"/>
                </a:solidFill>
                <a:latin typeface="Calibri"/>
              </a:rPr>
              <a:t>Plan</a:t>
            </a:r>
          </a:p>
        </p:txBody>
      </p:sp>
      <p:sp>
        <p:nvSpPr>
          <p:cNvPr id="14" name="TextBox 13"/>
          <p:cNvSpPr txBox="1"/>
          <p:nvPr/>
        </p:nvSpPr>
        <p:spPr>
          <a:xfrm>
            <a:off x="2542032" y="3200400"/>
            <a:ext cx="1453895" cy="365760"/>
          </a:xfrm>
          <a:prstGeom prst="rect">
            <a:avLst/>
          </a:prstGeom>
          <a:noFill/>
        </p:spPr>
        <p:txBody>
          <a:bodyPr wrap="square" lIns="0" rIns="0" tIns="0" bIns="0">
            <a:spAutoFit/>
          </a:bodyPr>
          <a:lstStyle/>
          <a:p>
            <a:pPr algn="l"/>
            <a:r>
              <a:rPr sz="1100" b="0" i="0">
                <a:solidFill>
                  <a:srgbClr val="8A95A5"/>
                </a:solidFill>
                <a:latin typeface="Calibri"/>
              </a:rPr>
              <a:t>Claude Code</a:t>
            </a:r>
          </a:p>
        </p:txBody>
      </p:sp>
      <p:sp>
        <p:nvSpPr>
          <p:cNvPr id="15" name="Rounded Rectangle 14"/>
          <p:cNvSpPr/>
          <p:nvPr/>
        </p:nvSpPr>
        <p:spPr>
          <a:xfrm>
            <a:off x="4251959" y="2331720"/>
            <a:ext cx="178308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1" y="2423160"/>
            <a:ext cx="640080" cy="457200"/>
          </a:xfrm>
          <a:prstGeom prst="rect">
            <a:avLst/>
          </a:prstGeom>
          <a:noFill/>
        </p:spPr>
        <p:txBody>
          <a:bodyPr wrap="square" lIns="0" rIns="0" tIns="0" bIns="0">
            <a:spAutoFit/>
          </a:bodyPr>
          <a:lstStyle/>
          <a:p>
            <a:pPr algn="l"/>
            <a:r>
              <a:rPr sz="2000" b="1" i="0">
                <a:solidFill>
                  <a:srgbClr val="E17000"/>
                </a:solidFill>
                <a:latin typeface="Calibri"/>
              </a:rPr>
              <a:t>3</a:t>
            </a:r>
          </a:p>
        </p:txBody>
      </p:sp>
      <p:sp>
        <p:nvSpPr>
          <p:cNvPr id="17" name="TextBox 16"/>
          <p:cNvSpPr txBox="1"/>
          <p:nvPr/>
        </p:nvSpPr>
        <p:spPr>
          <a:xfrm>
            <a:off x="4416551" y="2834639"/>
            <a:ext cx="1453895" cy="365760"/>
          </a:xfrm>
          <a:prstGeom prst="rect">
            <a:avLst/>
          </a:prstGeom>
          <a:noFill/>
        </p:spPr>
        <p:txBody>
          <a:bodyPr wrap="square" lIns="0" rIns="0" tIns="0" bIns="0">
            <a:spAutoFit/>
          </a:bodyPr>
          <a:lstStyle/>
          <a:p>
            <a:pPr algn="l"/>
            <a:r>
              <a:rPr sz="1500" b="1" i="0">
                <a:solidFill>
                  <a:srgbClr val="E5E7EB"/>
                </a:solidFill>
                <a:latin typeface="Calibri"/>
              </a:rPr>
              <a:t>Build</a:t>
            </a:r>
          </a:p>
        </p:txBody>
      </p:sp>
      <p:sp>
        <p:nvSpPr>
          <p:cNvPr id="18" name="TextBox 17"/>
          <p:cNvSpPr txBox="1"/>
          <p:nvPr/>
        </p:nvSpPr>
        <p:spPr>
          <a:xfrm>
            <a:off x="4416551" y="3200400"/>
            <a:ext cx="1453895" cy="365760"/>
          </a:xfrm>
          <a:prstGeom prst="rect">
            <a:avLst/>
          </a:prstGeom>
          <a:noFill/>
        </p:spPr>
        <p:txBody>
          <a:bodyPr wrap="square" lIns="0" rIns="0" tIns="0" bIns="0">
            <a:spAutoFit/>
          </a:bodyPr>
          <a:lstStyle/>
          <a:p>
            <a:pPr algn="l"/>
            <a:r>
              <a:rPr sz="1100" b="0" i="0">
                <a:solidFill>
                  <a:srgbClr val="8A95A5"/>
                </a:solidFill>
                <a:latin typeface="Calibri"/>
              </a:rPr>
              <a:t>Claude Code</a:t>
            </a:r>
          </a:p>
        </p:txBody>
      </p:sp>
      <p:sp>
        <p:nvSpPr>
          <p:cNvPr id="19" name="Rounded Rectangle 18"/>
          <p:cNvSpPr/>
          <p:nvPr/>
        </p:nvSpPr>
        <p:spPr>
          <a:xfrm>
            <a:off x="6126479" y="2331720"/>
            <a:ext cx="178308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1" y="2423160"/>
            <a:ext cx="640080" cy="457200"/>
          </a:xfrm>
          <a:prstGeom prst="rect">
            <a:avLst/>
          </a:prstGeom>
          <a:noFill/>
        </p:spPr>
        <p:txBody>
          <a:bodyPr wrap="square" lIns="0" rIns="0" tIns="0" bIns="0">
            <a:spAutoFit/>
          </a:bodyPr>
          <a:lstStyle/>
          <a:p>
            <a:pPr algn="l"/>
            <a:r>
              <a:rPr sz="2000" b="1" i="0">
                <a:solidFill>
                  <a:srgbClr val="E17000"/>
                </a:solidFill>
                <a:latin typeface="Calibri"/>
              </a:rPr>
              <a:t>4</a:t>
            </a:r>
          </a:p>
        </p:txBody>
      </p:sp>
      <p:sp>
        <p:nvSpPr>
          <p:cNvPr id="21" name="TextBox 20"/>
          <p:cNvSpPr txBox="1"/>
          <p:nvPr/>
        </p:nvSpPr>
        <p:spPr>
          <a:xfrm>
            <a:off x="6291071" y="2834639"/>
            <a:ext cx="1453895" cy="365760"/>
          </a:xfrm>
          <a:prstGeom prst="rect">
            <a:avLst/>
          </a:prstGeom>
          <a:noFill/>
        </p:spPr>
        <p:txBody>
          <a:bodyPr wrap="square" lIns="0" rIns="0" tIns="0" bIns="0">
            <a:spAutoFit/>
          </a:bodyPr>
          <a:lstStyle/>
          <a:p>
            <a:pPr algn="l"/>
            <a:r>
              <a:rPr sz="1500" b="1" i="0">
                <a:solidFill>
                  <a:srgbClr val="E5E7EB"/>
                </a:solidFill>
                <a:latin typeface="Calibri"/>
              </a:rPr>
              <a:t>Review</a:t>
            </a:r>
          </a:p>
        </p:txBody>
      </p:sp>
      <p:sp>
        <p:nvSpPr>
          <p:cNvPr id="22" name="TextBox 21"/>
          <p:cNvSpPr txBox="1"/>
          <p:nvPr/>
        </p:nvSpPr>
        <p:spPr>
          <a:xfrm>
            <a:off x="6291071" y="3200400"/>
            <a:ext cx="1453895" cy="365760"/>
          </a:xfrm>
          <a:prstGeom prst="rect">
            <a:avLst/>
          </a:prstGeom>
          <a:noFill/>
        </p:spPr>
        <p:txBody>
          <a:bodyPr wrap="square" lIns="0" rIns="0" tIns="0" bIns="0">
            <a:spAutoFit/>
          </a:bodyPr>
          <a:lstStyle/>
          <a:p>
            <a:pPr algn="l"/>
            <a:r>
              <a:rPr sz="1100" b="0" i="0">
                <a:solidFill>
                  <a:srgbClr val="8A95A5"/>
                </a:solidFill>
                <a:latin typeface="Calibri"/>
              </a:rPr>
              <a:t>Hermes Loop</a:t>
            </a:r>
          </a:p>
        </p:txBody>
      </p:sp>
      <p:sp>
        <p:nvSpPr>
          <p:cNvPr id="23" name="Rounded Rectangle 22"/>
          <p:cNvSpPr/>
          <p:nvPr/>
        </p:nvSpPr>
        <p:spPr>
          <a:xfrm>
            <a:off x="8001000" y="2331720"/>
            <a:ext cx="178308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5592" y="2423160"/>
            <a:ext cx="640080" cy="457200"/>
          </a:xfrm>
          <a:prstGeom prst="rect">
            <a:avLst/>
          </a:prstGeom>
          <a:noFill/>
        </p:spPr>
        <p:txBody>
          <a:bodyPr wrap="square" lIns="0" rIns="0" tIns="0" bIns="0">
            <a:spAutoFit/>
          </a:bodyPr>
          <a:lstStyle/>
          <a:p>
            <a:pPr algn="l"/>
            <a:r>
              <a:rPr sz="2000" b="1" i="0">
                <a:solidFill>
                  <a:srgbClr val="E17000"/>
                </a:solidFill>
                <a:latin typeface="Calibri"/>
              </a:rPr>
              <a:t>5</a:t>
            </a:r>
          </a:p>
        </p:txBody>
      </p:sp>
      <p:sp>
        <p:nvSpPr>
          <p:cNvPr id="25" name="TextBox 24"/>
          <p:cNvSpPr txBox="1"/>
          <p:nvPr/>
        </p:nvSpPr>
        <p:spPr>
          <a:xfrm>
            <a:off x="8165592" y="2834639"/>
            <a:ext cx="1453895" cy="365760"/>
          </a:xfrm>
          <a:prstGeom prst="rect">
            <a:avLst/>
          </a:prstGeom>
          <a:noFill/>
        </p:spPr>
        <p:txBody>
          <a:bodyPr wrap="square" lIns="0" rIns="0" tIns="0" bIns="0">
            <a:spAutoFit/>
          </a:bodyPr>
          <a:lstStyle/>
          <a:p>
            <a:pPr algn="l"/>
            <a:r>
              <a:rPr sz="1500" b="1" i="0">
                <a:solidFill>
                  <a:srgbClr val="E5E7EB"/>
                </a:solidFill>
                <a:latin typeface="Calibri"/>
              </a:rPr>
              <a:t>Harden</a:t>
            </a:r>
          </a:p>
        </p:txBody>
      </p:sp>
      <p:sp>
        <p:nvSpPr>
          <p:cNvPr id="26" name="TextBox 25"/>
          <p:cNvSpPr txBox="1"/>
          <p:nvPr/>
        </p:nvSpPr>
        <p:spPr>
          <a:xfrm>
            <a:off x="8165592" y="3200400"/>
            <a:ext cx="1453895" cy="365760"/>
          </a:xfrm>
          <a:prstGeom prst="rect">
            <a:avLst/>
          </a:prstGeom>
          <a:noFill/>
        </p:spPr>
        <p:txBody>
          <a:bodyPr wrap="square" lIns="0" rIns="0" tIns="0" bIns="0">
            <a:spAutoFit/>
          </a:bodyPr>
          <a:lstStyle/>
          <a:p>
            <a:pPr algn="l"/>
            <a:r>
              <a:rPr sz="1100" b="0" i="0">
                <a:solidFill>
                  <a:srgbClr val="8A95A5"/>
                </a:solidFill>
                <a:latin typeface="Calibri"/>
              </a:rPr>
              <a:t>Claude Code</a:t>
            </a:r>
          </a:p>
        </p:txBody>
      </p:sp>
      <p:sp>
        <p:nvSpPr>
          <p:cNvPr id="27" name="Rounded Rectangle 26"/>
          <p:cNvSpPr/>
          <p:nvPr/>
        </p:nvSpPr>
        <p:spPr>
          <a:xfrm>
            <a:off x="9875520" y="2331720"/>
            <a:ext cx="178308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40112" y="2423160"/>
            <a:ext cx="640080" cy="457200"/>
          </a:xfrm>
          <a:prstGeom prst="rect">
            <a:avLst/>
          </a:prstGeom>
          <a:noFill/>
        </p:spPr>
        <p:txBody>
          <a:bodyPr wrap="square" lIns="0" rIns="0" tIns="0" bIns="0">
            <a:spAutoFit/>
          </a:bodyPr>
          <a:lstStyle/>
          <a:p>
            <a:pPr algn="l"/>
            <a:r>
              <a:rPr sz="2000" b="1" i="0">
                <a:solidFill>
                  <a:srgbClr val="E17000"/>
                </a:solidFill>
                <a:latin typeface="Calibri"/>
              </a:rPr>
              <a:t>6</a:t>
            </a:r>
          </a:p>
        </p:txBody>
      </p:sp>
      <p:sp>
        <p:nvSpPr>
          <p:cNvPr id="29" name="TextBox 28"/>
          <p:cNvSpPr txBox="1"/>
          <p:nvPr/>
        </p:nvSpPr>
        <p:spPr>
          <a:xfrm>
            <a:off x="10040112" y="2834639"/>
            <a:ext cx="1453895" cy="365760"/>
          </a:xfrm>
          <a:prstGeom prst="rect">
            <a:avLst/>
          </a:prstGeom>
          <a:noFill/>
        </p:spPr>
        <p:txBody>
          <a:bodyPr wrap="square" lIns="0" rIns="0" tIns="0" bIns="0">
            <a:spAutoFit/>
          </a:bodyPr>
          <a:lstStyle/>
          <a:p>
            <a:pPr algn="l"/>
            <a:r>
              <a:rPr sz="1500" b="1" i="0">
                <a:solidFill>
                  <a:srgbClr val="E5E7EB"/>
                </a:solidFill>
                <a:latin typeface="Calibri"/>
              </a:rPr>
              <a:t>Implement</a:t>
            </a:r>
          </a:p>
        </p:txBody>
      </p:sp>
      <p:sp>
        <p:nvSpPr>
          <p:cNvPr id="30" name="TextBox 29"/>
          <p:cNvSpPr txBox="1"/>
          <p:nvPr/>
        </p:nvSpPr>
        <p:spPr>
          <a:xfrm>
            <a:off x="10040112" y="3200400"/>
            <a:ext cx="1453895" cy="365760"/>
          </a:xfrm>
          <a:prstGeom prst="rect">
            <a:avLst/>
          </a:prstGeom>
          <a:noFill/>
        </p:spPr>
        <p:txBody>
          <a:bodyPr wrap="square" lIns="0" rIns="0" tIns="0" bIns="0">
            <a:spAutoFit/>
          </a:bodyPr>
          <a:lstStyle/>
          <a:p>
            <a:pPr algn="l"/>
            <a:r>
              <a:rPr sz="1100" b="0" i="0">
                <a:solidFill>
                  <a:srgbClr val="8A95A5"/>
                </a:solidFill>
                <a:latin typeface="Calibri"/>
              </a:rPr>
              <a:t>Claude Code</a:t>
            </a:r>
          </a:p>
        </p:txBody>
      </p:sp>
      <p:sp>
        <p:nvSpPr>
          <p:cNvPr id="31" name="Rounded Rectangle 30"/>
          <p:cNvSpPr/>
          <p:nvPr/>
        </p:nvSpPr>
        <p:spPr>
          <a:xfrm>
            <a:off x="502920" y="3977639"/>
            <a:ext cx="11247120" cy="141732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114800"/>
            <a:ext cx="10698480" cy="114300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Each stage needs a different AI strength. ChatGPT is strong at deep analysis; Claude Code at structured execution; an external Hermes loop at independent review. Using the same model for everything is how subtle bugs survive review.</a:t>
            </a:r>
          </a:p>
        </p:txBody>
      </p:sp>
      <p:sp>
        <p:nvSpPr>
          <p:cNvPr id="33" name="TextBox 32"/>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3 of 19    ·    Enterprise RAG Architecture    ·    Emre Semerci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1 · DECODE</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Understand the brief before writing a line of code</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ChatGPT 5.4 with extended thinking, one focused prompt.</a:t>
            </a:r>
          </a:p>
        </p:txBody>
      </p:sp>
      <p:sp>
        <p:nvSpPr>
          <p:cNvPr id="7" name="TextBox 6"/>
          <p:cNvSpPr txBox="1"/>
          <p:nvPr/>
        </p:nvSpPr>
        <p:spPr>
          <a:xfrm>
            <a:off x="502920" y="2240280"/>
            <a:ext cx="11247120" cy="3657600"/>
          </a:xfrm>
          <a:prstGeom prst="rect">
            <a:avLst/>
          </a:prstGeom>
          <a:noFill/>
        </p:spPr>
        <p:txBody>
          <a:bodyPr wrap="square" lIns="0" rIns="0" tIns="0" bIns="0">
            <a:spAutoFit/>
          </a:bodyPr>
          <a:lstStyle/>
          <a:p>
            <a:pPr>
              <a:spcAft>
                <a:spcPts val="800"/>
              </a:spcAft>
            </a:pPr>
            <a:r>
              <a:rPr sz="1400">
                <a:solidFill>
                  <a:srgbClr val="E5E7EB"/>
                </a:solidFill>
                <a:latin typeface="Calibri"/>
              </a:rPr>
              <a:t>•   Asked: "give me a master plan and tell me what the brief really grades."</a:t>
            </a:r>
          </a:p>
          <a:p>
            <a:pPr>
              <a:spcAft>
                <a:spcPts val="800"/>
              </a:spcAft>
            </a:pPr>
            <a:r>
              <a:rPr sz="1400">
                <a:solidFill>
                  <a:srgbClr val="E5E7EB"/>
                </a:solidFill>
                <a:latin typeface="Calibri"/>
              </a:rPr>
              <a:t>•   Got back: hidden criteria, difficulty per module, 15 locked decisions.</a:t>
            </a:r>
          </a:p>
          <a:p>
            <a:pPr>
              <a:spcAft>
                <a:spcPts val="800"/>
              </a:spcAft>
            </a:pPr>
            <a:r>
              <a:rPr sz="1400">
                <a:solidFill>
                  <a:srgbClr val="E5E7EB"/>
                </a:solidFill>
                <a:latin typeface="Calibri"/>
              </a:rPr>
              <a:t>•   Surprise: Module 3 (CRAG) carries ~35% of the assessor's impression.</a:t>
            </a:r>
          </a:p>
          <a:p>
            <a:pPr>
              <a:spcAft>
                <a:spcPts val="800"/>
              </a:spcAft>
            </a:pPr>
            <a:r>
              <a:rPr sz="1400">
                <a:solidFill>
                  <a:srgbClr val="E5E7EB"/>
                </a:solidFill>
                <a:latin typeface="Calibri"/>
              </a:rPr>
              <a:t>•   Surprise: the RBAC question expects a probability proof, not a policy.</a:t>
            </a:r>
          </a:p>
          <a:p>
            <a:pPr>
              <a:spcAft>
                <a:spcPts val="800"/>
              </a:spcAft>
            </a:pPr>
            <a:r>
              <a:rPr sz="1400">
                <a:solidFill>
                  <a:srgbClr val="E5E7EB"/>
                </a:solidFill>
                <a:latin typeface="Calibri"/>
              </a:rPr>
              <a:t>•   Surprise: the cache threshold tests fiscal-data risk awareness.</a:t>
            </a:r>
          </a:p>
        </p:txBody>
      </p:sp>
      <p:sp>
        <p:nvSpPr>
          <p:cNvPr id="8" name="Rounded Rectangle 7"/>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If I had started building, I would have spent my budget on Module 1 (the easiest). Decoding first told me where the marginal hour buys the most score.</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4 of 19    ·    Enterprise RAG Architecture    ·    Emre Semerci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2 · PLAN</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Plan mode — commit to structure before prose</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Claude Code in plan mode turned the master plan into a work order.</a:t>
            </a:r>
          </a:p>
        </p:txBody>
      </p:sp>
      <p:sp>
        <p:nvSpPr>
          <p:cNvPr id="7" name="TextBox 6"/>
          <p:cNvSpPr txBox="1"/>
          <p:nvPr/>
        </p:nvSpPr>
        <p:spPr>
          <a:xfrm>
            <a:off x="502920" y="2240280"/>
            <a:ext cx="11247120" cy="3657600"/>
          </a:xfrm>
          <a:prstGeom prst="rect">
            <a:avLst/>
          </a:prstGeom>
          <a:noFill/>
        </p:spPr>
        <p:txBody>
          <a:bodyPr wrap="square" lIns="0" rIns="0" tIns="0" bIns="0">
            <a:spAutoFit/>
          </a:bodyPr>
          <a:lstStyle/>
          <a:p>
            <a:pPr>
              <a:spcAft>
                <a:spcPts val="800"/>
              </a:spcAft>
            </a:pPr>
            <a:r>
              <a:rPr sz="1400">
                <a:solidFill>
                  <a:srgbClr val="E5E7EB"/>
                </a:solidFill>
                <a:latin typeface="Calibri"/>
              </a:rPr>
              <a:t>•   Output: 12-section plan, repo skeleton, 25 file paths, build order.</a:t>
            </a:r>
          </a:p>
          <a:p>
            <a:pPr>
              <a:spcAft>
                <a:spcPts val="800"/>
              </a:spcAft>
            </a:pPr>
            <a:r>
              <a:rPr sz="1400">
                <a:solidFill>
                  <a:srgbClr val="E5E7EB"/>
                </a:solidFill>
                <a:latin typeface="Calibri"/>
              </a:rPr>
              <a:t>•   Locked 15 decisions: HNSW m=16, RRF k=60, cosine ≥ 0.97, e5-large.</a:t>
            </a:r>
          </a:p>
          <a:p>
            <a:pPr>
              <a:spcAft>
                <a:spcPts val="800"/>
              </a:spcAft>
            </a:pPr>
            <a:r>
              <a:rPr sz="1400">
                <a:solidFill>
                  <a:srgbClr val="E5E7EB"/>
                </a:solidFill>
                <a:latin typeface="Calibri"/>
              </a:rPr>
              <a:t>•   Build order: hardest first — schemas, then pseudocode, then prose.</a:t>
            </a:r>
          </a:p>
          <a:p>
            <a:pPr>
              <a:spcAft>
                <a:spcPts val="800"/>
              </a:spcAft>
            </a:pPr>
            <a:r>
              <a:rPr sz="1400">
                <a:solidFill>
                  <a:srgbClr val="E5E7EB"/>
                </a:solidFill>
                <a:latin typeface="Calibri"/>
              </a:rPr>
              <a:t>•   No code yet. Just structure and dependencies.</a:t>
            </a:r>
          </a:p>
        </p:txBody>
      </p:sp>
      <p:sp>
        <p:nvSpPr>
          <p:cNvPr id="8" name="Rounded Rectangle 7"/>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Without a plan, AI writes the easy stuff first and gets stuck on the hard parts. With a plan, the schemas exist before any draft references them — so every reference resolves to a real file. Zero placeholder TODOs.</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5 of 19    ·    Enterprise RAG Architecture    ·    Emre Semerci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3 · BUILD</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Sub-agents per artifact type, cross-checked at every step</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Each artifact type got a focused, idempotent build pass.</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What got built</a:t>
            </a:r>
          </a:p>
          <a:p>
            <a:pPr>
              <a:spcBef>
                <a:spcPts val="600"/>
              </a:spcBef>
            </a:pPr>
            <a:r>
              <a:rPr sz="1300">
                <a:solidFill>
                  <a:srgbClr val="E5E7EB"/>
                </a:solidFill>
                <a:latin typeface="Calibri"/>
              </a:rPr>
              <a:t>•   3 schemas: chunk metadata, OpenSearch mapping, RBAC roles</a:t>
            </a:r>
          </a:p>
          <a:p>
            <a:pPr>
              <a:spcBef>
                <a:spcPts val="600"/>
              </a:spcBef>
            </a:pPr>
            <a:r>
              <a:rPr sz="1300">
                <a:solidFill>
                  <a:srgbClr val="E5E7EB"/>
                </a:solidFill>
                <a:latin typeface="Calibri"/>
              </a:rPr>
              <a:t>•   5 pseudocode files: ingestion, retrieval, CRAG, grader, cache</a:t>
            </a:r>
          </a:p>
          <a:p>
            <a:pPr>
              <a:spcBef>
                <a:spcPts val="600"/>
              </a:spcBef>
            </a:pPr>
            <a:r>
              <a:rPr sz="1300">
                <a:solidFill>
                  <a:srgbClr val="E5E7EB"/>
                </a:solidFill>
                <a:latin typeface="Calibri"/>
              </a:rPr>
              <a:t>•   4 architecture diagrams in mermaid + prose</a:t>
            </a:r>
          </a:p>
          <a:p>
            <a:pPr>
              <a:spcBef>
                <a:spcPts val="600"/>
              </a:spcBef>
            </a:pPr>
            <a:r>
              <a:rPr sz="1300">
                <a:solidFill>
                  <a:srgbClr val="E5E7EB"/>
                </a:solidFill>
                <a:latin typeface="Calibri"/>
              </a:rPr>
              <a:t>•   4 prompt templates: grader, generator, HyDE, decomposition</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Numbers</a:t>
            </a:r>
          </a:p>
          <a:p>
            <a:pPr>
              <a:spcBef>
                <a:spcPts val="600"/>
              </a:spcBef>
            </a:pPr>
            <a:r>
              <a:rPr sz="1300">
                <a:solidFill>
                  <a:srgbClr val="E5E7EB"/>
                </a:solidFill>
                <a:latin typeface="Calibri"/>
              </a:rPr>
              <a:t>•   4,233 lines of pseudocode</a:t>
            </a:r>
          </a:p>
          <a:p>
            <a:pPr>
              <a:spcBef>
                <a:spcPts val="600"/>
              </a:spcBef>
            </a:pPr>
            <a:r>
              <a:rPr sz="1300">
                <a:solidFill>
                  <a:srgbClr val="E5E7EB"/>
                </a:solidFill>
                <a:latin typeface="Calibri"/>
              </a:rPr>
              <a:t>•   1,398 lines of diagrams</a:t>
            </a:r>
          </a:p>
          <a:p>
            <a:pPr>
              <a:spcBef>
                <a:spcPts val="600"/>
              </a:spcBef>
            </a:pPr>
            <a:r>
              <a:rPr sz="1300">
                <a:solidFill>
                  <a:srgbClr val="E5E7EB"/>
                </a:solidFill>
                <a:latin typeface="Calibri"/>
              </a:rPr>
              <a:t>•   24+ files in the final repo</a:t>
            </a:r>
          </a:p>
          <a:p>
            <a:pPr>
              <a:spcBef>
                <a:spcPts val="600"/>
              </a:spcBef>
            </a:pPr>
            <a:r>
              <a:rPr sz="1300">
                <a:solidFill>
                  <a:srgbClr val="E5E7EB"/>
                </a:solidFill>
                <a:latin typeface="Calibri"/>
              </a:rPr>
              <a:t>•   5 explicit build steps, 18 stated assumptions</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Sub-agents kept each pass scoped. Cross-checks after every step caught the inconsistencies AI normally produces (field names that drift, function signatures that don't match across files).</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6 of 19    ·    Enterprise RAG Architecture    ·    Emre Semerci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4 · REVIEW</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Two reviewers, two different blind spots caught</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ChatGPT scored quantitatively. Hermes reviewed for tone and clarity.</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ChatGPT 5.4 — strict scorer</a:t>
            </a:r>
          </a:p>
          <a:p>
            <a:pPr>
              <a:spcBef>
                <a:spcPts val="600"/>
              </a:spcBef>
            </a:pPr>
            <a:r>
              <a:rPr sz="1300">
                <a:solidFill>
                  <a:srgbClr val="E5E7EB"/>
                </a:solidFill>
                <a:latin typeface="Calibri"/>
              </a:rPr>
              <a:t>•   Verdict: 86% complete, 8/10</a:t>
            </a:r>
          </a:p>
          <a:p>
            <a:pPr>
              <a:spcBef>
                <a:spcPts val="600"/>
              </a:spcBef>
            </a:pPr>
            <a:r>
              <a:rPr sz="1300">
                <a:solidFill>
                  <a:srgbClr val="E5E7EB"/>
                </a:solidFill>
                <a:latin typeface="Calibri"/>
              </a:rPr>
              <a:t>•   Found: 14 vs 22 metadata fields contradiction</a:t>
            </a:r>
          </a:p>
          <a:p>
            <a:pPr>
              <a:spcBef>
                <a:spcPts val="600"/>
              </a:spcBef>
            </a:pPr>
            <a:r>
              <a:rPr sz="1300">
                <a:solidFill>
                  <a:srgbClr val="E5E7EB"/>
                </a:solidFill>
                <a:latin typeface="Calibri"/>
              </a:rPr>
              <a:t>•   Found: SQ8 vs fp16 sizing inconsistency</a:t>
            </a:r>
          </a:p>
          <a:p>
            <a:pPr>
              <a:spcBef>
                <a:spcPts val="600"/>
              </a:spcBef>
            </a:pPr>
            <a:r>
              <a:rPr sz="1300">
                <a:solidFill>
                  <a:srgbClr val="E5E7EB"/>
                </a:solidFill>
                <a:latin typeface="Calibri"/>
              </a:rPr>
              <a:t>•   Found: TTFT retry math contradiction</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Hermes Agent — teacher persona</a:t>
            </a:r>
          </a:p>
          <a:p>
            <a:pPr>
              <a:spcBef>
                <a:spcPts val="600"/>
              </a:spcBef>
            </a:pPr>
            <a:r>
              <a:rPr sz="1300">
                <a:solidFill>
                  <a:srgbClr val="E5E7EB"/>
                </a:solidFill>
                <a:latin typeface="Calibri"/>
              </a:rPr>
              <a:t>•   Verdict: "strong technically, medium on clarity"</a:t>
            </a:r>
          </a:p>
          <a:p>
            <a:pPr>
              <a:spcBef>
                <a:spcPts val="600"/>
              </a:spcBef>
            </a:pPr>
            <a:r>
              <a:rPr sz="1300">
                <a:solidFill>
                  <a:srgbClr val="E5E7EB"/>
                </a:solidFill>
                <a:latin typeface="Calibri"/>
              </a:rPr>
              <a:t>•   Praised: real decisions, security reasoning, domain awareness</a:t>
            </a:r>
          </a:p>
          <a:p>
            <a:pPr>
              <a:spcBef>
                <a:spcPts val="600"/>
              </a:spcBef>
            </a:pPr>
            <a:r>
              <a:rPr sz="1300">
                <a:solidFill>
                  <a:srgbClr val="E5E7EB"/>
                </a:solidFill>
                <a:latin typeface="Calibri"/>
              </a:rPr>
              <a:t>•   Flagged: 10.7K words causing reviewer fatigue</a:t>
            </a:r>
          </a:p>
          <a:p>
            <a:pPr>
              <a:spcBef>
                <a:spcPts val="600"/>
              </a:spcBef>
            </a:pPr>
            <a:r>
              <a:rPr sz="1300">
                <a:solidFill>
                  <a:srgbClr val="E5E7EB"/>
                </a:solidFill>
                <a:latin typeface="Calibri"/>
              </a:rPr>
              <a:t>•   Flagged: performative tone ("crown jewel", "most candidates")</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I cannot review my own work objectively. Two independent reviewers with different personas caught two different sets of issues — together they produced the complete improvement list that became Stage 5.</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7 of 19    ·    Enterprise RAG Architecture    ·    Emre Semerci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4 · HERMES DETAIL</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A two-agent loop, on a 15-minute heartbeat</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Continuous review beats one-shot review for catching slow-burn issues.</a:t>
            </a:r>
          </a:p>
        </p:txBody>
      </p:sp>
      <p:sp>
        <p:nvSpPr>
          <p:cNvPr id="7" name="TextBox 6"/>
          <p:cNvSpPr txBox="1"/>
          <p:nvPr/>
        </p:nvSpPr>
        <p:spPr>
          <a:xfrm>
            <a:off x="502920" y="2240280"/>
            <a:ext cx="11247120" cy="3657600"/>
          </a:xfrm>
          <a:prstGeom prst="rect">
            <a:avLst/>
          </a:prstGeom>
          <a:noFill/>
        </p:spPr>
        <p:txBody>
          <a:bodyPr wrap="square" lIns="0" rIns="0" tIns="0" bIns="0">
            <a:spAutoFit/>
          </a:bodyPr>
          <a:lstStyle/>
          <a:p>
            <a:pPr>
              <a:spcAft>
                <a:spcPts val="800"/>
              </a:spcAft>
            </a:pPr>
            <a:r>
              <a:rPr sz="1400">
                <a:solidFill>
                  <a:srgbClr val="E5E7EB"/>
                </a:solidFill>
                <a:latin typeface="Calibri"/>
              </a:rPr>
              <a:t>•   Main agent (Codex 5.4 high reasoning): plays the teacher and maintains a feedback document.</a:t>
            </a:r>
          </a:p>
          <a:p>
            <a:pPr>
              <a:spcAft>
                <a:spcPts val="800"/>
              </a:spcAft>
            </a:pPr>
            <a:r>
              <a:rPr sz="1400">
                <a:solidFill>
                  <a:srgbClr val="E5E7EB"/>
                </a:solidFill>
                <a:latin typeface="Calibri"/>
              </a:rPr>
              <a:t>•   Sub-agent 1: writes down questions and imperfections about the feedback document.</a:t>
            </a:r>
          </a:p>
          <a:p>
            <a:pPr>
              <a:spcAft>
                <a:spcPts val="800"/>
              </a:spcAft>
            </a:pPr>
            <a:r>
              <a:rPr sz="1400">
                <a:solidFill>
                  <a:srgbClr val="E5E7EB"/>
                </a:solidFill>
                <a:latin typeface="Calibri"/>
              </a:rPr>
              <a:t>•   Sub-agent 2: answers the questions and fixes the imperfections sub-agent 1 found.</a:t>
            </a:r>
          </a:p>
          <a:p>
            <a:pPr>
              <a:spcAft>
                <a:spcPts val="800"/>
              </a:spcAft>
            </a:pPr>
            <a:r>
              <a:rPr sz="1400">
                <a:solidFill>
                  <a:srgbClr val="E5E7EB"/>
                </a:solidFill>
                <a:latin typeface="Calibri"/>
              </a:rPr>
              <a:t>•   Cycle repeats every 15 minutes for several hours, surfacing issues a single pass misses.</a:t>
            </a:r>
          </a:p>
          <a:p>
            <a:pPr>
              <a:spcAft>
                <a:spcPts val="800"/>
              </a:spcAft>
            </a:pPr>
            <a:r>
              <a:rPr sz="1400">
                <a:solidFill>
                  <a:srgbClr val="E5E7EB"/>
                </a:solidFill>
                <a:latin typeface="Calibri"/>
              </a:rPr>
              <a:t>•   Reasoning skills installed up-front to keep all three agents grounded.</a:t>
            </a:r>
          </a:p>
        </p:txBody>
      </p:sp>
      <p:sp>
        <p:nvSpPr>
          <p:cNvPr id="8" name="Rounded Rectangle 7"/>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A single review captures what's wrong now. A heartbeat loop captures what becomes wrong as you keep editing. The teacher persona kept the feedback patient and constructive — usable instead of demoralising.</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8 of 19    ·    Enterprise RAG Architecture    ·    Emre Semerci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5 · HARDEN</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Address every feedback item — contradictions first</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Internal contradictions hurt credibility more than missing features.</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What got fixed</a:t>
            </a:r>
          </a:p>
          <a:p>
            <a:pPr>
              <a:spcBef>
                <a:spcPts val="600"/>
              </a:spcBef>
            </a:pPr>
            <a:r>
              <a:rPr sz="1300">
                <a:solidFill>
                  <a:srgbClr val="E5E7EB"/>
                </a:solidFill>
                <a:latin typeface="Calibri"/>
              </a:rPr>
              <a:t>•   Metadata fields: 14 → 22, matched the actual schema</a:t>
            </a:r>
          </a:p>
          <a:p>
            <a:pPr>
              <a:spcBef>
                <a:spcPts val="600"/>
              </a:spcBef>
            </a:pPr>
            <a:r>
              <a:rPr sz="1300">
                <a:solidFill>
                  <a:srgbClr val="E5E7EB"/>
                </a:solidFill>
                <a:latin typeface="Calibri"/>
              </a:rPr>
              <a:t>•   Memory sizing: settled on fp16 ~61 GB primary, SQ8 ~31 GB fallback</a:t>
            </a:r>
          </a:p>
          <a:p>
            <a:pPr>
              <a:spcBef>
                <a:spcPts val="600"/>
              </a:spcBef>
            </a:pPr>
            <a:r>
              <a:rPr sz="1300">
                <a:solidFill>
                  <a:srgbClr val="E5E7EB"/>
                </a:solidFill>
                <a:latin typeface="Calibri"/>
              </a:rPr>
              <a:t>•   Retry TTFT: corrected to ~2030 ms, marked as rare path</a:t>
            </a:r>
          </a:p>
          <a:p>
            <a:pPr>
              <a:spcBef>
                <a:spcPts val="600"/>
              </a:spcBef>
            </a:pPr>
            <a:r>
              <a:rPr sz="1300">
                <a:solidFill>
                  <a:srgbClr val="E5E7EB"/>
                </a:solidFill>
                <a:latin typeface="Calibri"/>
              </a:rPr>
              <a:t>•   RRF made the active OpenSearch pipeline config</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What got cut</a:t>
            </a:r>
          </a:p>
          <a:p>
            <a:pPr>
              <a:spcBef>
                <a:spcPts val="600"/>
              </a:spcBef>
            </a:pPr>
            <a:r>
              <a:rPr sz="1300">
                <a:solidFill>
                  <a:srgbClr val="E5E7EB"/>
                </a:solidFill>
                <a:latin typeface="Calibri"/>
              </a:rPr>
              <a:t>•   Submission rewritten: 10,700 → 7,206 words</a:t>
            </a:r>
          </a:p>
          <a:p>
            <a:pPr>
              <a:spcBef>
                <a:spcPts val="600"/>
              </a:spcBef>
            </a:pPr>
            <a:r>
              <a:rPr sz="1300">
                <a:solidFill>
                  <a:srgbClr val="E5E7EB"/>
                </a:solidFill>
                <a:latin typeface="Calibri"/>
              </a:rPr>
              <a:t>•   Removed all performative language</a:t>
            </a:r>
          </a:p>
          <a:p>
            <a:pPr>
              <a:spcBef>
                <a:spcPts val="600"/>
              </a:spcBef>
            </a:pPr>
            <a:r>
              <a:rPr sz="1300">
                <a:solidFill>
                  <a:srgbClr val="E5E7EB"/>
                </a:solidFill>
                <a:latin typeface="Calibri"/>
              </a:rPr>
              <a:t>•   Hallucination claim qualified to "fail-closed"</a:t>
            </a:r>
          </a:p>
          <a:p>
            <a:pPr>
              <a:spcBef>
                <a:spcPts val="600"/>
              </a:spcBef>
            </a:pPr>
            <a:r>
              <a:rPr sz="1300">
                <a:solidFill>
                  <a:srgbClr val="E5E7EB"/>
                </a:solidFill>
                <a:latin typeface="Calibri"/>
              </a:rPr>
              <a:t>•   Repository reorganised into 4 navigable zones</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Quality is not added in a final pass — it is recovered. After Stage 4 I knew exactly where the cracks were. Stage 5 was disciplined repair, not creative work.</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9 of 19    ·    Enterprise RAG Architecture    ·    Emre Semerci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STAGE 6 · IMPLEMENT</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From paper architecture to running demo</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Everything below this point goes beyond the brief.</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The stack on a laptop</a:t>
            </a:r>
          </a:p>
          <a:p>
            <a:pPr>
              <a:spcBef>
                <a:spcPts val="600"/>
              </a:spcBef>
            </a:pPr>
            <a:r>
              <a:rPr sz="1300">
                <a:solidFill>
                  <a:srgbClr val="E5E7EB"/>
                </a:solidFill>
                <a:latin typeface="Calibri"/>
              </a:rPr>
              <a:t>•   Docker Model Runner with ai/gemma4:E2B (1.5 GB local LLM)</a:t>
            </a:r>
          </a:p>
          <a:p>
            <a:pPr>
              <a:spcBef>
                <a:spcPts val="600"/>
              </a:spcBef>
            </a:pPr>
            <a:r>
              <a:rPr sz="1300">
                <a:solidFill>
                  <a:srgbClr val="E5E7EB"/>
                </a:solidFill>
                <a:latin typeface="Calibri"/>
              </a:rPr>
              <a:t>•   OpenSearch 2.15 single-node + Redis Stack</a:t>
            </a:r>
          </a:p>
          <a:p>
            <a:pPr>
              <a:spcBef>
                <a:spcPts val="600"/>
              </a:spcBef>
            </a:pPr>
            <a:r>
              <a:rPr sz="1300">
                <a:solidFill>
                  <a:srgbClr val="E5E7EB"/>
                </a:solidFill>
                <a:latin typeface="Calibri"/>
              </a:rPr>
              <a:t>•   intfloat/multilingual-e5-small embeddings</a:t>
            </a:r>
          </a:p>
          <a:p>
            <a:pPr>
              <a:spcBef>
                <a:spcPts val="600"/>
              </a:spcBef>
            </a:pPr>
            <a:r>
              <a:rPr sz="1300">
                <a:solidFill>
                  <a:srgbClr val="E5E7EB"/>
                </a:solidFill>
                <a:latin typeface="Calibri"/>
              </a:rPr>
              <a:t>•   FastAPI + SSE streaming, vanilla-JS frontend</a:t>
            </a:r>
          </a:p>
          <a:p>
            <a:pPr>
              <a:spcBef>
                <a:spcPts val="600"/>
              </a:spcBef>
            </a:pPr>
            <a:r>
              <a:rPr sz="1300">
                <a:solidFill>
                  <a:srgbClr val="E5E7EB"/>
                </a:solidFill>
                <a:latin typeface="Calibri"/>
              </a:rPr>
              <a:t>•   No API keys, no network calls at runtime</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What this proves</a:t>
            </a:r>
          </a:p>
          <a:p>
            <a:pPr>
              <a:spcBef>
                <a:spcPts val="600"/>
              </a:spcBef>
            </a:pPr>
            <a:r>
              <a:rPr sz="1300">
                <a:solidFill>
                  <a:srgbClr val="E5E7EB"/>
                </a:solidFill>
                <a:latin typeface="Calibri"/>
              </a:rPr>
              <a:t>•   Every paper claim is now backed by a curl command</a:t>
            </a:r>
          </a:p>
          <a:p>
            <a:pPr>
              <a:spcBef>
                <a:spcPts val="600"/>
              </a:spcBef>
            </a:pPr>
            <a:r>
              <a:rPr sz="1300">
                <a:solidFill>
                  <a:srgbClr val="E5E7EB"/>
                </a:solidFill>
                <a:latin typeface="Calibri"/>
              </a:rPr>
              <a:t>•   TTFT measured live — not assumed</a:t>
            </a:r>
          </a:p>
          <a:p>
            <a:pPr>
              <a:spcBef>
                <a:spcPts val="600"/>
              </a:spcBef>
            </a:pPr>
            <a:r>
              <a:rPr sz="1300">
                <a:solidFill>
                  <a:srgbClr val="E5E7EB"/>
                </a:solidFill>
                <a:latin typeface="Calibri"/>
              </a:rPr>
              <a:t>•   RBAC leak-proof argument provable by trying to break it</a:t>
            </a:r>
          </a:p>
          <a:p>
            <a:pPr>
              <a:spcBef>
                <a:spcPts val="600"/>
              </a:spcBef>
            </a:pPr>
            <a:r>
              <a:rPr sz="1300">
                <a:solidFill>
                  <a:srgbClr val="E5E7EB"/>
                </a:solidFill>
                <a:latin typeface="Calibri"/>
              </a:rPr>
              <a:t>•   Same architecture as the paper, downsized to a laptop</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A paper architecture is unverifiable. A running stack is testable. Building the demo also surfaced 20 failure modes the paper had glossed over.</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10 of 19    ·    Enterprise RAG Architecture    ·    Emre Semerci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RELIABILITY · SPRINT 1</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Stop the bleeding — three fail-OPEN bugs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Found while building the demo. None would have shown up in a paper review.</a:t>
            </a:r>
          </a:p>
        </p:txBody>
      </p:sp>
      <p:sp>
        <p:nvSpPr>
          <p:cNvPr id="7" name="TextBox 6"/>
          <p:cNvSpPr txBox="1"/>
          <p:nvPr/>
        </p:nvSpPr>
        <p:spPr>
          <a:xfrm>
            <a:off x="502920" y="2240280"/>
            <a:ext cx="11247120" cy="3657600"/>
          </a:xfrm>
          <a:prstGeom prst="rect">
            <a:avLst/>
          </a:prstGeom>
          <a:noFill/>
        </p:spPr>
        <p:txBody>
          <a:bodyPr wrap="square" lIns="0" rIns="0" tIns="0" bIns="0">
            <a:spAutoFit/>
          </a:bodyPr>
          <a:lstStyle/>
          <a:p>
            <a:pPr>
              <a:spcAft>
                <a:spcPts val="800"/>
              </a:spcAft>
            </a:pPr>
            <a:r>
              <a:rPr sz="1400">
                <a:solidFill>
                  <a:srgbClr val="E5E7EB"/>
                </a:solidFill>
                <a:latin typeface="Calibri"/>
              </a:rPr>
              <a:t>•   Grader on JSON parse error: defaulted to RELEVANT — silent hallucination bypass.</a:t>
            </a:r>
          </a:p>
          <a:p>
            <a:pPr>
              <a:spcAft>
                <a:spcPts val="800"/>
              </a:spcAft>
            </a:pPr>
            <a:r>
              <a:rPr sz="1400">
                <a:solidFill>
                  <a:srgbClr val="E5E7EB"/>
                </a:solidFill>
                <a:latin typeface="Calibri"/>
              </a:rPr>
              <a:t>•   Citation validator: had a graded[:2] fallback — would publish unverified citations.</a:t>
            </a:r>
          </a:p>
          <a:p>
            <a:pPr>
              <a:spcAft>
                <a:spcPts val="800"/>
              </a:spcAft>
            </a:pPr>
            <a:r>
              <a:rPr sz="1400">
                <a:solidFill>
                  <a:srgbClr val="E5E7EB"/>
                </a:solidFill>
                <a:latin typeface="Calibri"/>
              </a:rPr>
              <a:t>•   /health: returned ready=true even when the LLM was unreachable — splash lied.</a:t>
            </a:r>
          </a:p>
          <a:p>
            <a:pPr>
              <a:spcAft>
                <a:spcPts val="800"/>
              </a:spcAft>
            </a:pPr>
            <a:r>
              <a:rPr sz="1400">
                <a:solidFill>
                  <a:srgbClr val="E5E7EB"/>
                </a:solidFill>
                <a:latin typeface="Calibri"/>
              </a:rPr>
              <a:t>•   All three are now fail-CLOSED. Pre-retrieval RBAC audit confirmed leak-proof.</a:t>
            </a:r>
          </a:p>
        </p:txBody>
      </p:sp>
      <p:sp>
        <p:nvSpPr>
          <p:cNvPr id="8" name="Rounded Rectangle 7"/>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Production engineers think failure-mode first. These three bugs would have made the demo look fine until the assessor probed — at which point the zero-hallucination claim would have collapsed in front of them.</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11 of 19    ·    Enterprise RAG Architecture    ·    Emre Semerci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RELIABILITY · SPRINTS 2–5</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Twenty failure modes audited, then shipped fixes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Validation, retry, observability, frontend polish, chaos endpoints.</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Backend (sprints 2–3)</a:t>
            </a:r>
          </a:p>
          <a:p>
            <a:pPr>
              <a:spcBef>
                <a:spcPts val="600"/>
              </a:spcBef>
            </a:pPr>
            <a:r>
              <a:rPr sz="1300">
                <a:solidFill>
                  <a:srgbClr val="E5E7EB"/>
                </a:solidFill>
                <a:latin typeface="Calibri"/>
              </a:rPr>
              <a:t>•   Per-call LLM timeouts: 15 s classify / 60 s generate</a:t>
            </a:r>
          </a:p>
          <a:p>
            <a:pPr>
              <a:spcBef>
                <a:spcPts val="600"/>
              </a:spcBef>
            </a:pPr>
            <a:r>
              <a:rPr sz="1300">
                <a:solidFill>
                  <a:srgbClr val="E5E7EB"/>
                </a:solidFill>
                <a:latin typeface="Calibri"/>
              </a:rPr>
              <a:t>•   Embedder lock + dedicated thread pool — fixes race condition</a:t>
            </a:r>
          </a:p>
          <a:p>
            <a:pPr>
              <a:spcBef>
                <a:spcPts val="600"/>
              </a:spcBef>
            </a:pPr>
            <a:r>
              <a:rPr sz="1300">
                <a:solidFill>
                  <a:srgbClr val="E5E7EB"/>
                </a:solidFill>
                <a:latin typeface="Calibri"/>
              </a:rPr>
              <a:t>•   Cache, memory, audit fail-soft on Redis hiccup</a:t>
            </a:r>
          </a:p>
          <a:p>
            <a:pPr>
              <a:spcBef>
                <a:spcPts val="600"/>
              </a:spcBef>
            </a:pPr>
            <a:r>
              <a:rPr sz="1300">
                <a:solidFill>
                  <a:srgbClr val="E5E7EB"/>
                </a:solidFill>
                <a:latin typeface="Calibri"/>
              </a:rPr>
              <a:t>•   Per-chunk try/except in ingestion — partial-success reporting</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Frontend + ops (sprints 4–5)</a:t>
            </a:r>
          </a:p>
          <a:p>
            <a:pPr>
              <a:spcBef>
                <a:spcPts val="600"/>
              </a:spcBef>
            </a:pPr>
            <a:r>
              <a:rPr sz="1300">
                <a:solidFill>
                  <a:srgbClr val="E5E7EB"/>
                </a:solidFill>
                <a:latin typeface="Calibri"/>
              </a:rPr>
              <a:t>•   Categorised error events { category, message, request_id }</a:t>
            </a:r>
          </a:p>
          <a:p>
            <a:pPr>
              <a:spcBef>
                <a:spcPts val="600"/>
              </a:spcBef>
            </a:pPr>
            <a:r>
              <a:rPr sz="1300">
                <a:solidFill>
                  <a:srgbClr val="E5E7EB"/>
                </a:solidFill>
                <a:latin typeface="Calibri"/>
              </a:rPr>
              <a:t>•   /readyz polling banner — degraded mode visible to user</a:t>
            </a:r>
          </a:p>
          <a:p>
            <a:pPr>
              <a:spcBef>
                <a:spcPts val="600"/>
              </a:spcBef>
            </a:pPr>
            <a:r>
              <a:rPr sz="1300">
                <a:solidFill>
                  <a:srgbClr val="E5E7EB"/>
                </a:solidFill>
                <a:latin typeface="Calibri"/>
              </a:rPr>
              <a:t>•   Reliability counters surfaced on the Quality page</a:t>
            </a:r>
          </a:p>
          <a:p>
            <a:pPr>
              <a:spcBef>
                <a:spcPts val="600"/>
              </a:spcBef>
            </a:pPr>
            <a:r>
              <a:rPr sz="1300">
                <a:solidFill>
                  <a:srgbClr val="E5E7EB"/>
                </a:solidFill>
                <a:latin typeface="Calibri"/>
              </a:rPr>
              <a:t>•   Chaos endpoints to trip the breaker live during the demo</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I picked which sprints to ship by demo-risk × assessment-risk. Anything that could surface as a 500-error during the live walkthrough went first.</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12 of 19    ·    Enterprise RAG Architecture    ·    Emre Semerci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REFUSE CLASSIFICATION</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Three different "I don't know" answers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A refuse without a reason wastes the user's time.</a:t>
            </a:r>
          </a:p>
        </p:txBody>
      </p:sp>
      <p:sp>
        <p:nvSpPr>
          <p:cNvPr id="7" name="Rounded Rectangle 6"/>
          <p:cNvSpPr/>
          <p:nvPr/>
        </p:nvSpPr>
        <p:spPr>
          <a:xfrm>
            <a:off x="502920" y="2240280"/>
            <a:ext cx="3703320" cy="260604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3337560" cy="2331720"/>
          </a:xfrm>
          <a:prstGeom prst="rect">
            <a:avLst/>
          </a:prstGeom>
          <a:noFill/>
        </p:spPr>
        <p:txBody>
          <a:bodyPr wrap="square" lIns="0" rIns="0">
            <a:spAutoFit/>
          </a:bodyPr>
          <a:lstStyle/>
          <a:p>
            <a:r>
              <a:rPr sz="1500" b="1">
                <a:solidFill>
                  <a:srgbClr val="991B1B"/>
                </a:solidFill>
                <a:latin typeface="Calibri"/>
              </a:rPr>
              <a:t>CORPUS_GAP</a:t>
            </a:r>
          </a:p>
          <a:p>
            <a:pPr>
              <a:spcBef>
                <a:spcPts val="400"/>
              </a:spcBef>
            </a:pPr>
            <a:r>
              <a:rPr sz="1100">
                <a:solidFill>
                  <a:srgbClr val="991B1B"/>
                </a:solidFill>
                <a:latin typeface="Calibri"/>
              </a:rPr>
              <a:t>Topic isn't in the corpus.</a:t>
            </a:r>
          </a:p>
          <a:p>
            <a:pPr>
              <a:spcBef>
                <a:spcPts val="400"/>
              </a:spcBef>
            </a:pPr>
            <a:r>
              <a:rPr sz="1100">
                <a:solidFill>
                  <a:srgbClr val="991B1B"/>
                </a:solidFill>
                <a:latin typeface="Calibri"/>
              </a:rPr>
              <a:t>Signal: top-1 score &lt; 0.80.</a:t>
            </a:r>
          </a:p>
          <a:p>
            <a:pPr>
              <a:spcBef>
                <a:spcPts val="400"/>
              </a:spcBef>
            </a:pPr>
            <a:r>
              <a:rPr sz="1100">
                <a:solidFill>
                  <a:srgbClr val="991B1B"/>
                </a:solidFill>
                <a:latin typeface="Calibri"/>
              </a:rPr>
              <a:t>Advice: ask the corpus owner.</a:t>
            </a:r>
          </a:p>
        </p:txBody>
      </p:sp>
      <p:sp>
        <p:nvSpPr>
          <p:cNvPr id="9" name="Rounded Rectangle 8"/>
          <p:cNvSpPr/>
          <p:nvPr/>
        </p:nvSpPr>
        <p:spPr>
          <a:xfrm>
            <a:off x="4389120" y="2240280"/>
            <a:ext cx="3703320" cy="2606040"/>
          </a:xfrm>
          <a:prstGeom prst="roundRect">
            <a:avLst/>
          </a:prstGeom>
          <a:solidFill>
            <a:srgbClr val="FED7AA"/>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377440"/>
            <a:ext cx="3337560" cy="2331720"/>
          </a:xfrm>
          <a:prstGeom prst="rect">
            <a:avLst/>
          </a:prstGeom>
          <a:noFill/>
        </p:spPr>
        <p:txBody>
          <a:bodyPr wrap="square" lIns="0" rIns="0">
            <a:spAutoFit/>
          </a:bodyPr>
          <a:lstStyle/>
          <a:p>
            <a:r>
              <a:rPr sz="1500" b="1">
                <a:solidFill>
                  <a:srgbClr val="9A3412"/>
                </a:solidFill>
                <a:latin typeface="Calibri"/>
              </a:rPr>
              <a:t>TIER_GAP</a:t>
            </a:r>
          </a:p>
          <a:p>
            <a:pPr>
              <a:spcBef>
                <a:spcPts val="400"/>
              </a:spcBef>
            </a:pPr>
            <a:r>
              <a:rPr sz="1100">
                <a:solidFill>
                  <a:srgbClr val="9A3412"/>
                </a:solidFill>
                <a:latin typeface="Calibri"/>
              </a:rPr>
              <a:t>Content exists, but in a higher tier.</a:t>
            </a:r>
          </a:p>
          <a:p>
            <a:pPr>
              <a:spcBef>
                <a:spcPts val="400"/>
              </a:spcBef>
            </a:pPr>
            <a:r>
              <a:rPr sz="1100">
                <a:solidFill>
                  <a:srgbClr val="9A3412"/>
                </a:solidFill>
                <a:latin typeface="Calibri"/>
              </a:rPr>
              <a:t>Signal: best match above your tier.</a:t>
            </a:r>
          </a:p>
          <a:p>
            <a:pPr>
              <a:spcBef>
                <a:spcPts val="400"/>
              </a:spcBef>
            </a:pPr>
            <a:r>
              <a:rPr sz="1100">
                <a:solidFill>
                  <a:srgbClr val="9A3412"/>
                </a:solidFill>
                <a:latin typeface="Calibri"/>
              </a:rPr>
              <a:t>Advice: ask access or a colleague.</a:t>
            </a:r>
          </a:p>
        </p:txBody>
      </p:sp>
      <p:sp>
        <p:nvSpPr>
          <p:cNvPr id="11" name="Rounded Rectangle 10"/>
          <p:cNvSpPr/>
          <p:nvPr/>
        </p:nvSpPr>
        <p:spPr>
          <a:xfrm>
            <a:off x="8275320" y="2240280"/>
            <a:ext cx="3703320" cy="26060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2377440"/>
            <a:ext cx="3337560" cy="2331720"/>
          </a:xfrm>
          <a:prstGeom prst="rect">
            <a:avLst/>
          </a:prstGeom>
          <a:noFill/>
        </p:spPr>
        <p:txBody>
          <a:bodyPr wrap="square" lIns="0" rIns="0">
            <a:spAutoFit/>
          </a:bodyPr>
          <a:lstStyle/>
          <a:p>
            <a:r>
              <a:rPr sz="1500" b="1">
                <a:solidFill>
                  <a:srgbClr val="1E40AF"/>
                </a:solidFill>
                <a:latin typeface="Calibri"/>
              </a:rPr>
              <a:t>SEMANTIC_MISMATCH</a:t>
            </a:r>
          </a:p>
          <a:p>
            <a:pPr>
              <a:spcBef>
                <a:spcPts val="400"/>
              </a:spcBef>
            </a:pPr>
            <a:r>
              <a:rPr sz="1100">
                <a:solidFill>
                  <a:srgbClr val="1E40AF"/>
                </a:solidFill>
                <a:latin typeface="Calibri"/>
              </a:rPr>
              <a:t>Plausible matches, grader unsure.</a:t>
            </a:r>
          </a:p>
          <a:p>
            <a:pPr>
              <a:spcBef>
                <a:spcPts val="400"/>
              </a:spcBef>
            </a:pPr>
            <a:r>
              <a:rPr sz="1100">
                <a:solidFill>
                  <a:srgbClr val="1E40AF"/>
                </a:solidFill>
                <a:latin typeface="Calibri"/>
              </a:rPr>
              <a:t>Signal: ≥0.78 in tier, 0 graded RELEVANT.</a:t>
            </a:r>
          </a:p>
          <a:p>
            <a:pPr>
              <a:spcBef>
                <a:spcPts val="400"/>
              </a:spcBef>
            </a:pPr>
            <a:r>
              <a:rPr sz="1100">
                <a:solidFill>
                  <a:srgbClr val="1E40AF"/>
                </a:solidFill>
                <a:latin typeface="Calibri"/>
              </a:rPr>
              <a:t>Advice: rephrase with article ref.</a:t>
            </a:r>
          </a:p>
        </p:txBody>
      </p:sp>
      <p:sp>
        <p:nvSpPr>
          <p:cNvPr id="13" name="Rounded Rectangle 12"/>
          <p:cNvSpPr/>
          <p:nvPr/>
        </p:nvSpPr>
        <p:spPr>
          <a:xfrm>
            <a:off x="502920" y="5029200"/>
            <a:ext cx="11247120" cy="128016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10698480" cy="1005839"/>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Telling someone "I don't know" without telling them why is the worst kind of UX. Each category gets its own message and audit-log entry — so the operator can act on the gap, not just notice it.</a:t>
            </a:r>
          </a:p>
        </p:txBody>
      </p:sp>
      <p:sp>
        <p:nvSpPr>
          <p:cNvPr id="15" name="TextBox 14"/>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13 of 19    ·    Enterprise RAG Architecture    ·    Emre Semerci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CALIBRATION</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Fewer false refuses, no weakened safety gates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Senior judgment is calibrated, not strict-or-lenient.</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Four orthogonal knobs</a:t>
            </a:r>
          </a:p>
          <a:p>
            <a:pPr>
              <a:spcBef>
                <a:spcPts val="600"/>
              </a:spcBef>
            </a:pPr>
            <a:r>
              <a:rPr sz="1300">
                <a:solidFill>
                  <a:srgbClr val="E5E7EB"/>
                </a:solidFill>
                <a:latin typeface="Calibri"/>
              </a:rPr>
              <a:t>•   Wider candidate pool: top_k 6 → 10</a:t>
            </a:r>
          </a:p>
          <a:p>
            <a:pPr>
              <a:spcBef>
                <a:spcPts val="600"/>
              </a:spcBef>
            </a:pPr>
            <a:r>
              <a:rPr sz="1300">
                <a:solidFill>
                  <a:srgbClr val="E5E7EB"/>
                </a:solidFill>
                <a:latin typeface="Calibri"/>
              </a:rPr>
              <a:t>•   Retry on IRRELEVANT, not only AMBIGUOUS</a:t>
            </a:r>
          </a:p>
          <a:p>
            <a:pPr>
              <a:spcBef>
                <a:spcPts val="600"/>
              </a:spcBef>
            </a:pPr>
            <a:r>
              <a:rPr sz="1300">
                <a:solidFill>
                  <a:srgbClr val="E5E7EB"/>
                </a:solidFill>
                <a:latin typeface="Calibri"/>
              </a:rPr>
              <a:t>•   AMBIGUOUS-promotion last-chance with strict citations</a:t>
            </a:r>
          </a:p>
          <a:p>
            <a:pPr>
              <a:spcBef>
                <a:spcPts val="600"/>
              </a:spcBef>
            </a:pPr>
            <a:r>
              <a:rPr sz="1300">
                <a:solidFill>
                  <a:srgbClr val="E5E7EB"/>
                </a:solidFill>
                <a:latin typeface="Calibri"/>
              </a:rPr>
              <a:t>•   Force HyDE on the retry pass</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What stays untouched</a:t>
            </a:r>
          </a:p>
          <a:p>
            <a:pPr>
              <a:spcBef>
                <a:spcPts val="600"/>
              </a:spcBef>
            </a:pPr>
            <a:r>
              <a:rPr sz="1300">
                <a:solidFill>
                  <a:srgbClr val="E5E7EB"/>
                </a:solidFill>
                <a:latin typeface="Calibri"/>
              </a:rPr>
              <a:t>•   Zero-hallucination tolerance (citation validator)</a:t>
            </a:r>
          </a:p>
          <a:p>
            <a:pPr>
              <a:spcBef>
                <a:spcPts val="600"/>
              </a:spcBef>
            </a:pPr>
            <a:r>
              <a:rPr sz="1300">
                <a:solidFill>
                  <a:srgbClr val="E5E7EB"/>
                </a:solidFill>
                <a:latin typeface="Calibri"/>
              </a:rPr>
              <a:t>•   Pre-retrieval RBAC filter</a:t>
            </a:r>
          </a:p>
          <a:p>
            <a:pPr>
              <a:spcBef>
                <a:spcPts val="600"/>
              </a:spcBef>
            </a:pPr>
            <a:r>
              <a:rPr sz="1300">
                <a:solidFill>
                  <a:srgbClr val="E5E7EB"/>
                </a:solidFill>
                <a:latin typeface="Calibri"/>
              </a:rPr>
              <a:t>•   Fail-CLOSED grader on parse error</a:t>
            </a:r>
          </a:p>
          <a:p>
            <a:pPr>
              <a:spcBef>
                <a:spcPts val="600"/>
              </a:spcBef>
            </a:pPr>
            <a:r>
              <a:rPr sz="1300">
                <a:solidFill>
                  <a:srgbClr val="E5E7EB"/>
                </a:solidFill>
                <a:latin typeface="Calibri"/>
              </a:rPr>
              <a:t>•   Refuse paths still terminate cleanly</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It is tempting to fix "too many refuses" by lowering the bar. I refused to. The four knobs widen the path to the gates, but the gates themselves stay shut.</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14 of 19    ·    Enterprise RAG Architecture    ·    Emre Semerci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CORPUS</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From 12 to 29 documents — real Dutch tax law</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A 12-doc corpus felt like theatre. So I doubled it down with sources.</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What was added (18 PUBLIC docs)</a:t>
            </a:r>
          </a:p>
          <a:p>
            <a:pPr>
              <a:spcBef>
                <a:spcPts val="600"/>
              </a:spcBef>
            </a:pPr>
            <a:r>
              <a:rPr sz="1300">
                <a:solidFill>
                  <a:srgbClr val="E5E7EB"/>
                </a:solidFill>
                <a:latin typeface="Calibri"/>
              </a:rPr>
              <a:t>•   Wet IB 2001 — art 3.14, hfd 6, MKB-vrijstelling, eigen woning</a:t>
            </a:r>
          </a:p>
          <a:p>
            <a:pPr>
              <a:spcBef>
                <a:spcPts val="600"/>
              </a:spcBef>
            </a:pPr>
            <a:r>
              <a:rPr sz="1300">
                <a:solidFill>
                  <a:srgbClr val="E5E7EB"/>
                </a:solidFill>
                <a:latin typeface="Calibri"/>
              </a:rPr>
              <a:t>•   Wet OB 1968 — tarieven, KOR, vrijstellingen</a:t>
            </a:r>
          </a:p>
          <a:p>
            <a:pPr>
              <a:spcBef>
                <a:spcPts val="600"/>
              </a:spcBef>
            </a:pPr>
            <a:r>
              <a:rPr sz="1300">
                <a:solidFill>
                  <a:srgbClr val="E5E7EB"/>
                </a:solidFill>
                <a:latin typeface="Calibri"/>
              </a:rPr>
              <a:t>•   Successiewet — vrijstellingen, tarieven</a:t>
            </a:r>
          </a:p>
          <a:p>
            <a:pPr>
              <a:spcBef>
                <a:spcPts val="600"/>
              </a:spcBef>
            </a:pPr>
            <a:r>
              <a:rPr sz="1300">
                <a:solidFill>
                  <a:srgbClr val="E5E7EB"/>
                </a:solidFill>
                <a:latin typeface="Calibri"/>
              </a:rPr>
              <a:t>•   AWR navordering, Awb bezwaar termijn, WKR, WOZ</a:t>
            </a:r>
          </a:p>
          <a:p>
            <a:pPr>
              <a:spcBef>
                <a:spcPts val="600"/>
              </a:spcBef>
            </a:pPr>
            <a:r>
              <a:rPr sz="1300">
                <a:solidFill>
                  <a:srgbClr val="E5E7EB"/>
                </a:solidFill>
                <a:latin typeface="Calibri"/>
              </a:rPr>
              <a:t>•   Two ECLI rulings re-ingested with full structure</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Why these documents</a:t>
            </a:r>
          </a:p>
          <a:p>
            <a:pPr>
              <a:spcBef>
                <a:spcPts val="600"/>
              </a:spcBef>
            </a:pPr>
            <a:r>
              <a:rPr sz="1300">
                <a:solidFill>
                  <a:srgbClr val="E5E7EB"/>
                </a:solidFill>
                <a:latin typeface="Calibri"/>
              </a:rPr>
              <a:t>•   Cover topics that real users would actually ask about</a:t>
            </a:r>
          </a:p>
          <a:p>
            <a:pPr>
              <a:spcBef>
                <a:spcPts val="600"/>
              </a:spcBef>
            </a:pPr>
            <a:r>
              <a:rPr sz="1300">
                <a:solidFill>
                  <a:srgbClr val="E5E7EB"/>
                </a:solidFill>
                <a:latin typeface="Calibri"/>
              </a:rPr>
              <a:t>•   Each chunk carries parent_chunk_id + hierarchy_path</a:t>
            </a:r>
          </a:p>
          <a:p>
            <a:pPr>
              <a:spcBef>
                <a:spcPts val="600"/>
              </a:spcBef>
            </a:pPr>
            <a:r>
              <a:rPr sz="1300">
                <a:solidFill>
                  <a:srgbClr val="E5E7EB"/>
                </a:solidFill>
                <a:latin typeface="Calibri"/>
              </a:rPr>
              <a:t>•   Citations resolve to the exact Lid</a:t>
            </a:r>
          </a:p>
          <a:p>
            <a:pPr>
              <a:spcBef>
                <a:spcPts val="600"/>
              </a:spcBef>
            </a:pPr>
            <a:r>
              <a:rPr sz="1300">
                <a:solidFill>
                  <a:srgbClr val="E5E7EB"/>
                </a:solidFill>
                <a:latin typeface="Calibri"/>
              </a:rPr>
              <a:t>•   The original failing query now answers correctly</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The original failing demo question — "Wanneer mag ik geen huishoudelijke uitgaven aftrekken?" — was failing because art 3.14 was simply not in the corpus. Adding it (and 17 others) made the demo honest.</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15 of 19    ·    Enterprise RAG Architecture    ·    Emre Semerci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ONBOARDING</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Guided tour — 10 stops, 4 modules, 75 seconds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A UI without context is a wall. One button breaks it.</a:t>
            </a:r>
          </a:p>
        </p:txBody>
      </p:sp>
      <p:sp>
        <p:nvSpPr>
          <p:cNvPr id="7" name="TextBox 6"/>
          <p:cNvSpPr txBox="1"/>
          <p:nvPr/>
        </p:nvSpPr>
        <p:spPr>
          <a:xfrm>
            <a:off x="502920" y="2240280"/>
            <a:ext cx="11247120" cy="3657600"/>
          </a:xfrm>
          <a:prstGeom prst="rect">
            <a:avLst/>
          </a:prstGeom>
          <a:noFill/>
        </p:spPr>
        <p:txBody>
          <a:bodyPr wrap="square" lIns="0" rIns="0" tIns="0" bIns="0">
            <a:spAutoFit/>
          </a:bodyPr>
          <a:lstStyle/>
          <a:p>
            <a:pPr>
              <a:spcAft>
                <a:spcPts val="800"/>
              </a:spcAft>
            </a:pPr>
            <a:r>
              <a:rPr sz="1400">
                <a:solidFill>
                  <a:srgbClr val="E5E7EB"/>
                </a:solidFill>
                <a:latin typeface="Calibri"/>
              </a:rPr>
              <a:t>•   Single button "Take the tour" lives on the Quality workspace.</a:t>
            </a:r>
          </a:p>
          <a:p>
            <a:pPr>
              <a:spcAft>
                <a:spcPts val="800"/>
              </a:spcAft>
            </a:pPr>
            <a:r>
              <a:rPr sz="1400">
                <a:solidFill>
                  <a:srgbClr val="E5E7EB"/>
                </a:solidFill>
                <a:latin typeface="Calibri"/>
              </a:rPr>
              <a:t>•   Spotlight + tooltip overlay walks through every page in order.</a:t>
            </a:r>
          </a:p>
          <a:p>
            <a:pPr>
              <a:spcAft>
                <a:spcPts val="800"/>
              </a:spcAft>
            </a:pPr>
            <a:r>
              <a:rPr sz="1400">
                <a:solidFill>
                  <a:srgbClr val="E5E7EB"/>
                </a:solidFill>
                <a:latin typeface="Calibri"/>
              </a:rPr>
              <a:t>•   Each stop names which assessment module it answers.</a:t>
            </a:r>
          </a:p>
          <a:p>
            <a:pPr>
              <a:spcAft>
                <a:spcPts val="800"/>
              </a:spcAft>
            </a:pPr>
            <a:r>
              <a:rPr sz="1400">
                <a:solidFill>
                  <a:srgbClr val="E5E7EB"/>
                </a:solidFill>
                <a:latin typeface="Calibri"/>
              </a:rPr>
              <a:t>•   Vanilla JS, native CSS keyframes, no React, no video framework.</a:t>
            </a:r>
          </a:p>
          <a:p>
            <a:pPr>
              <a:spcAft>
                <a:spcPts val="800"/>
              </a:spcAft>
            </a:pPr>
            <a:r>
              <a:rPr sz="1400">
                <a:solidFill>
                  <a:srgbClr val="E5E7EB"/>
                </a:solidFill>
                <a:latin typeface="Calibri"/>
              </a:rPr>
              <a:t>•   Esc exits, ← / → navigate, localStorage remembers completion.</a:t>
            </a:r>
          </a:p>
        </p:txBody>
      </p:sp>
      <p:sp>
        <p:nvSpPr>
          <p:cNvPr id="8" name="Rounded Rectangle 7"/>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I stripped the UI of explanatory text deliberately — production apps don't talk to themselves. The tour is the opt-in version of that text, only shown when the visitor asks for it.</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16 of 19    ·    Enterprise RAG Architecture    ·    Emre Semerci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ARCHITECTURE</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The whole stack in one frame</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Eight components, one math identity that decides RBAC.</a:t>
            </a:r>
          </a:p>
        </p:txBody>
      </p:sp>
      <p:sp>
        <p:nvSpPr>
          <p:cNvPr id="7" name="Rounded Rectangle 6"/>
          <p:cNvSpPr/>
          <p:nvPr/>
        </p:nvSpPr>
        <p:spPr>
          <a:xfrm>
            <a:off x="502920" y="2194560"/>
            <a:ext cx="1645920" cy="731520"/>
          </a:xfrm>
          <a:prstGeom prst="roundRect">
            <a:avLst/>
          </a:prstGeom>
          <a:solidFill>
            <a:srgbClr val="141B2C"/>
          </a:solidFill>
          <a:ln w="12700">
            <a:solidFill>
              <a:srgbClr val="016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377440"/>
            <a:ext cx="1645920" cy="365760"/>
          </a:xfrm>
          <a:prstGeom prst="rect">
            <a:avLst/>
          </a:prstGeom>
          <a:noFill/>
        </p:spPr>
        <p:txBody>
          <a:bodyPr wrap="square" lIns="0" rIns="0" tIns="0" bIns="0">
            <a:spAutoFit/>
          </a:bodyPr>
          <a:lstStyle/>
          <a:p>
            <a:pPr algn="ctr"/>
            <a:r>
              <a:rPr sz="1200" b="1" i="0">
                <a:solidFill>
                  <a:srgbClr val="E5E7EB"/>
                </a:solidFill>
                <a:latin typeface="Calibri"/>
              </a:rPr>
              <a:t>Query</a:t>
            </a:r>
          </a:p>
        </p:txBody>
      </p:sp>
      <p:sp>
        <p:nvSpPr>
          <p:cNvPr id="9" name="Rounded Rectangle 8"/>
          <p:cNvSpPr/>
          <p:nvPr/>
        </p:nvSpPr>
        <p:spPr>
          <a:xfrm>
            <a:off x="2331720" y="2194560"/>
            <a:ext cx="1645920" cy="731520"/>
          </a:xfrm>
          <a:prstGeom prst="roundRect">
            <a:avLst/>
          </a:prstGeom>
          <a:solidFill>
            <a:srgbClr val="141B2C"/>
          </a:solidFill>
          <a:ln w="12700">
            <a:solidFill>
              <a:srgbClr val="016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2377440"/>
            <a:ext cx="1645920" cy="365760"/>
          </a:xfrm>
          <a:prstGeom prst="rect">
            <a:avLst/>
          </a:prstGeom>
          <a:noFill/>
        </p:spPr>
        <p:txBody>
          <a:bodyPr wrap="square" lIns="0" rIns="0" tIns="0" bIns="0">
            <a:spAutoFit/>
          </a:bodyPr>
          <a:lstStyle/>
          <a:p>
            <a:pPr algn="ctr"/>
            <a:r>
              <a:rPr sz="1200" b="1" i="0">
                <a:solidFill>
                  <a:srgbClr val="E5E7EB"/>
                </a:solidFill>
                <a:latin typeface="Calibri"/>
              </a:rPr>
              <a:t>API + OIDC</a:t>
            </a:r>
          </a:p>
        </p:txBody>
      </p:sp>
      <p:sp>
        <p:nvSpPr>
          <p:cNvPr id="11" name="Rounded Rectangle 10"/>
          <p:cNvSpPr/>
          <p:nvPr/>
        </p:nvSpPr>
        <p:spPr>
          <a:xfrm>
            <a:off x="4160520" y="2194560"/>
            <a:ext cx="1645920" cy="731520"/>
          </a:xfrm>
          <a:prstGeom prst="roundRect">
            <a:avLst/>
          </a:prstGeom>
          <a:solidFill>
            <a:srgbClr val="141B2C"/>
          </a:solidFill>
          <a:ln w="12700">
            <a:solidFill>
              <a:srgbClr val="016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2377440"/>
            <a:ext cx="1645920" cy="365760"/>
          </a:xfrm>
          <a:prstGeom prst="rect">
            <a:avLst/>
          </a:prstGeom>
          <a:noFill/>
        </p:spPr>
        <p:txBody>
          <a:bodyPr wrap="square" lIns="0" rIns="0" tIns="0" bIns="0">
            <a:spAutoFit/>
          </a:bodyPr>
          <a:lstStyle/>
          <a:p>
            <a:pPr algn="ctr"/>
            <a:r>
              <a:rPr sz="1200" b="1" i="0">
                <a:solidFill>
                  <a:srgbClr val="E5E7EB"/>
                </a:solidFill>
                <a:latin typeface="Calibri"/>
              </a:rPr>
              <a:t>Cache</a:t>
            </a:r>
          </a:p>
        </p:txBody>
      </p:sp>
      <p:sp>
        <p:nvSpPr>
          <p:cNvPr id="13" name="Rounded Rectangle 12"/>
          <p:cNvSpPr/>
          <p:nvPr/>
        </p:nvSpPr>
        <p:spPr>
          <a:xfrm>
            <a:off x="5989320" y="2194560"/>
            <a:ext cx="1645920" cy="731520"/>
          </a:xfrm>
          <a:prstGeom prst="roundRect">
            <a:avLst/>
          </a:prstGeom>
          <a:solidFill>
            <a:srgbClr val="141B2C"/>
          </a:solidFill>
          <a:ln w="12700">
            <a:solidFill>
              <a:srgbClr val="016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2377440"/>
            <a:ext cx="1645920" cy="365760"/>
          </a:xfrm>
          <a:prstGeom prst="rect">
            <a:avLst/>
          </a:prstGeom>
          <a:noFill/>
        </p:spPr>
        <p:txBody>
          <a:bodyPr wrap="square" lIns="0" rIns="0" tIns="0" bIns="0">
            <a:spAutoFit/>
          </a:bodyPr>
          <a:lstStyle/>
          <a:p>
            <a:pPr algn="ctr"/>
            <a:r>
              <a:rPr sz="1200" b="1" i="0">
                <a:solidFill>
                  <a:srgbClr val="E5E7EB"/>
                </a:solidFill>
                <a:latin typeface="Calibri"/>
              </a:rPr>
              <a:t>CRAG loop</a:t>
            </a:r>
          </a:p>
        </p:txBody>
      </p:sp>
      <p:sp>
        <p:nvSpPr>
          <p:cNvPr id="15" name="Rounded Rectangle 14"/>
          <p:cNvSpPr/>
          <p:nvPr/>
        </p:nvSpPr>
        <p:spPr>
          <a:xfrm>
            <a:off x="7818120" y="2194560"/>
            <a:ext cx="1645920" cy="731520"/>
          </a:xfrm>
          <a:prstGeom prst="roundRect">
            <a:avLst/>
          </a:prstGeom>
          <a:solidFill>
            <a:srgbClr val="141B2C"/>
          </a:solidFill>
          <a:ln w="12700">
            <a:solidFill>
              <a:srgbClr val="016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2377440"/>
            <a:ext cx="1645920" cy="365760"/>
          </a:xfrm>
          <a:prstGeom prst="rect">
            <a:avLst/>
          </a:prstGeom>
          <a:noFill/>
        </p:spPr>
        <p:txBody>
          <a:bodyPr wrap="square" lIns="0" rIns="0" tIns="0" bIns="0">
            <a:spAutoFit/>
          </a:bodyPr>
          <a:lstStyle/>
          <a:p>
            <a:pPr algn="ctr"/>
            <a:r>
              <a:rPr sz="1200" b="1" i="0">
                <a:solidFill>
                  <a:srgbClr val="E5E7EB"/>
                </a:solidFill>
                <a:latin typeface="Calibri"/>
              </a:rPr>
              <a:t>Hybrid retrieval</a:t>
            </a:r>
          </a:p>
        </p:txBody>
      </p:sp>
      <p:sp>
        <p:nvSpPr>
          <p:cNvPr id="17" name="Rounded Rectangle 16"/>
          <p:cNvSpPr/>
          <p:nvPr/>
        </p:nvSpPr>
        <p:spPr>
          <a:xfrm>
            <a:off x="9646920" y="2194560"/>
            <a:ext cx="1645920" cy="731520"/>
          </a:xfrm>
          <a:prstGeom prst="roundRect">
            <a:avLst/>
          </a:prstGeom>
          <a:solidFill>
            <a:srgbClr val="141B2C"/>
          </a:solidFill>
          <a:ln w="12700">
            <a:solidFill>
              <a:srgbClr val="016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6920" y="2377440"/>
            <a:ext cx="1645920" cy="365760"/>
          </a:xfrm>
          <a:prstGeom prst="rect">
            <a:avLst/>
          </a:prstGeom>
          <a:noFill/>
        </p:spPr>
        <p:txBody>
          <a:bodyPr wrap="square" lIns="0" rIns="0" tIns="0" bIns="0">
            <a:spAutoFit/>
          </a:bodyPr>
          <a:lstStyle/>
          <a:p>
            <a:pPr algn="ctr"/>
            <a:r>
              <a:rPr sz="1200" b="1" i="0">
                <a:solidFill>
                  <a:srgbClr val="E5E7EB"/>
                </a:solidFill>
                <a:latin typeface="Calibri"/>
              </a:rPr>
              <a:t>Cited answer</a:t>
            </a:r>
          </a:p>
        </p:txBody>
      </p:sp>
      <p:sp>
        <p:nvSpPr>
          <p:cNvPr id="19" name="TextBox 18"/>
          <p:cNvSpPr txBox="1"/>
          <p:nvPr/>
        </p:nvSpPr>
        <p:spPr>
          <a:xfrm>
            <a:off x="502920" y="3154680"/>
            <a:ext cx="5532120" cy="3657600"/>
          </a:xfrm>
          <a:prstGeom prst="rect">
            <a:avLst/>
          </a:prstGeom>
          <a:noFill/>
        </p:spPr>
        <p:txBody>
          <a:bodyPr wrap="square" lIns="0" rIns="0" tIns="0" bIns="0">
            <a:spAutoFit/>
          </a:bodyPr>
          <a:lstStyle/>
          <a:p>
            <a:r>
              <a:rPr sz="1300" b="1">
                <a:solidFill>
                  <a:srgbClr val="E17000"/>
                </a:solidFill>
                <a:latin typeface="Calibri"/>
              </a:rPr>
              <a:t>Decisions across the four modules</a:t>
            </a:r>
          </a:p>
          <a:p>
            <a:pPr>
              <a:spcBef>
                <a:spcPts val="600"/>
              </a:spcBef>
            </a:pPr>
            <a:r>
              <a:rPr sz="1300">
                <a:solidFill>
                  <a:srgbClr val="E5E7EB"/>
                </a:solidFill>
                <a:latin typeface="Calibri"/>
              </a:rPr>
              <a:t>•   Structure-aware chunking, 22-field metadata</a:t>
            </a:r>
          </a:p>
          <a:p>
            <a:pPr>
              <a:spcBef>
                <a:spcPts val="600"/>
              </a:spcBef>
            </a:pPr>
            <a:r>
              <a:rPr sz="1300">
                <a:solidFill>
                  <a:srgbClr val="E5E7EB"/>
                </a:solidFill>
                <a:latin typeface="Calibri"/>
              </a:rPr>
              <a:t>•   Hybrid BM25 + kNN, RRF k=60, optional rerank</a:t>
            </a:r>
          </a:p>
          <a:p>
            <a:pPr>
              <a:spcBef>
                <a:spcPts val="600"/>
              </a:spcBef>
            </a:pPr>
            <a:r>
              <a:rPr sz="1300">
                <a:solidFill>
                  <a:srgbClr val="E5E7EB"/>
                </a:solidFill>
                <a:latin typeface="Calibri"/>
              </a:rPr>
              <a:t>•   Self-hosted Mixtral via vLLM (paper) / Gemma4 (demo)</a:t>
            </a:r>
          </a:p>
          <a:p>
            <a:pPr>
              <a:spcBef>
                <a:spcPts val="600"/>
              </a:spcBef>
            </a:pPr>
            <a:r>
              <a:rPr sz="1300">
                <a:solidFill>
                  <a:srgbClr val="E5E7EB"/>
                </a:solidFill>
                <a:latin typeface="Calibri"/>
              </a:rPr>
              <a:t>•   Tier-partitioned semantic cache cosine ≥ 0.97</a:t>
            </a:r>
          </a:p>
        </p:txBody>
      </p:sp>
      <p:sp>
        <p:nvSpPr>
          <p:cNvPr id="20" name="TextBox 19"/>
          <p:cNvSpPr txBox="1"/>
          <p:nvPr/>
        </p:nvSpPr>
        <p:spPr>
          <a:xfrm>
            <a:off x="6263640" y="3154680"/>
            <a:ext cx="5532120" cy="3657600"/>
          </a:xfrm>
          <a:prstGeom prst="rect">
            <a:avLst/>
          </a:prstGeom>
          <a:noFill/>
        </p:spPr>
        <p:txBody>
          <a:bodyPr wrap="square" lIns="0" rIns="0" tIns="0" bIns="0">
            <a:spAutoFit/>
          </a:bodyPr>
          <a:lstStyle/>
          <a:p>
            <a:r>
              <a:rPr sz="1300" b="1">
                <a:solidFill>
                  <a:srgbClr val="E17000"/>
                </a:solidFill>
                <a:latin typeface="Calibri"/>
              </a:rPr>
              <a:t>The math that justifies pre-retrieval RBAC</a:t>
            </a:r>
          </a:p>
          <a:p>
            <a:pPr>
              <a:spcBef>
                <a:spcPts val="600"/>
              </a:spcBef>
            </a:pPr>
            <a:r>
              <a:rPr sz="1300">
                <a:solidFill>
                  <a:srgbClr val="E5E7EB"/>
                </a:solidFill>
                <a:latin typeface="Calibri"/>
              </a:rPr>
              <a:t>•   If you post-filter top-40 results with 95% miss rate per chunk:</a:t>
            </a:r>
          </a:p>
          <a:p>
            <a:pPr>
              <a:spcBef>
                <a:spcPts val="600"/>
              </a:spcBef>
            </a:pPr>
            <a:r>
              <a:rPr sz="1300">
                <a:solidFill>
                  <a:srgbClr val="E5E7EB"/>
                </a:solidFill>
                <a:latin typeface="Calibri"/>
              </a:rPr>
              <a:t>•   P(no leak) = 0.95⁴⁰ ≈ 0.13</a:t>
            </a:r>
          </a:p>
          <a:p>
            <a:pPr>
              <a:spcBef>
                <a:spcPts val="600"/>
              </a:spcBef>
            </a:pPr>
            <a:r>
              <a:rPr sz="1300">
                <a:solidFill>
                  <a:srgbClr val="E5E7EB"/>
                </a:solidFill>
                <a:latin typeface="Calibri"/>
              </a:rPr>
              <a:t>•   P(at least one leak) ≈ 0.87</a:t>
            </a:r>
          </a:p>
          <a:p>
            <a:pPr>
              <a:spcBef>
                <a:spcPts val="600"/>
              </a:spcBef>
            </a:pPr>
            <a:r>
              <a:rPr sz="1300">
                <a:solidFill>
                  <a:srgbClr val="E5E7EB"/>
                </a:solidFill>
                <a:latin typeface="Calibri"/>
              </a:rPr>
              <a:t>•   Pre-retrieval makes P(leak) = 0 by construction.</a:t>
            </a:r>
          </a:p>
        </p:txBody>
      </p:sp>
      <p:sp>
        <p:nvSpPr>
          <p:cNvPr id="21" name="TextBox 2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17 of 19    ·    Enterprise RAG Architecture    ·    Emre Semerci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DELIVERABLES</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Five zones — answer, evidence, ops, reference, demo</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Organised so the assessor can navigate at any depth.</a:t>
            </a:r>
          </a:p>
        </p:txBody>
      </p:sp>
      <p:sp>
        <p:nvSpPr>
          <p:cNvPr id="7" name="TextBox 6"/>
          <p:cNvSpPr txBox="1"/>
          <p:nvPr/>
        </p:nvSpPr>
        <p:spPr>
          <a:xfrm>
            <a:off x="502920" y="2240280"/>
            <a:ext cx="5532120" cy="3657600"/>
          </a:xfrm>
          <a:prstGeom prst="rect">
            <a:avLst/>
          </a:prstGeom>
          <a:noFill/>
        </p:spPr>
        <p:txBody>
          <a:bodyPr wrap="square" lIns="0" rIns="0" tIns="0" bIns="0">
            <a:spAutoFit/>
          </a:bodyPr>
          <a:lstStyle/>
          <a:p>
            <a:r>
              <a:rPr sz="1300" b="1">
                <a:solidFill>
                  <a:srgbClr val="E17000"/>
                </a:solidFill>
                <a:latin typeface="Calibri"/>
              </a:rPr>
              <a:t>Paper architecture</a:t>
            </a:r>
          </a:p>
          <a:p>
            <a:pPr>
              <a:spcBef>
                <a:spcPts val="600"/>
              </a:spcBef>
            </a:pPr>
            <a:r>
              <a:rPr sz="1300">
                <a:solidFill>
                  <a:srgbClr val="E5E7EB"/>
                </a:solidFill>
                <a:latin typeface="Calibri"/>
              </a:rPr>
              <a:t>•   Final submission v2 — 7,206 words, 4 modules in depth</a:t>
            </a:r>
          </a:p>
          <a:p>
            <a:pPr>
              <a:spcBef>
                <a:spcPts val="600"/>
              </a:spcBef>
            </a:pPr>
            <a:r>
              <a:rPr sz="1300">
                <a:solidFill>
                  <a:srgbClr val="E5E7EB"/>
                </a:solidFill>
                <a:latin typeface="Calibri"/>
              </a:rPr>
              <a:t>•   5 pseudocode files, 4 architecture diagrams, 4 prompts</a:t>
            </a:r>
          </a:p>
          <a:p>
            <a:pPr>
              <a:spcBef>
                <a:spcPts val="600"/>
              </a:spcBef>
            </a:pPr>
            <a:r>
              <a:rPr sz="1300">
                <a:solidFill>
                  <a:srgbClr val="E5E7EB"/>
                </a:solidFill>
                <a:latin typeface="Calibri"/>
              </a:rPr>
              <a:t>•   22-field metadata schema, OpenSearch mapping, RBAC model</a:t>
            </a:r>
          </a:p>
          <a:p>
            <a:pPr>
              <a:spcBef>
                <a:spcPts val="600"/>
              </a:spcBef>
            </a:pPr>
            <a:r>
              <a:rPr sz="1300">
                <a:solidFill>
                  <a:srgbClr val="E5E7EB"/>
                </a:solidFill>
                <a:latin typeface="Calibri"/>
              </a:rPr>
              <a:t>•   Metrics matrix, golden test set, CI gate stub</a:t>
            </a:r>
          </a:p>
        </p:txBody>
      </p:sp>
      <p:sp>
        <p:nvSpPr>
          <p:cNvPr id="8" name="TextBox 7"/>
          <p:cNvSpPr txBox="1"/>
          <p:nvPr/>
        </p:nvSpPr>
        <p:spPr>
          <a:xfrm>
            <a:off x="6263640" y="2240280"/>
            <a:ext cx="5532120" cy="3657600"/>
          </a:xfrm>
          <a:prstGeom prst="rect">
            <a:avLst/>
          </a:prstGeom>
          <a:noFill/>
        </p:spPr>
        <p:txBody>
          <a:bodyPr wrap="square" lIns="0" rIns="0" tIns="0" bIns="0">
            <a:spAutoFit/>
          </a:bodyPr>
          <a:lstStyle/>
          <a:p>
            <a:r>
              <a:rPr sz="1300" b="1">
                <a:solidFill>
                  <a:srgbClr val="E17000"/>
                </a:solidFill>
                <a:latin typeface="Calibri"/>
              </a:rPr>
              <a:t>Runnable demo</a:t>
            </a:r>
          </a:p>
          <a:p>
            <a:pPr>
              <a:spcBef>
                <a:spcPts val="600"/>
              </a:spcBef>
            </a:pPr>
            <a:r>
              <a:rPr sz="1300">
                <a:solidFill>
                  <a:srgbClr val="E5E7EB"/>
                </a:solidFill>
                <a:latin typeface="Calibri"/>
              </a:rPr>
              <a:t>•   Live laptop stack, 29 docs, 174 chunks</a:t>
            </a:r>
          </a:p>
          <a:p>
            <a:pPr>
              <a:spcBef>
                <a:spcPts val="600"/>
              </a:spcBef>
            </a:pPr>
            <a:r>
              <a:rPr sz="1300">
                <a:solidFill>
                  <a:srgbClr val="E5E7EB"/>
                </a:solidFill>
                <a:latin typeface="Calibri"/>
              </a:rPr>
              <a:t>•   Full CRAG pipeline + reliability hardening</a:t>
            </a:r>
          </a:p>
          <a:p>
            <a:pPr>
              <a:spcBef>
                <a:spcPts val="600"/>
              </a:spcBef>
            </a:pPr>
            <a:r>
              <a:rPr sz="1300">
                <a:solidFill>
                  <a:srgbClr val="E5E7EB"/>
                </a:solidFill>
                <a:latin typeface="Calibri"/>
              </a:rPr>
              <a:t>•   Refuse classification with 3 categories</a:t>
            </a:r>
          </a:p>
          <a:p>
            <a:pPr>
              <a:spcBef>
                <a:spcPts val="600"/>
              </a:spcBef>
            </a:pPr>
            <a:r>
              <a:rPr sz="1300">
                <a:solidFill>
                  <a:srgbClr val="E5E7EB"/>
                </a:solidFill>
                <a:latin typeface="Calibri"/>
              </a:rPr>
              <a:t>•   Guided tour, 10 stops covering every module</a:t>
            </a:r>
          </a:p>
        </p:txBody>
      </p:sp>
      <p:sp>
        <p:nvSpPr>
          <p:cNvPr id="9" name="Rounded Rectangle 8"/>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An assessor opening the README finds one click to the architecture, one click to the demo, and one click to the bonus performance work. Every other artifact is one click further. That structure is the deliverable.</a:t>
            </a:r>
          </a:p>
        </p:txBody>
      </p:sp>
      <p:sp>
        <p:nvSpPr>
          <p:cNvPr id="11" name="TextBox 10"/>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18 of 19    ·    Enterprise RAG Architecture    ·    Emre Semerci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0972800" cy="320040"/>
          </a:xfrm>
          <a:prstGeom prst="rect">
            <a:avLst/>
          </a:prstGeom>
          <a:noFill/>
        </p:spPr>
        <p:txBody>
          <a:bodyPr wrap="square" lIns="0" rIns="0" tIns="0" bIns="0">
            <a:spAutoFit/>
          </a:bodyPr>
          <a:lstStyle/>
          <a:p>
            <a:pPr algn="l"/>
            <a:r>
              <a:rPr sz="1100" b="1" i="0">
                <a:solidFill>
                  <a:srgbClr val="E17000"/>
                </a:solidFill>
                <a:latin typeface="Calibri"/>
              </a:rPr>
              <a:t>CLOSING</a:t>
            </a:r>
          </a:p>
        </p:txBody>
      </p:sp>
      <p:sp>
        <p:nvSpPr>
          <p:cNvPr id="5" name="TextBox 4"/>
          <p:cNvSpPr txBox="1"/>
          <p:nvPr/>
        </p:nvSpPr>
        <p:spPr>
          <a:xfrm>
            <a:off x="502920" y="777240"/>
            <a:ext cx="11247120" cy="868680"/>
          </a:xfrm>
          <a:prstGeom prst="rect">
            <a:avLst/>
          </a:prstGeom>
          <a:noFill/>
        </p:spPr>
        <p:txBody>
          <a:bodyPr wrap="square" lIns="0" rIns="0" tIns="0" bIns="0">
            <a:spAutoFit/>
          </a:bodyPr>
          <a:lstStyle/>
          <a:p>
            <a:pPr algn="l"/>
            <a:r>
              <a:rPr sz="3000" b="1" i="0">
                <a:solidFill>
                  <a:srgbClr val="E5E7EB"/>
                </a:solidFill>
                <a:latin typeface="Calibri"/>
              </a:rPr>
              <a:t>What I learned about building with AI agents</a:t>
            </a:r>
          </a:p>
        </p:txBody>
      </p:sp>
      <p:sp>
        <p:nvSpPr>
          <p:cNvPr id="6" name="TextBox 5"/>
          <p:cNvSpPr txBox="1"/>
          <p:nvPr/>
        </p:nvSpPr>
        <p:spPr>
          <a:xfrm>
            <a:off x="502920" y="1508760"/>
            <a:ext cx="11247120" cy="457200"/>
          </a:xfrm>
          <a:prstGeom prst="rect">
            <a:avLst/>
          </a:prstGeom>
          <a:noFill/>
        </p:spPr>
        <p:txBody>
          <a:bodyPr wrap="square" lIns="0" rIns="0" tIns="0" bIns="0">
            <a:spAutoFit/>
          </a:bodyPr>
          <a:lstStyle/>
          <a:p>
            <a:pPr algn="l"/>
            <a:r>
              <a:rPr sz="1500" b="0" i="1">
                <a:solidFill>
                  <a:srgbClr val="B6C1CE"/>
                </a:solidFill>
                <a:latin typeface="Calibri"/>
              </a:rPr>
              <a:t>Three things I would tell my past self before starting again.</a:t>
            </a:r>
          </a:p>
        </p:txBody>
      </p:sp>
      <p:sp>
        <p:nvSpPr>
          <p:cNvPr id="7" name="TextBox 6"/>
          <p:cNvSpPr txBox="1"/>
          <p:nvPr/>
        </p:nvSpPr>
        <p:spPr>
          <a:xfrm>
            <a:off x="502920" y="2240280"/>
            <a:ext cx="11247120" cy="3657600"/>
          </a:xfrm>
          <a:prstGeom prst="rect">
            <a:avLst/>
          </a:prstGeom>
          <a:noFill/>
        </p:spPr>
        <p:txBody>
          <a:bodyPr wrap="square" lIns="0" rIns="0" tIns="0" bIns="0">
            <a:spAutoFit/>
          </a:bodyPr>
          <a:lstStyle/>
          <a:p>
            <a:pPr>
              <a:spcAft>
                <a:spcPts val="800"/>
              </a:spcAft>
            </a:pPr>
            <a:r>
              <a:rPr sz="1400">
                <a:solidFill>
                  <a:srgbClr val="E5E7EB"/>
                </a:solidFill>
                <a:latin typeface="Calibri"/>
              </a:rPr>
              <a:t>•   Different agents have different blind spots — never trust one in a single pass.</a:t>
            </a:r>
          </a:p>
          <a:p>
            <a:pPr>
              <a:spcAft>
                <a:spcPts val="800"/>
              </a:spcAft>
            </a:pPr>
            <a:r>
              <a:rPr sz="1400">
                <a:solidFill>
                  <a:srgbClr val="E5E7EB"/>
                </a:solidFill>
                <a:latin typeface="Calibri"/>
              </a:rPr>
              <a:t>•   Plan structure before prose. Plan mode is the highest-leverage 30 minutes.</a:t>
            </a:r>
          </a:p>
          <a:p>
            <a:pPr>
              <a:spcAft>
                <a:spcPts val="800"/>
              </a:spcAft>
            </a:pPr>
            <a:r>
              <a:rPr sz="1400">
                <a:solidFill>
                  <a:srgbClr val="E5E7EB"/>
                </a:solidFill>
                <a:latin typeface="Calibri"/>
              </a:rPr>
              <a:t>•   Internal contradictions hurt credibility more than missing features do.</a:t>
            </a:r>
          </a:p>
          <a:p>
            <a:pPr>
              <a:spcAft>
                <a:spcPts val="800"/>
              </a:spcAft>
            </a:pPr>
            <a:r>
              <a:rPr sz="1400">
                <a:solidFill>
                  <a:srgbClr val="E5E7EB"/>
                </a:solidFill>
                <a:latin typeface="Calibri"/>
              </a:rPr>
              <a:t>•   A running demo turns architectural answers into engineering handoffs.</a:t>
            </a:r>
          </a:p>
          <a:p>
            <a:pPr>
              <a:spcAft>
                <a:spcPts val="800"/>
              </a:spcAft>
            </a:pPr>
            <a:r>
              <a:rPr sz="1400">
                <a:solidFill>
                  <a:srgbClr val="E5E7EB"/>
                </a:solidFill>
                <a:latin typeface="Calibri"/>
              </a:rPr>
              <a:t>•   The fastest path to quality is structured + reviewed, not bigger model + retry.</a:t>
            </a:r>
          </a:p>
        </p:txBody>
      </p:sp>
      <p:sp>
        <p:nvSpPr>
          <p:cNvPr id="8" name="Rounded Rectangle 7"/>
          <p:cNvSpPr/>
          <p:nvPr/>
        </p:nvSpPr>
        <p:spPr>
          <a:xfrm>
            <a:off x="502920" y="5166360"/>
            <a:ext cx="11247120" cy="1143000"/>
          </a:xfrm>
          <a:prstGeom prst="roundRect">
            <a:avLst/>
          </a:prstGeom>
          <a:solidFill>
            <a:srgbClr val="141B2C"/>
          </a:solidFill>
          <a:ln w="12700">
            <a:solidFill>
              <a:srgbClr val="E1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03520"/>
            <a:ext cx="10698480" cy="868680"/>
          </a:xfrm>
          <a:prstGeom prst="rect">
            <a:avLst/>
          </a:prstGeom>
          <a:noFill/>
        </p:spPr>
        <p:txBody>
          <a:bodyPr wrap="square" lIns="0" rIns="0" tIns="0" bIns="0">
            <a:spAutoFit/>
          </a:bodyPr>
          <a:lstStyle/>
          <a:p>
            <a:r>
              <a:rPr sz="1000" b="1">
                <a:solidFill>
                  <a:srgbClr val="E17000"/>
                </a:solidFill>
                <a:latin typeface="Calibri"/>
              </a:rPr>
              <a:t>WHY I DID THIS  </a:t>
            </a:r>
            <a:r>
              <a:rPr sz="1300" i="1">
                <a:solidFill>
                  <a:srgbClr val="E5E7EB"/>
                </a:solidFill>
                <a:latin typeface="Calibri"/>
              </a:rPr>
              <a:t>The design answer is conservative where the risk is highest, specific where the brief asks for exact settings, and built through a multi-agent process that caught its own mistakes before any human reviewer needed to.</a:t>
            </a:r>
          </a:p>
        </p:txBody>
      </p:sp>
      <p:sp>
        <p:nvSpPr>
          <p:cNvPr id="10" name="TextBox 9"/>
          <p:cNvSpPr txBox="1"/>
          <p:nvPr/>
        </p:nvSpPr>
        <p:spPr>
          <a:xfrm>
            <a:off x="502920" y="6492240"/>
            <a:ext cx="11247120" cy="274320"/>
          </a:xfrm>
          <a:prstGeom prst="rect">
            <a:avLst/>
          </a:prstGeom>
          <a:noFill/>
        </p:spPr>
        <p:txBody>
          <a:bodyPr wrap="square" lIns="0" rIns="0" tIns="0" bIns="0">
            <a:spAutoFit/>
          </a:bodyPr>
          <a:lstStyle/>
          <a:p>
            <a:pPr algn="l"/>
            <a:r>
              <a:rPr sz="950" b="0" i="0">
                <a:solidFill>
                  <a:srgbClr val="8A95A5"/>
                </a:solidFill>
                <a:latin typeface="Calibri"/>
              </a:rPr>
              <a:t>19 of 19    ·    Enterprise RAG Architecture    ·    Emre Semerci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